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325" r:id="rId2"/>
    <p:sldId id="404" r:id="rId3"/>
    <p:sldId id="399" r:id="rId4"/>
    <p:sldId id="391" r:id="rId5"/>
    <p:sldId id="360" r:id="rId6"/>
    <p:sldId id="361" r:id="rId7"/>
    <p:sldId id="363" r:id="rId8"/>
    <p:sldId id="402" r:id="rId9"/>
    <p:sldId id="367" r:id="rId10"/>
    <p:sldId id="368" r:id="rId11"/>
    <p:sldId id="371" r:id="rId12"/>
    <p:sldId id="419" r:id="rId13"/>
    <p:sldId id="374" r:id="rId14"/>
    <p:sldId id="392" r:id="rId15"/>
    <p:sldId id="333" r:id="rId16"/>
    <p:sldId id="377" r:id="rId17"/>
    <p:sldId id="400" r:id="rId18"/>
    <p:sldId id="378" r:id="rId19"/>
    <p:sldId id="393" r:id="rId20"/>
    <p:sldId id="409" r:id="rId21"/>
    <p:sldId id="351" r:id="rId22"/>
    <p:sldId id="410" r:id="rId23"/>
    <p:sldId id="405" r:id="rId24"/>
    <p:sldId id="411" r:id="rId25"/>
    <p:sldId id="418" r:id="rId26"/>
    <p:sldId id="385" r:id="rId27"/>
    <p:sldId id="412" r:id="rId28"/>
    <p:sldId id="413" r:id="rId29"/>
    <p:sldId id="415" r:id="rId30"/>
    <p:sldId id="414" r:id="rId31"/>
    <p:sldId id="416" r:id="rId32"/>
    <p:sldId id="403" r:id="rId33"/>
    <p:sldId id="386" r:id="rId34"/>
    <p:sldId id="417" r:id="rId35"/>
    <p:sldId id="401" r:id="rId36"/>
    <p:sldId id="370" r:id="rId37"/>
    <p:sldId id="372" r:id="rId38"/>
    <p:sldId id="373" r:id="rId39"/>
    <p:sldId id="375" r:id="rId40"/>
    <p:sldId id="376" r:id="rId41"/>
    <p:sldId id="397" r:id="rId42"/>
    <p:sldId id="334" r:id="rId43"/>
    <p:sldId id="379" r:id="rId44"/>
    <p:sldId id="382" r:id="rId45"/>
    <p:sldId id="384" r:id="rId46"/>
    <p:sldId id="381" r:id="rId47"/>
    <p:sldId id="380" r:id="rId48"/>
    <p:sldId id="344" r:id="rId49"/>
    <p:sldId id="347" r:id="rId50"/>
    <p:sldId id="423" r:id="rId51"/>
    <p:sldId id="420" r:id="rId52"/>
    <p:sldId id="421" r:id="rId53"/>
    <p:sldId id="422" r:id="rId54"/>
    <p:sldId id="424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EB62184-B0FA-496D-B9F4-33D0311DFEF7}">
          <p14:sldIdLst/>
        </p14:section>
        <p14:section name="Intro" id="{D5960711-AA1C-4569-A19A-5BF5FE287112}">
          <p14:sldIdLst>
            <p14:sldId id="325"/>
            <p14:sldId id="404"/>
            <p14:sldId id="399"/>
          </p14:sldIdLst>
        </p14:section>
        <p14:section name="CP" id="{2DA15A4B-B56D-4894-88CE-36FC09DFD472}">
          <p14:sldIdLst>
            <p14:sldId id="391"/>
            <p14:sldId id="360"/>
            <p14:sldId id="361"/>
            <p14:sldId id="363"/>
            <p14:sldId id="402"/>
            <p14:sldId id="367"/>
            <p14:sldId id="368"/>
            <p14:sldId id="371"/>
            <p14:sldId id="419"/>
            <p14:sldId id="374"/>
          </p14:sldIdLst>
        </p14:section>
        <p14:section name="Prediction Set" id="{EF07429D-14E5-4581-B9E9-F16BF839A58F}">
          <p14:sldIdLst>
            <p14:sldId id="392"/>
            <p14:sldId id="333"/>
            <p14:sldId id="377"/>
            <p14:sldId id="400"/>
            <p14:sldId id="378"/>
          </p14:sldIdLst>
        </p14:section>
        <p14:section name="NLGUQ" id="{37331104-9E9E-48F5-9A77-A489F6455E9A}">
          <p14:sldIdLst>
            <p14:sldId id="393"/>
            <p14:sldId id="409"/>
            <p14:sldId id="351"/>
            <p14:sldId id="410"/>
            <p14:sldId id="405"/>
            <p14:sldId id="411"/>
            <p14:sldId id="418"/>
            <p14:sldId id="385"/>
            <p14:sldId id="412"/>
            <p14:sldId id="413"/>
            <p14:sldId id="415"/>
            <p14:sldId id="414"/>
            <p14:sldId id="416"/>
            <p14:sldId id="403"/>
          </p14:sldIdLst>
        </p14:section>
        <p14:section name="Outro" id="{1365B6AC-447E-4459-AC46-D79DBB7F4F35}">
          <p14:sldIdLst>
            <p14:sldId id="386"/>
            <p14:sldId id="417"/>
          </p14:sldIdLst>
        </p14:section>
        <p14:section name="Appendix" id="{FBAA112E-0DC3-4EA1-AD0D-0C52A10DB251}">
          <p14:sldIdLst>
            <p14:sldId id="401"/>
            <p14:sldId id="370"/>
            <p14:sldId id="372"/>
            <p14:sldId id="373"/>
            <p14:sldId id="375"/>
            <p14:sldId id="376"/>
            <p14:sldId id="397"/>
            <p14:sldId id="334"/>
            <p14:sldId id="379"/>
            <p14:sldId id="382"/>
            <p14:sldId id="384"/>
            <p14:sldId id="381"/>
            <p14:sldId id="380"/>
            <p14:sldId id="344"/>
          </p14:sldIdLst>
        </p14:section>
        <p14:section name="Appendix: SCRIB" id="{BBAC6993-F3A5-4DE5-B242-9EF6C6773E5C}">
          <p14:sldIdLst>
            <p14:sldId id="347"/>
            <p14:sldId id="423"/>
            <p14:sldId id="420"/>
            <p14:sldId id="421"/>
            <p14:sldId id="422"/>
            <p14:sldId id="42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8EC1"/>
    <a:srgbClr val="FFAF69"/>
    <a:srgbClr val="DAEF99"/>
    <a:srgbClr val="B1EFEA"/>
    <a:srgbClr val="FFFFFF"/>
    <a:srgbClr val="D6D3F3"/>
    <a:srgbClr val="F5D5BF"/>
    <a:srgbClr val="FF5F05"/>
    <a:srgbClr val="13294B"/>
    <a:srgbClr val="C841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n Lin" userId="39ba6f78fee18e8a" providerId="LiveId" clId="{C418F3F9-7FC2-4487-B763-2EAB5CA4B8E1}"/>
    <pc:docChg chg="delSld delSection modSection">
      <pc:chgData name="Zhen Lin" userId="39ba6f78fee18e8a" providerId="LiveId" clId="{C418F3F9-7FC2-4487-B763-2EAB5CA4B8E1}" dt="2026-03-14T23:15:37.287" v="4" actId="47"/>
      <pc:docMkLst>
        <pc:docMk/>
      </pc:docMkLst>
      <pc:sldChg chg="del">
        <pc:chgData name="Zhen Lin" userId="39ba6f78fee18e8a" providerId="LiveId" clId="{C418F3F9-7FC2-4487-B763-2EAB5CA4B8E1}" dt="2026-03-14T23:14:18.111" v="1" actId="47"/>
        <pc:sldMkLst>
          <pc:docMk/>
          <pc:sldMk cId="118864992" sldId="332"/>
        </pc:sldMkLst>
      </pc:sldChg>
      <pc:sldChg chg="del">
        <pc:chgData name="Zhen Lin" userId="39ba6f78fee18e8a" providerId="LiveId" clId="{C418F3F9-7FC2-4487-B763-2EAB5CA4B8E1}" dt="2026-03-14T23:14:29.073" v="2" actId="47"/>
        <pc:sldMkLst>
          <pc:docMk/>
          <pc:sldMk cId="4224037593" sldId="356"/>
        </pc:sldMkLst>
      </pc:sldChg>
      <pc:sldChg chg="del">
        <pc:chgData name="Zhen Lin" userId="39ba6f78fee18e8a" providerId="LiveId" clId="{C418F3F9-7FC2-4487-B763-2EAB5CA4B8E1}" dt="2026-03-14T23:14:29.073" v="2" actId="47"/>
        <pc:sldMkLst>
          <pc:docMk/>
          <pc:sldMk cId="772343290" sldId="357"/>
        </pc:sldMkLst>
      </pc:sldChg>
      <pc:sldChg chg="del">
        <pc:chgData name="Zhen Lin" userId="39ba6f78fee18e8a" providerId="LiveId" clId="{C418F3F9-7FC2-4487-B763-2EAB5CA4B8E1}" dt="2026-03-14T23:14:14.088" v="0" actId="47"/>
        <pc:sldMkLst>
          <pc:docMk/>
          <pc:sldMk cId="318923068" sldId="359"/>
        </pc:sldMkLst>
      </pc:sldChg>
      <pc:sldChg chg="del">
        <pc:chgData name="Zhen Lin" userId="39ba6f78fee18e8a" providerId="LiveId" clId="{C418F3F9-7FC2-4487-B763-2EAB5CA4B8E1}" dt="2026-03-14T23:14:14.088" v="0" actId="47"/>
        <pc:sldMkLst>
          <pc:docMk/>
          <pc:sldMk cId="796617037" sldId="364"/>
        </pc:sldMkLst>
      </pc:sldChg>
      <pc:sldChg chg="del">
        <pc:chgData name="Zhen Lin" userId="39ba6f78fee18e8a" providerId="LiveId" clId="{C418F3F9-7FC2-4487-B763-2EAB5CA4B8E1}" dt="2026-03-14T23:14:14.088" v="0" actId="47"/>
        <pc:sldMkLst>
          <pc:docMk/>
          <pc:sldMk cId="909102903" sldId="365"/>
        </pc:sldMkLst>
      </pc:sldChg>
      <pc:sldChg chg="del">
        <pc:chgData name="Zhen Lin" userId="39ba6f78fee18e8a" providerId="LiveId" clId="{C418F3F9-7FC2-4487-B763-2EAB5CA4B8E1}" dt="2026-03-14T23:14:14.088" v="0" actId="47"/>
        <pc:sldMkLst>
          <pc:docMk/>
          <pc:sldMk cId="556849128" sldId="366"/>
        </pc:sldMkLst>
      </pc:sldChg>
      <pc:sldChg chg="del">
        <pc:chgData name="Zhen Lin" userId="39ba6f78fee18e8a" providerId="LiveId" clId="{C418F3F9-7FC2-4487-B763-2EAB5CA4B8E1}" dt="2026-03-14T23:14:29.073" v="2" actId="47"/>
        <pc:sldMkLst>
          <pc:docMk/>
          <pc:sldMk cId="3075730612" sldId="390"/>
        </pc:sldMkLst>
      </pc:sldChg>
      <pc:sldChg chg="del">
        <pc:chgData name="Zhen Lin" userId="39ba6f78fee18e8a" providerId="LiveId" clId="{C418F3F9-7FC2-4487-B763-2EAB5CA4B8E1}" dt="2026-03-14T23:14:29.073" v="2" actId="47"/>
        <pc:sldMkLst>
          <pc:docMk/>
          <pc:sldMk cId="1022641126" sldId="398"/>
        </pc:sldMkLst>
      </pc:sldChg>
      <pc:sldChg chg="del">
        <pc:chgData name="Zhen Lin" userId="39ba6f78fee18e8a" providerId="LiveId" clId="{C418F3F9-7FC2-4487-B763-2EAB5CA4B8E1}" dt="2026-03-14T23:15:37.287" v="4" actId="47"/>
        <pc:sldMkLst>
          <pc:docMk/>
          <pc:sldMk cId="1177010703" sldId="425"/>
        </pc:sldMkLst>
      </pc:sldChg>
      <pc:sldChg chg="del">
        <pc:chgData name="Zhen Lin" userId="39ba6f78fee18e8a" providerId="LiveId" clId="{C418F3F9-7FC2-4487-B763-2EAB5CA4B8E1}" dt="2026-03-14T23:15:37.287" v="4" actId="47"/>
        <pc:sldMkLst>
          <pc:docMk/>
          <pc:sldMk cId="3195873614" sldId="426"/>
        </pc:sldMkLst>
      </pc:sldChg>
      <pc:sldChg chg="del">
        <pc:chgData name="Zhen Lin" userId="39ba6f78fee18e8a" providerId="LiveId" clId="{C418F3F9-7FC2-4487-B763-2EAB5CA4B8E1}" dt="2026-03-14T23:15:37.287" v="4" actId="47"/>
        <pc:sldMkLst>
          <pc:docMk/>
          <pc:sldMk cId="3035560670" sldId="427"/>
        </pc:sldMkLst>
      </pc:sldChg>
      <pc:sldChg chg="del">
        <pc:chgData name="Zhen Lin" userId="39ba6f78fee18e8a" providerId="LiveId" clId="{C418F3F9-7FC2-4487-B763-2EAB5CA4B8E1}" dt="2026-03-14T23:15:37.287" v="4" actId="47"/>
        <pc:sldMkLst>
          <pc:docMk/>
          <pc:sldMk cId="4131757732" sldId="428"/>
        </pc:sldMkLst>
      </pc:sldChg>
      <pc:sldChg chg="del">
        <pc:chgData name="Zhen Lin" userId="39ba6f78fee18e8a" providerId="LiveId" clId="{C418F3F9-7FC2-4487-B763-2EAB5CA4B8E1}" dt="2026-03-14T23:15:37.287" v="4" actId="47"/>
        <pc:sldMkLst>
          <pc:docMk/>
          <pc:sldMk cId="3580450605" sldId="429"/>
        </pc:sldMkLst>
      </pc:sldChg>
      <pc:sldChg chg="del">
        <pc:chgData name="Zhen Lin" userId="39ba6f78fee18e8a" providerId="LiveId" clId="{C418F3F9-7FC2-4487-B763-2EAB5CA4B8E1}" dt="2026-03-14T23:15:37.287" v="4" actId="47"/>
        <pc:sldMkLst>
          <pc:docMk/>
          <pc:sldMk cId="392385988" sldId="430"/>
        </pc:sldMkLst>
      </pc:sldChg>
      <pc:sldChg chg="del">
        <pc:chgData name="Zhen Lin" userId="39ba6f78fee18e8a" providerId="LiveId" clId="{C418F3F9-7FC2-4487-B763-2EAB5CA4B8E1}" dt="2026-03-14T23:15:37.287" v="4" actId="47"/>
        <pc:sldMkLst>
          <pc:docMk/>
          <pc:sldMk cId="2108045509" sldId="43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illinoisedu-my.sharepoint.com/personal/zhenlin4_illinois_edu/Documents/Sunlab/Weekly%20Meeting/20230313/20230306_LinkedObjec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uillinoisedu-my.sharepoint.com/personal/zhenlin4_illinois_edu/Documents/PhD/Prelim/proposal/Linked_Objec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uillinoisedu-my.sharepoint.com/personal/zhenlin4_illinois_edu/Documents/PhD/Prelim/proposal/Linked_Objec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'[20230313_LinkedObjects.xlsx]Sheet3'!$C$1</c:f>
              <c:strCache>
                <c:ptCount val="1"/>
                <c:pt idx="0">
                  <c:v>Severity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2">
                    <a:alpha val="50000"/>
                  </a:schemeClr>
                </a:solidFill>
              </a:ln>
              <a:effectLst/>
            </c:spPr>
          </c:marker>
          <c:dPt>
            <c:idx val="29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2">
                      <a:alpha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B53E-4EA1-BC6B-125028C42CD6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53E-4EA1-BC6B-125028C42CD6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53E-4EA1-BC6B-125028C42CD6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53E-4EA1-BC6B-125028C42CD6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53E-4EA1-BC6B-125028C42CD6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53E-4EA1-BC6B-125028C42CD6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53E-4EA1-BC6B-125028C42CD6}"/>
                </c:ext>
              </c:extLst>
            </c:dLbl>
            <c:dLbl>
              <c:idx val="6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4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54CEFE9-AD96-49AE-BB5B-AC267B23DC8C}" type="CELLRANGE">
                      <a:rPr lang="en-US"/>
                      <a:pPr>
                        <a:defRPr sz="1400"/>
                      </a:pPr>
                      <a:t>[CELLRANGE]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B53E-4EA1-BC6B-125028C42CD6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53E-4EA1-BC6B-125028C42CD6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53E-4EA1-BC6B-125028C42CD6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53E-4EA1-BC6B-125028C42CD6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53E-4EA1-BC6B-125028C42CD6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B53E-4EA1-BC6B-125028C42CD6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53E-4EA1-BC6B-125028C42CD6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B53E-4EA1-BC6B-125028C42CD6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B53E-4EA1-BC6B-125028C42CD6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B53E-4EA1-BC6B-125028C42CD6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B53E-4EA1-BC6B-125028C42CD6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B53E-4EA1-BC6B-125028C42CD6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B53E-4EA1-BC6B-125028C42CD6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B53E-4EA1-BC6B-125028C42CD6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B53E-4EA1-BC6B-125028C42CD6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B53E-4EA1-BC6B-125028C42CD6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B53E-4EA1-BC6B-125028C42CD6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B53E-4EA1-BC6B-125028C42CD6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B53E-4EA1-BC6B-125028C42CD6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B53E-4EA1-BC6B-125028C42CD6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B53E-4EA1-BC6B-125028C42CD6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B53E-4EA1-BC6B-125028C42CD6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B53E-4EA1-BC6B-125028C42CD6}"/>
                </c:ext>
              </c:extLst>
            </c:dLbl>
            <c:dLbl>
              <c:idx val="29"/>
              <c:layout>
                <c:manualLayout>
                  <c:x val="0.21802436511228446"/>
                  <c:y val="-0.15897001201698036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400" b="0" i="0" u="none" strike="noStrike" kern="1200" baseline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CAE6799E-1F0F-40C6-BA0E-241B16CE8AB3}" type="CELLRANGE">
                      <a:rPr lang="en-US" dirty="0"/>
                      <a:pPr>
                        <a:defRPr sz="1400">
                          <a:solidFill>
                            <a:srgbClr val="00B050"/>
                          </a:solidFill>
                        </a:defRPr>
                      </a:pPr>
                      <a:t>[CELLRANGE]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rgbClr val="00B05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890630067854936"/>
                      <c:h val="0.3172503242542152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B53E-4EA1-BC6B-125028C42CD6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B53E-4EA1-BC6B-125028C42CD6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B53E-4EA1-BC6B-125028C42CD6}"/>
                </c:ext>
              </c:extLst>
            </c:dLbl>
            <c:dLbl>
              <c:idx val="32"/>
              <c:layout>
                <c:manualLayout>
                  <c:x val="9.632534642847064E-2"/>
                  <c:y val="-0.44291355603895816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4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F8CBF8E-6456-4F33-8C91-90DCE6A23E96}" type="CELLRANGE">
                      <a:rPr lang="en-US"/>
                      <a:pPr>
                        <a:defRPr sz="1400"/>
                      </a:pPr>
                      <a:t>[CELLRANGE]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0-B53E-4EA1-BC6B-125028C42CD6}"/>
                </c:ext>
              </c:extLst>
            </c:dLbl>
            <c:dLbl>
              <c:idx val="33"/>
              <c:layout>
                <c:manualLayout>
                  <c:x val="-0.10382547342872464"/>
                  <c:y val="-0.48952684416393477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400" b="0" i="0" u="none" strike="noStrike" kern="1200" baseline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4F2B664E-51DC-4EBA-AE9A-FE300909AFF8}" type="CELLRANGE">
                      <a:rPr lang="en-US" sz="1200"/>
                      <a:pPr>
                        <a:defRPr sz="1400">
                          <a:solidFill>
                            <a:srgbClr val="00B050"/>
                          </a:solidFill>
                        </a:defRPr>
                      </a:pPr>
                      <a:t>[CELLRANGE]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rgbClr val="00B05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1-B53E-4EA1-BC6B-125028C42CD6}"/>
                </c:ext>
              </c:extLst>
            </c:dLbl>
            <c:dLbl>
              <c:idx val="34"/>
              <c:layout>
                <c:manualLayout>
                  <c:x val="-3.8700646290182519E-3"/>
                  <c:y val="-0.19319593805638108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400" b="0" i="0" u="none" strike="noStrike" kern="1200" baseline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4130CCC2-C8E2-41D1-A619-E6956D7326F0}" type="CELLRANGE">
                      <a:rPr lang="en-US" dirty="0"/>
                      <a:pPr>
                        <a:defRPr sz="1400">
                          <a:solidFill>
                            <a:srgbClr val="00B050"/>
                          </a:solidFill>
                        </a:defRPr>
                      </a:pPr>
                      <a:t>[CELLRANGE]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rgbClr val="00B05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2-B53E-4EA1-BC6B-125028C42C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'[20230313_LinkedObjects.xlsx]Sheet3'!$B$2:$B$36</c:f>
              <c:numCache>
                <c:formatCode>0.000</c:formatCode>
                <c:ptCount val="35"/>
                <c:pt idx="0">
                  <c:v>2.4429069999999998E-3</c:v>
                </c:pt>
                <c:pt idx="1">
                  <c:v>3.031728E-3</c:v>
                </c:pt>
                <c:pt idx="2">
                  <c:v>3.0725090000000002E-3</c:v>
                </c:pt>
                <c:pt idx="3">
                  <c:v>3.2305459999999999E-3</c:v>
                </c:pt>
                <c:pt idx="4">
                  <c:v>3.6231240000000001E-3</c:v>
                </c:pt>
                <c:pt idx="5">
                  <c:v>4.5771659999999997E-3</c:v>
                </c:pt>
                <c:pt idx="6">
                  <c:v>4.6868580000000003E-3</c:v>
                </c:pt>
                <c:pt idx="7">
                  <c:v>5.3646290000000001E-3</c:v>
                </c:pt>
                <c:pt idx="8">
                  <c:v>5.6902810000000002E-3</c:v>
                </c:pt>
                <c:pt idx="9">
                  <c:v>5.811231E-3</c:v>
                </c:pt>
                <c:pt idx="10">
                  <c:v>6.5917570000000002E-3</c:v>
                </c:pt>
                <c:pt idx="11">
                  <c:v>7.3111030000000002E-3</c:v>
                </c:pt>
                <c:pt idx="12">
                  <c:v>8.7705979999999992E-3</c:v>
                </c:pt>
                <c:pt idx="13">
                  <c:v>9.4020530000000005E-3</c:v>
                </c:pt>
                <c:pt idx="14">
                  <c:v>9.4918659999999998E-3</c:v>
                </c:pt>
                <c:pt idx="15">
                  <c:v>9.5101519999999991E-3</c:v>
                </c:pt>
                <c:pt idx="16">
                  <c:v>9.9971049999999992E-3</c:v>
                </c:pt>
                <c:pt idx="17">
                  <c:v>1.0590072000000001E-2</c:v>
                </c:pt>
                <c:pt idx="18">
                  <c:v>1.7110015999999999E-2</c:v>
                </c:pt>
                <c:pt idx="19">
                  <c:v>1.7874753E-2</c:v>
                </c:pt>
                <c:pt idx="20">
                  <c:v>2.3372637000000002E-2</c:v>
                </c:pt>
                <c:pt idx="21">
                  <c:v>2.7074685000000001E-2</c:v>
                </c:pt>
                <c:pt idx="22">
                  <c:v>2.8256860000000002E-2</c:v>
                </c:pt>
                <c:pt idx="23">
                  <c:v>3.0642413E-2</c:v>
                </c:pt>
                <c:pt idx="24">
                  <c:v>3.4553423999999999E-2</c:v>
                </c:pt>
                <c:pt idx="25">
                  <c:v>3.693602E-2</c:v>
                </c:pt>
                <c:pt idx="26">
                  <c:v>4.4497356000000002E-2</c:v>
                </c:pt>
                <c:pt idx="27">
                  <c:v>5.4183352999999997E-2</c:v>
                </c:pt>
                <c:pt idx="28">
                  <c:v>6.4634549999999999E-2</c:v>
                </c:pt>
                <c:pt idx="29">
                  <c:v>6.4644045999999997E-2</c:v>
                </c:pt>
                <c:pt idx="30">
                  <c:v>6.5106520000000001E-2</c:v>
                </c:pt>
                <c:pt idx="31">
                  <c:v>9.036537E-2</c:v>
                </c:pt>
                <c:pt idx="32">
                  <c:v>0.17889031999999999</c:v>
                </c:pt>
                <c:pt idx="33">
                  <c:v>0.45254776000000002</c:v>
                </c:pt>
                <c:pt idx="34">
                  <c:v>0.51782364000000003</c:v>
                </c:pt>
              </c:numCache>
            </c:numRef>
          </c:xVal>
          <c:yVal>
            <c:numRef>
              <c:f>'[20230313_LinkedObjects.xlsx]Sheet3'!$C$2:$C$36</c:f>
              <c:numCache>
                <c:formatCode>0.00</c:formatCode>
                <c:ptCount val="35"/>
                <c:pt idx="0">
                  <c:v>0.33900000000000002</c:v>
                </c:pt>
                <c:pt idx="1">
                  <c:v>0.33</c:v>
                </c:pt>
                <c:pt idx="2">
                  <c:v>0.56999999999999995</c:v>
                </c:pt>
                <c:pt idx="3">
                  <c:v>0.16300000000000001</c:v>
                </c:pt>
                <c:pt idx="4">
                  <c:v>0.251</c:v>
                </c:pt>
                <c:pt idx="5">
                  <c:v>0.42</c:v>
                </c:pt>
                <c:pt idx="6">
                  <c:v>2.484</c:v>
                </c:pt>
                <c:pt idx="7">
                  <c:v>0.92300000000000004</c:v>
                </c:pt>
                <c:pt idx="8">
                  <c:v>0.42</c:v>
                </c:pt>
                <c:pt idx="9">
                  <c:v>0.497</c:v>
                </c:pt>
                <c:pt idx="10">
                  <c:v>0.39900000000000002</c:v>
                </c:pt>
                <c:pt idx="11">
                  <c:v>0.28399999999999997</c:v>
                </c:pt>
                <c:pt idx="12">
                  <c:v>0.317</c:v>
                </c:pt>
                <c:pt idx="13">
                  <c:v>0.31</c:v>
                </c:pt>
                <c:pt idx="14">
                  <c:v>0.67200000000000004</c:v>
                </c:pt>
                <c:pt idx="15">
                  <c:v>0.97299999999999998</c:v>
                </c:pt>
                <c:pt idx="16">
                  <c:v>0.71299999999999997</c:v>
                </c:pt>
                <c:pt idx="17">
                  <c:v>0.245</c:v>
                </c:pt>
                <c:pt idx="18">
                  <c:v>0.374</c:v>
                </c:pt>
                <c:pt idx="19">
                  <c:v>0.56599999999999995</c:v>
                </c:pt>
                <c:pt idx="20">
                  <c:v>0.67200000000000004</c:v>
                </c:pt>
                <c:pt idx="21">
                  <c:v>0.41</c:v>
                </c:pt>
                <c:pt idx="22">
                  <c:v>0.25800000000000001</c:v>
                </c:pt>
                <c:pt idx="23">
                  <c:v>0.36799999999999999</c:v>
                </c:pt>
                <c:pt idx="24">
                  <c:v>0.53500000000000003</c:v>
                </c:pt>
                <c:pt idx="25">
                  <c:v>0.224</c:v>
                </c:pt>
                <c:pt idx="26">
                  <c:v>0.34599999999999997</c:v>
                </c:pt>
                <c:pt idx="27">
                  <c:v>0.252</c:v>
                </c:pt>
                <c:pt idx="28">
                  <c:v>0.27500000000000002</c:v>
                </c:pt>
                <c:pt idx="29">
                  <c:v>0.11799999999999999</c:v>
                </c:pt>
                <c:pt idx="30">
                  <c:v>0.32900000000000001</c:v>
                </c:pt>
                <c:pt idx="31">
                  <c:v>0.29899999999999999</c:v>
                </c:pt>
                <c:pt idx="32">
                  <c:v>0.47599999999999998</c:v>
                </c:pt>
                <c:pt idx="33">
                  <c:v>0.29499999999999998</c:v>
                </c:pt>
                <c:pt idx="34">
                  <c:v>0.36799999999999999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'[20230313_LinkedObjects.xlsx]Sheet3'!$A$2:$A$36</c15:f>
                <c15:dlblRangeCache>
                  <c:ptCount val="35"/>
                  <c:pt idx="0">
                    <c:v>Cerebral Hemorrhage</c:v>
                  </c:pt>
                  <c:pt idx="1">
                    <c:v>Major Depressive, Bipolar, and Paranoid Disorders</c:v>
                  </c:pt>
                  <c:pt idx="2">
                    <c:v>Coma, Brain Compression/Anoxic Damage</c:v>
                  </c:pt>
                  <c:pt idx="3">
                    <c:v>Major Head Injury</c:v>
                  </c:pt>
                  <c:pt idx="4">
                    <c:v>Chronic Hepatitis</c:v>
                  </c:pt>
                  <c:pt idx="5">
                    <c:v>Drug/Alcohol Psychosis</c:v>
                  </c:pt>
                  <c:pt idx="6">
                    <c:v>Metastatic Cancer and Acute Leukemia (MCAL)</c:v>
                  </c:pt>
                  <c:pt idx="7">
                    <c:v>End-Stage Liver Disease</c:v>
                  </c:pt>
                  <c:pt idx="8">
                    <c:v>Drug/Alcohol Dependence</c:v>
                  </c:pt>
                  <c:pt idx="9">
                    <c:v>Vertebral Fractures without Spinal Cord Injury</c:v>
                  </c:pt>
                  <c:pt idx="10">
                    <c:v>Cirrhosis of Liver</c:v>
                  </c:pt>
                  <c:pt idx="11">
                    <c:v>Seizure Disorders and Convulsions</c:v>
                  </c:pt>
                  <c:pt idx="12">
                    <c:v>Ischemic or Unspecified Stroke</c:v>
                  </c:pt>
                  <c:pt idx="13">
                    <c:v>Intestinal Obstruction/Perforation</c:v>
                  </c:pt>
                  <c:pt idx="14">
                    <c:v>Lymphoma and Other Cancers</c:v>
                  </c:pt>
                  <c:pt idx="15">
                    <c:v>Lung and Other Severe Cancers</c:v>
                  </c:pt>
                  <c:pt idx="16">
                    <c:v>Protein-Calorie Malnutrition</c:v>
                  </c:pt>
                  <c:pt idx="17">
                    <c:v>Other Significant Endocrine and Metabolic Disorders</c:v>
                  </c:pt>
                  <c:pt idx="18">
                    <c:v>Rheumatoid Arthritis and Inflammatory Connective Tissue Disease</c:v>
                  </c:pt>
                  <c:pt idx="19">
                    <c:v>Complications of Specified Implanted Device or Graft</c:v>
                  </c:pt>
                  <c:pt idx="20">
                    <c:v>Aspiration and Specified Bacterial Pneumonias</c:v>
                  </c:pt>
                  <c:pt idx="21">
                    <c:v>Vascular Disease with Complications</c:v>
                  </c:pt>
                  <c:pt idx="22">
                    <c:v>Unstable Angina and Other Acute Ischemic Heart Disease</c:v>
                  </c:pt>
                  <c:pt idx="23">
                    <c:v>Diabetes with Chronic Complications</c:v>
                  </c:pt>
                  <c:pt idx="24">
                    <c:v>Septicemia, Sepsis, Systemic Inflammatory Response Syndrome/Shock</c:v>
                  </c:pt>
                  <c:pt idx="25">
                    <c:v>Chronic Kidney Disease (Stage 5)</c:v>
                  </c:pt>
                  <c:pt idx="26">
                    <c:v>Chronic Obstructive Pulmonary Disease</c:v>
                  </c:pt>
                  <c:pt idx="27">
                    <c:v>Coagulation Defects and Other Specified Hematological Disorders</c:v>
                  </c:pt>
                  <c:pt idx="28">
                    <c:v>Acute Myocardial Infarction</c:v>
                  </c:pt>
                  <c:pt idx="29">
                    <c:v>Diabetes without Complication (D)</c:v>
                  </c:pt>
                  <c:pt idx="30">
                    <c:v>Cardio-Respiratory Failure and Shock</c:v>
                  </c:pt>
                  <c:pt idx="31">
                    <c:v>Vascular Disease</c:v>
                  </c:pt>
                  <c:pt idx="32">
                    <c:v>Acute Renal Failure (ARF)</c:v>
                  </c:pt>
                  <c:pt idx="33">
                    <c:v>Specified Heart Arrhythmias (SHA)</c:v>
                  </c:pt>
                  <c:pt idx="34">
                    <c:v>Congestive Heart Failure (CHF)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23-B53E-4EA1-BC6B-125028C42C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65250512"/>
        <c:axId val="665251760"/>
      </c:scatterChart>
      <c:valAx>
        <c:axId val="6652505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Prediction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5251760"/>
        <c:crosses val="autoZero"/>
        <c:crossBetween val="midCat"/>
      </c:valAx>
      <c:valAx>
        <c:axId val="665251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Severity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525051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'2'!$A$8</c:f>
              <c:strCache>
                <c:ptCount val="1"/>
                <c:pt idx="0">
                  <c:v>m2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'2'!$B$7:$F$7</c:f>
              <c:strCache>
                <c:ptCount val="5"/>
                <c:pt idx="0">
                  <c:v>W</c:v>
                </c:pt>
                <c:pt idx="1">
                  <c:v>N1</c:v>
                </c:pt>
                <c:pt idx="2">
                  <c:v>N2</c:v>
                </c:pt>
                <c:pt idx="3">
                  <c:v>N3</c:v>
                </c:pt>
                <c:pt idx="4">
                  <c:v>REM</c:v>
                </c:pt>
              </c:strCache>
            </c:strRef>
          </c:cat>
          <c:val>
            <c:numRef>
              <c:f>'2'!$B$8:$F$8</c:f>
              <c:numCache>
                <c:formatCode>General</c:formatCode>
                <c:ptCount val="5"/>
                <c:pt idx="0">
                  <c:v>0.1</c:v>
                </c:pt>
                <c:pt idx="1">
                  <c:v>0.4</c:v>
                </c:pt>
                <c:pt idx="2">
                  <c:v>0.3</c:v>
                </c:pt>
                <c:pt idx="3">
                  <c:v>0.1</c:v>
                </c:pt>
                <c:pt idx="4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A3-44D0-B55B-2765A9D46B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53831391"/>
        <c:axId val="953577135"/>
      </c:barChart>
      <c:catAx>
        <c:axId val="12538313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3577135"/>
        <c:crosses val="autoZero"/>
        <c:auto val="1"/>
        <c:lblAlgn val="ctr"/>
        <c:lblOffset val="100"/>
        <c:noMultiLvlLbl val="0"/>
      </c:catAx>
      <c:valAx>
        <c:axId val="953577135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38313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'2'!$A$3</c:f>
              <c:strCache>
                <c:ptCount val="1"/>
                <c:pt idx="0">
                  <c:v>m1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401-4180-B28C-96C860FE8768}"/>
              </c:ext>
            </c:extLst>
          </c:dPt>
          <c:cat>
            <c:strRef>
              <c:f>'2'!$B$2:$F$2</c:f>
              <c:strCache>
                <c:ptCount val="5"/>
                <c:pt idx="0">
                  <c:v>W</c:v>
                </c:pt>
                <c:pt idx="1">
                  <c:v>N1</c:v>
                </c:pt>
                <c:pt idx="2">
                  <c:v>N2</c:v>
                </c:pt>
                <c:pt idx="3">
                  <c:v>N3</c:v>
                </c:pt>
                <c:pt idx="4">
                  <c:v>REM</c:v>
                </c:pt>
              </c:strCache>
            </c:strRef>
          </c:cat>
          <c:val>
            <c:numRef>
              <c:f>'2'!$B$3:$F$3</c:f>
              <c:numCache>
                <c:formatCode>General</c:formatCode>
                <c:ptCount val="5"/>
                <c:pt idx="0">
                  <c:v>0.9</c:v>
                </c:pt>
                <c:pt idx="1">
                  <c:v>0.01</c:v>
                </c:pt>
                <c:pt idx="2">
                  <c:v>0.01</c:v>
                </c:pt>
                <c:pt idx="3">
                  <c:v>0.01</c:v>
                </c:pt>
                <c:pt idx="4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01-4180-B28C-96C860FE87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53837391"/>
        <c:axId val="708285743"/>
      </c:barChart>
      <c:catAx>
        <c:axId val="12538373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8285743"/>
        <c:crosses val="autoZero"/>
        <c:auto val="1"/>
        <c:lblAlgn val="ctr"/>
        <c:lblOffset val="100"/>
        <c:noMultiLvlLbl val="0"/>
      </c:catAx>
      <c:valAx>
        <c:axId val="7082857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38373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3E1E9AA-346A-B3D9-794E-D00029D397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F56AFA-A4B7-7466-6AF7-3B946230D3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E4678F-55F8-4A98-B438-1921114C3F7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ABE0AD-401D-551F-84BA-B7639FBB7EB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A98A03-EC06-4230-C305-6B23873923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E4B95-DB27-469E-87AB-81525EE3E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172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260D9-9A89-466D-AB9E-AB8EEEC5B27F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C6F0D5-1438-4C96-931F-854E0BFC2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7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Hello everyone, thank you for coming to my PhD defense today. </a:t>
            </a:r>
          </a:p>
          <a:p>
            <a:r>
              <a:rPr lang="en-US"/>
              <a:t>Today I will present my research on Distribution-free UQ for DL.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076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First of all, I’d like to introduce my committee members online today. </a:t>
            </a:r>
          </a:p>
          <a:p>
            <a:endParaRPr lang="en-US"/>
          </a:p>
          <a:p>
            <a:r>
              <a:rPr lang="en-US"/>
              <a:t>Professor Jim Rehg from UIUC (</a:t>
            </a:r>
            <a:r>
              <a:rPr lang="en-US" b="0" i="0">
                <a:effectLst/>
                <a:latin typeface="roboto" panose="02000000000000000000" pitchFamily="2" charset="0"/>
              </a:rPr>
              <a:t>computer vision and machine learning, and work in a number of </a:t>
            </a:r>
            <a:r>
              <a:rPr lang="en-US" b="0" i="0" err="1">
                <a:effectLst/>
                <a:latin typeface="roboto" panose="02000000000000000000" pitchFamily="2" charset="0"/>
              </a:rPr>
              <a:t>inter’disciplinary</a:t>
            </a:r>
            <a:r>
              <a:rPr lang="en-US" b="0" i="0">
                <a:effectLst/>
                <a:latin typeface="roboto" panose="02000000000000000000" pitchFamily="2" charset="0"/>
              </a:rPr>
              <a:t> areas: developmental and social psychology, autism research, mobile health, and robotics)</a:t>
            </a:r>
          </a:p>
          <a:p>
            <a:endParaRPr lang="en-US"/>
          </a:p>
          <a:p>
            <a:r>
              <a:rPr lang="en-US"/>
              <a:t>Hanghang Tong: </a:t>
            </a:r>
            <a:r>
              <a:rPr lang="en-US" b="0" i="0">
                <a:solidFill>
                  <a:srgbClr val="000000"/>
                </a:solidFill>
                <a:effectLst/>
                <a:latin typeface="Optima"/>
              </a:rPr>
              <a:t>large scale data mining and machine learning, especially for graph and multimedia data with applications to social networks analysis, healthcare, cyber-security and e-commerce</a:t>
            </a:r>
          </a:p>
          <a:p>
            <a:endParaRPr lang="en-US" b="0" i="0">
              <a:solidFill>
                <a:srgbClr val="000000"/>
              </a:solidFill>
              <a:effectLst/>
              <a:latin typeface="Optima"/>
            </a:endParaRPr>
          </a:p>
          <a:p>
            <a:r>
              <a:rPr lang="en-US" b="0" i="0">
                <a:solidFill>
                  <a:srgbClr val="000000"/>
                </a:solidFill>
                <a:effectLst/>
                <a:latin typeface="Optima"/>
              </a:rPr>
              <a:t>Yaniv Romano: Prediction with Confidence, uncertainty estimation, reproducibility in science, theory and practice of neural nets, inverse problems and so on.</a:t>
            </a:r>
          </a:p>
          <a:p>
            <a:endParaRPr lang="en-US" b="0" i="0">
              <a:solidFill>
                <a:srgbClr val="000000"/>
              </a:solidFill>
              <a:effectLst/>
              <a:latin typeface="Optima"/>
            </a:endParaRPr>
          </a:p>
          <a:p>
            <a:r>
              <a:rPr lang="en-US" b="0" i="0">
                <a:solidFill>
                  <a:srgbClr val="000000"/>
                </a:solidFill>
                <a:effectLst/>
                <a:latin typeface="Optima"/>
              </a:rPr>
              <a:t>Jimeng Sun: AI for healthcare, clinical trials, drug discovery, predictive modeling, tensor factorization, and generative models</a:t>
            </a:r>
            <a:endParaRPr lang="en-US"/>
          </a:p>
          <a:p>
            <a:endParaRPr lang="en-US"/>
          </a:p>
          <a:p>
            <a:r>
              <a:rPr lang="en-US"/>
              <a:t>It’s my great honor to have them on my PhD committee, and I really appreciate their time and feedbacks in this process.\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05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title is DFUQ, but I’d like to first explain that is a non-DF UQ.</a:t>
            </a:r>
          </a:p>
          <a:p>
            <a:endParaRPr lang="en-US"/>
          </a:p>
          <a:p>
            <a:r>
              <a:rPr lang="en-US"/>
              <a:t>Non-DF UQ: UQ comes from assuming the underlying model/distribution </a:t>
            </a:r>
          </a:p>
          <a:p>
            <a:br>
              <a:rPr lang="en-US"/>
            </a:br>
            <a:r>
              <a:rPr lang="en-US"/>
              <a:t>DFUQ: do not make assumptions about the form of the underlying distribution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922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6:38 (20:00 remain)</a:t>
            </a:r>
          </a:p>
          <a:p>
            <a:endParaRPr lang="en-US"/>
          </a:p>
          <a:p>
            <a:r>
              <a:rPr lang="en-US"/>
              <a:t>9:43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86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0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08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For any distribution P, for almost all x aside from the atoms of P_X, E[</a:t>
            </a:r>
            <a:r>
              <a:rPr lang="en-US" err="1"/>
              <a:t>leb</a:t>
            </a:r>
            <a:r>
              <a:rPr lang="en-US"/>
              <a:t>(C(x))] = \</a:t>
            </a:r>
            <a:r>
              <a:rPr lang="en-US" err="1"/>
              <a:t>infty</a:t>
            </a:r>
            <a:endParaRPr lang="en-US"/>
          </a:p>
          <a:p>
            <a:endParaRPr lang="en-US"/>
          </a:p>
          <a:p>
            <a:r>
              <a:rPr lang="en-US"/>
              <a:t>CI need to be conditionally valid for Q as well.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565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Split it to two slides (use previous example)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625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18:03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0744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6780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It’s like a “damping” effect – a patient previously tend to have high coverage (whose </a:t>
            </a:r>
            <a:r>
              <a:rPr lang="en-US" err="1"/>
              <a:t>rhat</a:t>
            </a:r>
            <a:r>
              <a:rPr lang="en-US"/>
              <a:t> is left-leaning) is lowered, and vice versa</a:t>
            </a:r>
          </a:p>
          <a:p>
            <a:endParaRPr lang="en-US"/>
          </a:p>
          <a:p>
            <a:r>
              <a:rPr lang="en-US"/>
              <a:t>21’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1164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Don’t need to say details are skipped.</a:t>
            </a:r>
          </a:p>
          <a:p>
            <a:endParaRPr lang="en-US"/>
          </a:p>
          <a:p>
            <a:r>
              <a:rPr lang="en-US"/>
              <a:t>24’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700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Don’t mention re-scale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5561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18:46 (8:00 remain)</a:t>
            </a:r>
          </a:p>
          <a:p>
            <a:endParaRPr lang="en-US"/>
          </a:p>
          <a:p>
            <a:r>
              <a:rPr lang="en-US"/>
              <a:t>24:18</a:t>
            </a:r>
          </a:p>
          <a:p>
            <a:endParaRPr lang="en-US"/>
          </a:p>
          <a:p>
            <a:r>
              <a:rPr lang="en-US"/>
              <a:t>I will mainly focus on the </a:t>
            </a:r>
            <a:r>
              <a:rPr lang="en-US" err="1"/>
              <a:t>FavMac</a:t>
            </a:r>
            <a:r>
              <a:rPr lang="en-US"/>
              <a:t>, our ICML’23 paper.</a:t>
            </a:r>
          </a:p>
          <a:p>
            <a:r>
              <a:rPr lang="en-US"/>
              <a:t>#If time permits we can go over the other paper in the Appendix as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8532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8142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Binary Search: </a:t>
            </a:r>
            <a:r>
              <a:rPr lang="en-US" err="1"/>
              <a:t>NlogN</a:t>
            </a:r>
            <a:r>
              <a:rPr lang="en-US"/>
              <a:t>, because evaluating a threshold is O(N)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078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22:46 (4:00 remain)</a:t>
            </a:r>
          </a:p>
          <a:p>
            <a:endParaRPr lang="en-US"/>
          </a:p>
          <a:p>
            <a:r>
              <a:rPr lang="en-US"/>
              <a:t>30:05, 28:42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749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678B0-E7DA-9FF5-9C95-585451A8F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2B07A5-AF5B-F33F-0DF8-190D56C24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517E9B-E4AF-3232-5317-C92FC1F03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2CD18-DCD7-0A50-4BBE-740A3B1A0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6654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714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E81C0-D8E1-5815-0568-BD1272848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CE7377-B51E-1614-0CE3-7D8230B31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B4E8B-577E-EDDF-D468-3B113F625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7A105-325B-13BD-AE82-A6CB0B85A1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3746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BF13E-4A8D-DD1C-A68D-6234E61B9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4D99F7-F5A4-B923-4063-7753AF333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584EEB-45C5-FFCD-1FB7-4318020BF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34:40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C64E4-9903-770B-CA41-1C0805F1CF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525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BF13E-4A8D-DD1C-A68D-6234E61B9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4D99F7-F5A4-B923-4063-7753AF333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584EEB-45C5-FFCD-1FB7-4318020BF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will focus on entailment in the experiments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C64E4-9903-770B-CA41-1C0805F1CF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317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(the embedding before we run the k-means in spectral clustering</a:t>
            </a:r>
          </a:p>
          <a:p>
            <a:endParaRPr lang="en-US"/>
          </a:p>
          <a:p>
            <a:r>
              <a:rPr lang="en-US"/>
              <a:t>u_1,..u_k: eigen-vectors of the smallest k eigen-values.</a:t>
            </a:r>
          </a:p>
          <a:p>
            <a:r>
              <a:rPr lang="en-US" err="1"/>
              <a:t>v_j</a:t>
            </a:r>
            <a:r>
              <a:rPr lang="en-US"/>
              <a:t> = [u_{1,j}, …, u{</a:t>
            </a:r>
            <a:r>
              <a:rPr lang="en-US" err="1"/>
              <a:t>k,j</a:t>
            </a:r>
            <a:r>
              <a:rPr lang="en-US"/>
              <a:t>}] is a meaningful embedding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9543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9105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089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9213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12622-D839-9B1D-D971-22784CFC9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E1751E-7C4F-6F4E-0FAF-6EF6CEF89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D48768-A515-C86F-AB31-F1283D63A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Skip “overconfidence” in talk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64895-688E-F756-096A-7532B76236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8790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not a partition and some names should appear more than once if not for space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0279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Split it to two slides (use previous example)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393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only present the reliability diagrams as they are more visually intuitive. </a:t>
            </a:r>
          </a:p>
          <a:p>
            <a:endParaRPr lang="en-US"/>
          </a:p>
          <a:p>
            <a:r>
              <a:rPr lang="en-US" err="1"/>
              <a:t>KCal</a:t>
            </a:r>
            <a:r>
              <a:rPr lang="en-US"/>
              <a:t> has very consistent calibration quality across all classes.</a:t>
            </a:r>
          </a:p>
          <a:p>
            <a:endParaRPr lang="en-US"/>
          </a:p>
          <a:p>
            <a:r>
              <a:rPr lang="en-US"/>
              <a:t>More results are in our paper.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1426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only present the reliability diagrams as they are more visually intuitive. </a:t>
            </a:r>
          </a:p>
          <a:p>
            <a:endParaRPr lang="en-US"/>
          </a:p>
          <a:p>
            <a:r>
              <a:rPr lang="en-US" err="1"/>
              <a:t>KCal</a:t>
            </a:r>
            <a:r>
              <a:rPr lang="en-US"/>
              <a:t> has very consistent calibration quality across all classes.</a:t>
            </a:r>
          </a:p>
          <a:p>
            <a:endParaRPr lang="en-US"/>
          </a:p>
          <a:p>
            <a:r>
              <a:rPr lang="en-US"/>
              <a:t>More results are in our paper.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6827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only present the reliability diagrams as they are more visually intuitive. </a:t>
            </a:r>
          </a:p>
          <a:p>
            <a:endParaRPr lang="en-US"/>
          </a:p>
          <a:p>
            <a:r>
              <a:rPr lang="en-US" err="1"/>
              <a:t>KCal</a:t>
            </a:r>
            <a:r>
              <a:rPr lang="en-US"/>
              <a:t> has very consistent calibration quality across all classes.</a:t>
            </a:r>
          </a:p>
          <a:p>
            <a:endParaRPr lang="en-US"/>
          </a:p>
          <a:p>
            <a:r>
              <a:rPr lang="en-US"/>
              <a:t>More results are in our paper.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1947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only present the reliability diagrams as they are more visually intuitive. </a:t>
            </a:r>
          </a:p>
          <a:p>
            <a:endParaRPr lang="en-US"/>
          </a:p>
          <a:p>
            <a:r>
              <a:rPr lang="en-US" err="1"/>
              <a:t>KCal</a:t>
            </a:r>
            <a:r>
              <a:rPr lang="en-US"/>
              <a:t> has very consistent calibration quality across all classes.</a:t>
            </a:r>
          </a:p>
          <a:p>
            <a:endParaRPr lang="en-US"/>
          </a:p>
          <a:p>
            <a:r>
              <a:rPr lang="en-US"/>
              <a:t>More results are in our paper.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840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only present the reliability diagrams as they are more visually intuitive. </a:t>
            </a:r>
          </a:p>
          <a:p>
            <a:endParaRPr lang="en-US"/>
          </a:p>
          <a:p>
            <a:r>
              <a:rPr lang="en-US" err="1"/>
              <a:t>KCal</a:t>
            </a:r>
            <a:r>
              <a:rPr lang="en-US"/>
              <a:t> has very consistent calibration quality across all classes.</a:t>
            </a:r>
          </a:p>
          <a:p>
            <a:endParaRPr lang="en-US"/>
          </a:p>
          <a:p>
            <a:r>
              <a:rPr lang="en-US"/>
              <a:t>More results are in our paper.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82073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only present the reliability diagrams as they are more visually intuitive. </a:t>
            </a:r>
          </a:p>
          <a:p>
            <a:endParaRPr lang="en-US"/>
          </a:p>
          <a:p>
            <a:r>
              <a:rPr lang="en-US" err="1"/>
              <a:t>KCal</a:t>
            </a:r>
            <a:r>
              <a:rPr lang="en-US"/>
              <a:t> has very consistent calibration quality across all classes.</a:t>
            </a:r>
          </a:p>
          <a:p>
            <a:endParaRPr lang="en-US"/>
          </a:p>
          <a:p>
            <a:r>
              <a:rPr lang="en-US"/>
              <a:t>More results are in our paper.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678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only present the reliability diagrams as they are more visually intuitive. </a:t>
            </a:r>
          </a:p>
          <a:p>
            <a:endParaRPr lang="en-US"/>
          </a:p>
          <a:p>
            <a:r>
              <a:rPr lang="en-US" err="1"/>
              <a:t>KCal</a:t>
            </a:r>
            <a:r>
              <a:rPr lang="en-US"/>
              <a:t> has very consistent calibration quality across all classes.</a:t>
            </a:r>
          </a:p>
          <a:p>
            <a:endParaRPr lang="en-US"/>
          </a:p>
          <a:p>
            <a:r>
              <a:rPr lang="en-US"/>
              <a:t>More results are in our paper.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96771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only present the reliability diagrams as they are more visually intuitive. </a:t>
            </a:r>
          </a:p>
          <a:p>
            <a:endParaRPr lang="en-US"/>
          </a:p>
          <a:p>
            <a:r>
              <a:rPr lang="en-US" err="1"/>
              <a:t>KCal</a:t>
            </a:r>
            <a:r>
              <a:rPr lang="en-US"/>
              <a:t> has very consistent calibration quality across all classes.</a:t>
            </a:r>
          </a:p>
          <a:p>
            <a:endParaRPr lang="en-US"/>
          </a:p>
          <a:p>
            <a:r>
              <a:rPr lang="en-US"/>
              <a:t>More results are in our paper.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94915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One sentence (put this in appendix)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41743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SCRIB-: Using only one threshold instead class-specific thresholds</a:t>
            </a:r>
          </a:p>
          <a:p>
            <a:r>
              <a:rPr lang="en-US"/>
              <a:t>Blue line: median</a:t>
            </a:r>
          </a:p>
          <a:p>
            <a:endParaRPr lang="en-US"/>
          </a:p>
          <a:p>
            <a:r>
              <a:rPr lang="en-US"/>
              <a:t>More experiments and user study results could be found in our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78792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SCRIB-: Using only one threshold instead class-specific thresholds</a:t>
            </a:r>
          </a:p>
          <a:p>
            <a:r>
              <a:rPr lang="en-US"/>
              <a:t>Blue line: median</a:t>
            </a:r>
          </a:p>
          <a:p>
            <a:endParaRPr lang="en-US"/>
          </a:p>
          <a:p>
            <a:r>
              <a:rPr lang="en-US"/>
              <a:t>More experiments and user study results could be found in our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605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DB4B91E8-CFA1-A67A-1FC3-55A450AB81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Placeholder">
            <a:extLst>
              <a:ext uri="{FF2B5EF4-FFF2-40B4-BE49-F238E27FC236}">
                <a16:creationId xmlns:a16="http://schemas.microsoft.com/office/drawing/2014/main" id="{DC81612B-D90D-9CB9-5E42-CE2949781B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86249" y="2163545"/>
            <a:ext cx="9603281" cy="16144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2" name="Department/unit name placeholder">
            <a:extLst>
              <a:ext uri="{FF2B5EF4-FFF2-40B4-BE49-F238E27FC236}">
                <a16:creationId xmlns:a16="http://schemas.microsoft.com/office/drawing/2014/main" id="{497620D0-FD2F-C1C0-438F-BA156FAA85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88719" y="3694701"/>
            <a:ext cx="9603281" cy="7679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Department/Unit Name</a:t>
            </a:r>
          </a:p>
        </p:txBody>
      </p:sp>
      <p:sp>
        <p:nvSpPr>
          <p:cNvPr id="8" name="Date Placeholder">
            <a:extLst>
              <a:ext uri="{FF2B5EF4-FFF2-40B4-BE49-F238E27FC236}">
                <a16:creationId xmlns:a16="http://schemas.microsoft.com/office/drawing/2014/main" id="{D3A57C1C-6F1A-1705-E0D4-BE50DA8625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88719" y="4462670"/>
            <a:ext cx="9603281" cy="7679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21001931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F695CC64-3461-3E2F-96AD-692D482DCE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9" y="0"/>
            <a:ext cx="12180722" cy="6858000"/>
          </a:xfrm>
          <a:prstGeom prst="rect">
            <a:avLst/>
          </a:prstGeom>
        </p:spPr>
      </p:pic>
      <p:sp>
        <p:nvSpPr>
          <p:cNvPr id="3" name="Title Placeholder">
            <a:extLst>
              <a:ext uri="{FF2B5EF4-FFF2-40B4-BE49-F238E27FC236}">
                <a16:creationId xmlns:a16="http://schemas.microsoft.com/office/drawing/2014/main" id="{BFEDB59C-4BF0-5E85-1838-3559AB4A4C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86249" y="2163545"/>
            <a:ext cx="9603281" cy="16144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Department/Unit name placeholder">
            <a:extLst>
              <a:ext uri="{FF2B5EF4-FFF2-40B4-BE49-F238E27FC236}">
                <a16:creationId xmlns:a16="http://schemas.microsoft.com/office/drawing/2014/main" id="{6F3B0995-AA99-DD7A-5E57-105793B75D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88719" y="3694701"/>
            <a:ext cx="9603281" cy="7679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Department/Unit Name</a:t>
            </a:r>
          </a:p>
        </p:txBody>
      </p:sp>
      <p:sp>
        <p:nvSpPr>
          <p:cNvPr id="6" name="Date Placeholder">
            <a:extLst>
              <a:ext uri="{FF2B5EF4-FFF2-40B4-BE49-F238E27FC236}">
                <a16:creationId xmlns:a16="http://schemas.microsoft.com/office/drawing/2014/main" id="{ACD6DADD-8DC8-0FA6-3202-554F0A5F18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88719" y="4462670"/>
            <a:ext cx="9603281" cy="7679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275391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">
            <a:extLst>
              <a:ext uri="{FF2B5EF4-FFF2-40B4-BE49-F238E27FC236}">
                <a16:creationId xmlns:a16="http://schemas.microsoft.com/office/drawing/2014/main" id="{5C2C3DC9-CBAF-E0AA-9E07-BE81DC638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6" y="694"/>
            <a:ext cx="12189534" cy="6856612"/>
          </a:xfrm>
          <a:prstGeom prst="rect">
            <a:avLst/>
          </a:prstGeom>
        </p:spPr>
      </p:pic>
      <p:sp>
        <p:nvSpPr>
          <p:cNvPr id="3" name="Title Placeholder">
            <a:extLst>
              <a:ext uri="{FF2B5EF4-FFF2-40B4-BE49-F238E27FC236}">
                <a16:creationId xmlns:a16="http://schemas.microsoft.com/office/drawing/2014/main" id="{ACA65AA5-72F7-BA65-02CD-944C75DCAB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" y="2163545"/>
            <a:ext cx="12189530" cy="16144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3E44D2A3-C965-C633-19E4-D7543644A7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71" y="3694701"/>
            <a:ext cx="12189530" cy="7878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Department/Unit Name</a:t>
            </a:r>
          </a:p>
        </p:txBody>
      </p:sp>
      <p:sp>
        <p:nvSpPr>
          <p:cNvPr id="6" name="Date Placeholder">
            <a:extLst>
              <a:ext uri="{FF2B5EF4-FFF2-40B4-BE49-F238E27FC236}">
                <a16:creationId xmlns:a16="http://schemas.microsoft.com/office/drawing/2014/main" id="{A11F428D-6D39-7B6D-AFE8-65D4134A99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500134"/>
            <a:ext cx="12189530" cy="7878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88190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ackground">
            <a:extLst>
              <a:ext uri="{FF2B5EF4-FFF2-40B4-BE49-F238E27FC236}">
                <a16:creationId xmlns:a16="http://schemas.microsoft.com/office/drawing/2014/main" id="{4A6F8600-C465-A237-F197-C96A708B3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39" y="3172"/>
            <a:ext cx="12180721" cy="6851656"/>
          </a:xfrm>
          <a:prstGeom prst="rect">
            <a:avLst/>
          </a:prstGeom>
        </p:spPr>
      </p:pic>
      <p:sp>
        <p:nvSpPr>
          <p:cNvPr id="3" name="Title Placeholder">
            <a:extLst>
              <a:ext uri="{FF2B5EF4-FFF2-40B4-BE49-F238E27FC236}">
                <a16:creationId xmlns:a16="http://schemas.microsoft.com/office/drawing/2014/main" id="{F16267C3-140D-73DF-5069-F013F81846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09" y="2163545"/>
            <a:ext cx="12180722" cy="16144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Department/Name Placeholder">
            <a:extLst>
              <a:ext uri="{FF2B5EF4-FFF2-40B4-BE49-F238E27FC236}">
                <a16:creationId xmlns:a16="http://schemas.microsoft.com/office/drawing/2014/main" id="{87E33E8E-94EC-D6F0-814A-4EDAFDEC86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71" y="3694701"/>
            <a:ext cx="12189530" cy="7878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Department/Unit Name</a:t>
            </a:r>
          </a:p>
        </p:txBody>
      </p:sp>
      <p:sp>
        <p:nvSpPr>
          <p:cNvPr id="6" name="Date Placeholder">
            <a:extLst>
              <a:ext uri="{FF2B5EF4-FFF2-40B4-BE49-F238E27FC236}">
                <a16:creationId xmlns:a16="http://schemas.microsoft.com/office/drawing/2014/main" id="{53FE06C4-A829-23E6-0677-AB297591F4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500134"/>
            <a:ext cx="12189530" cy="7878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14258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7055D02D-3326-7573-A3C0-A19814EBC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7" y="694"/>
            <a:ext cx="12189532" cy="6856612"/>
          </a:xfrm>
          <a:prstGeom prst="rect">
            <a:avLst/>
          </a:prstGeom>
        </p:spPr>
      </p:pic>
      <p:pic>
        <p:nvPicPr>
          <p:cNvPr id="15" name="Block I">
            <a:extLst>
              <a:ext uri="{FF2B5EF4-FFF2-40B4-BE49-F238E27FC236}">
                <a16:creationId xmlns:a16="http://schemas.microsoft.com/office/drawing/2014/main" id="{193783E6-EE13-4530-A988-B4868B496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98275" y="279019"/>
            <a:ext cx="528575" cy="762367"/>
          </a:xfrm>
          <a:prstGeom prst="rect">
            <a:avLst/>
          </a:prstGeom>
        </p:spPr>
      </p:pic>
      <p:sp>
        <p:nvSpPr>
          <p:cNvPr id="11" name="Title Accent">
            <a:extLst>
              <a:ext uri="{FF2B5EF4-FFF2-40B4-BE49-F238E27FC236}">
                <a16:creationId xmlns:a16="http://schemas.microsoft.com/office/drawing/2014/main" id="{BBEA2DE4-2385-495C-A616-BF4D8C4AE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90650" y="1832610"/>
            <a:ext cx="95250" cy="31927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4A50B919-1C53-82C7-0ADF-4D7B606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7542" y="1832610"/>
            <a:ext cx="9470733" cy="132556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4" name="Subtitle Placeholder">
            <a:extLst>
              <a:ext uri="{FF2B5EF4-FFF2-40B4-BE49-F238E27FC236}">
                <a16:creationId xmlns:a16="http://schemas.microsoft.com/office/drawing/2014/main" id="{E14BE4D4-A7FC-9557-3271-D4088C04E7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27542" y="3603292"/>
            <a:ext cx="9470733" cy="142209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Department/unit name Placeholder">
            <a:extLst>
              <a:ext uri="{FF2B5EF4-FFF2-40B4-BE49-F238E27FC236}">
                <a16:creationId xmlns:a16="http://schemas.microsoft.com/office/drawing/2014/main" id="{5CA5320C-70CA-7F64-3D32-B994D01BD6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6" name="Slide Number Placeholder">
            <a:extLst>
              <a:ext uri="{FF2B5EF4-FFF2-40B4-BE49-F238E27FC236}">
                <a16:creationId xmlns:a16="http://schemas.microsoft.com/office/drawing/2014/main" id="{2D0D6A88-2FF4-ED2F-DB76-9BB2C9C00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5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">
            <a:extLst>
              <a:ext uri="{FF2B5EF4-FFF2-40B4-BE49-F238E27FC236}">
                <a16:creationId xmlns:a16="http://schemas.microsoft.com/office/drawing/2014/main" id="{C493BA29-88DB-9209-4439-6C9327AE6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6" y="694"/>
            <a:ext cx="12189533" cy="6856612"/>
          </a:xfrm>
          <a:prstGeom prst="rect">
            <a:avLst/>
          </a:prstGeom>
        </p:spPr>
      </p:pic>
      <p:pic>
        <p:nvPicPr>
          <p:cNvPr id="10" name="Block I">
            <a:extLst>
              <a:ext uri="{FF2B5EF4-FFF2-40B4-BE49-F238E27FC236}">
                <a16:creationId xmlns:a16="http://schemas.microsoft.com/office/drawing/2014/main" id="{72E36FC3-13D9-5B7F-F024-ECE203ECE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</p:spPr>
      </p:pic>
      <p:sp>
        <p:nvSpPr>
          <p:cNvPr id="7" name="Title Accent">
            <a:extLst>
              <a:ext uri="{FF2B5EF4-FFF2-40B4-BE49-F238E27FC236}">
                <a16:creationId xmlns:a16="http://schemas.microsoft.com/office/drawing/2014/main" id="{70DB334B-58BA-FA46-760E-299BA028B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90650" y="1832610"/>
            <a:ext cx="95250" cy="3192780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9022AEE9-9854-64A4-8425-2C701E7B8A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7542" y="1832610"/>
            <a:ext cx="9470733" cy="132556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9" name="Subtitle Placeholder">
            <a:extLst>
              <a:ext uri="{FF2B5EF4-FFF2-40B4-BE49-F238E27FC236}">
                <a16:creationId xmlns:a16="http://schemas.microsoft.com/office/drawing/2014/main" id="{06092AA5-D5FE-2CF4-EDF1-CED258F3F20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27542" y="3603292"/>
            <a:ext cx="9470733" cy="142209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epartment/unit name Placeholder">
            <a:extLst>
              <a:ext uri="{FF2B5EF4-FFF2-40B4-BE49-F238E27FC236}">
                <a16:creationId xmlns:a16="http://schemas.microsoft.com/office/drawing/2014/main" id="{1A96EBAC-4595-0697-28AB-2D82831393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B004C974-18EE-90F8-50C2-6B74362B7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731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>
            <a:extLst>
              <a:ext uri="{FF2B5EF4-FFF2-40B4-BE49-F238E27FC236}">
                <a16:creationId xmlns:a16="http://schemas.microsoft.com/office/drawing/2014/main" id="{4E2EB510-CA6D-090B-7475-EB8A202EE1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6" y="694"/>
            <a:ext cx="12189532" cy="6856612"/>
          </a:xfrm>
          <a:prstGeom prst="rect">
            <a:avLst/>
          </a:prstGeom>
        </p:spPr>
      </p:pic>
      <p:pic>
        <p:nvPicPr>
          <p:cNvPr id="10" name="Block I">
            <a:extLst>
              <a:ext uri="{FF2B5EF4-FFF2-40B4-BE49-F238E27FC236}">
                <a16:creationId xmlns:a16="http://schemas.microsoft.com/office/drawing/2014/main" id="{68FCE613-86B1-45E6-BB32-58EB7FA4B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98275" y="279019"/>
            <a:ext cx="528575" cy="762367"/>
          </a:xfrm>
          <a:prstGeom prst="rect">
            <a:avLst/>
          </a:prstGeom>
        </p:spPr>
      </p:pic>
      <p:sp>
        <p:nvSpPr>
          <p:cNvPr id="5" name="Title accent">
            <a:extLst>
              <a:ext uri="{FF2B5EF4-FFF2-40B4-BE49-F238E27FC236}">
                <a16:creationId xmlns:a16="http://schemas.microsoft.com/office/drawing/2014/main" id="{9D88B7D3-8E4C-8BC3-801C-DEA164218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90650" y="1832610"/>
            <a:ext cx="95250" cy="31927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DB230F21-1FBA-D776-0144-95076DA261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7542" y="1832610"/>
            <a:ext cx="9470733" cy="132556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7" name="Subtitle Placeholder">
            <a:extLst>
              <a:ext uri="{FF2B5EF4-FFF2-40B4-BE49-F238E27FC236}">
                <a16:creationId xmlns:a16="http://schemas.microsoft.com/office/drawing/2014/main" id="{1BA84641-52D3-F667-A202-043557B06E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27542" y="3603292"/>
            <a:ext cx="9470733" cy="142209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Department/Unit name Placeholder">
            <a:extLst>
              <a:ext uri="{FF2B5EF4-FFF2-40B4-BE49-F238E27FC236}">
                <a16:creationId xmlns:a16="http://schemas.microsoft.com/office/drawing/2014/main" id="{734D93D2-3734-2540-A03F-C47C6DD21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5E21822-BD18-9D54-B62B-8E5D54BCF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33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>
            <a:extLst>
              <a:ext uri="{FF2B5EF4-FFF2-40B4-BE49-F238E27FC236}">
                <a16:creationId xmlns:a16="http://schemas.microsoft.com/office/drawing/2014/main" id="{2F9A8B31-E9F1-E958-5770-0E4DC6EC1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Block I">
            <a:extLst>
              <a:ext uri="{FF2B5EF4-FFF2-40B4-BE49-F238E27FC236}">
                <a16:creationId xmlns:a16="http://schemas.microsoft.com/office/drawing/2014/main" id="{372EC9F4-B30C-7841-50F3-CAE581C4A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</p:spPr>
      </p:pic>
      <p:sp>
        <p:nvSpPr>
          <p:cNvPr id="6" name="Title Accent">
            <a:extLst>
              <a:ext uri="{FF2B5EF4-FFF2-40B4-BE49-F238E27FC236}">
                <a16:creationId xmlns:a16="http://schemas.microsoft.com/office/drawing/2014/main" id="{7F62A38B-0BBB-7A39-BE3D-4B696AE8F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90650" y="1832610"/>
            <a:ext cx="95250" cy="3192780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8C38F5E-9BC0-719F-02FF-D9B0010B4E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7542" y="1832610"/>
            <a:ext cx="9470733" cy="132556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Subtitle Placeholder">
            <a:extLst>
              <a:ext uri="{FF2B5EF4-FFF2-40B4-BE49-F238E27FC236}">
                <a16:creationId xmlns:a16="http://schemas.microsoft.com/office/drawing/2014/main" id="{93DA8837-8538-EC91-4522-8F7D0204BE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27542" y="3603292"/>
            <a:ext cx="9470733" cy="142209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epartment/Unit name Placeholder">
            <a:extLst>
              <a:ext uri="{FF2B5EF4-FFF2-40B4-BE49-F238E27FC236}">
                <a16:creationId xmlns:a16="http://schemas.microsoft.com/office/drawing/2014/main" id="{C3874A56-F068-73F4-0F8E-2728FC25B4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D4F4EDB-DDC3-8969-B1D8-C97542C1E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736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&#10;&#10;Description automatically generated">
            <a:extLst>
              <a:ext uri="{FF2B5EF4-FFF2-40B4-BE49-F238E27FC236}">
                <a16:creationId xmlns:a16="http://schemas.microsoft.com/office/drawing/2014/main" id="{2DC2EA98-9C0B-0656-7189-50959CB931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  <p:pic>
        <p:nvPicPr>
          <p:cNvPr id="5" name="Block I">
            <a:extLst>
              <a:ext uri="{FF2B5EF4-FFF2-40B4-BE49-F238E27FC236}">
                <a16:creationId xmlns:a16="http://schemas.microsoft.com/office/drawing/2014/main" id="{B6F3FFB3-15FF-5FEF-255A-ED6AEE9D5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</p:spPr>
      </p:pic>
      <p:sp>
        <p:nvSpPr>
          <p:cNvPr id="4" name="Title Placeholder">
            <a:extLst>
              <a:ext uri="{FF2B5EF4-FFF2-40B4-BE49-F238E27FC236}">
                <a16:creationId xmlns:a16="http://schemas.microsoft.com/office/drawing/2014/main" id="{F7E785B2-7E34-E0D4-0458-2031C0247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87996"/>
            <a:ext cx="10515600" cy="1325563"/>
          </a:xfrm>
        </p:spPr>
        <p:txBody>
          <a:bodyPr/>
          <a:lstStyle>
            <a:lvl1pPr algn="ctr"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Title underscore">
            <a:extLst>
              <a:ext uri="{FF2B5EF4-FFF2-40B4-BE49-F238E27FC236}">
                <a16:creationId xmlns:a16="http://schemas.microsoft.com/office/drawing/2014/main" id="{73C213B8-2261-4AAB-8CED-8BDC7849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55664" y="4159281"/>
            <a:ext cx="1275549" cy="141956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epartment/Unit name Placeholder">
            <a:extLst>
              <a:ext uri="{FF2B5EF4-FFF2-40B4-BE49-F238E27FC236}">
                <a16:creationId xmlns:a16="http://schemas.microsoft.com/office/drawing/2014/main" id="{43F3769A-076E-8C78-317D-5BCB57976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576D1151-1586-A4CD-17CD-700A8ECAB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70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range, yellow, bright&#10;&#10;Description automatically generated">
            <a:extLst>
              <a:ext uri="{FF2B5EF4-FFF2-40B4-BE49-F238E27FC236}">
                <a16:creationId xmlns:a16="http://schemas.microsoft.com/office/drawing/2014/main" id="{087EC6D0-4483-1ACA-F204-347BC79241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11" name="Block I">
            <a:extLst>
              <a:ext uri="{FF2B5EF4-FFF2-40B4-BE49-F238E27FC236}">
                <a16:creationId xmlns:a16="http://schemas.microsoft.com/office/drawing/2014/main" id="{03433787-1CFF-45E7-AF8C-BD6DE67D4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275" y="277804"/>
            <a:ext cx="528575" cy="764797"/>
          </a:xfrm>
          <a:prstGeom prst="rect">
            <a:avLst/>
          </a:prstGeom>
        </p:spPr>
      </p:pic>
      <p:sp>
        <p:nvSpPr>
          <p:cNvPr id="6" name="Title Placeholder">
            <a:extLst>
              <a:ext uri="{FF2B5EF4-FFF2-40B4-BE49-F238E27FC236}">
                <a16:creationId xmlns:a16="http://schemas.microsoft.com/office/drawing/2014/main" id="{1E358E9E-D14A-D868-718C-3F41147F1E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87996"/>
            <a:ext cx="10515600" cy="1325563"/>
          </a:xfrm>
        </p:spPr>
        <p:txBody>
          <a:bodyPr/>
          <a:lstStyle>
            <a:lvl1pPr algn="ctr"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0" name="Title underscore">
            <a:extLst>
              <a:ext uri="{FF2B5EF4-FFF2-40B4-BE49-F238E27FC236}">
                <a16:creationId xmlns:a16="http://schemas.microsoft.com/office/drawing/2014/main" id="{9AB7A58C-6DBD-4739-B4B2-CF600754B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55664" y="4159281"/>
            <a:ext cx="1275549" cy="1419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epartment/Unit name Placeholder">
            <a:extLst>
              <a:ext uri="{FF2B5EF4-FFF2-40B4-BE49-F238E27FC236}">
                <a16:creationId xmlns:a16="http://schemas.microsoft.com/office/drawing/2014/main" id="{5A4D42FD-F2CE-B461-42FC-B7365425E0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C86609E-3488-AC7D-5BCD-1999D3DF71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533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Accent">
            <a:extLst>
              <a:ext uri="{FF2B5EF4-FFF2-40B4-BE49-F238E27FC236}">
                <a16:creationId xmlns:a16="http://schemas.microsoft.com/office/drawing/2014/main" id="{EC828380-4544-4F96-B8A5-DCC905DD2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E786A00E-850A-460E-A70F-9654094110B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4228" y="277803"/>
            <a:ext cx="10370191" cy="1189820"/>
          </a:xfrm>
        </p:spPr>
        <p:txBody>
          <a:bodyPr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pic>
        <p:nvPicPr>
          <p:cNvPr id="7" name="Block I">
            <a:extLst>
              <a:ext uri="{FF2B5EF4-FFF2-40B4-BE49-F238E27FC236}">
                <a16:creationId xmlns:a16="http://schemas.microsoft.com/office/drawing/2014/main" id="{83CCBDC0-B71E-50D9-1AE4-50C357B1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19" name="Subheading">
            <a:extLst>
              <a:ext uri="{FF2B5EF4-FFF2-40B4-BE49-F238E27FC236}">
                <a16:creationId xmlns:a16="http://schemas.microsoft.com/office/drawing/2014/main" id="{CC490E05-74DB-0E53-9364-2C3ADCC6A2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4228" y="1913536"/>
            <a:ext cx="10370191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5611F233-E768-987E-50BE-BF98E82C82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2463" y="2688805"/>
            <a:ext cx="10370190" cy="963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Subheading 2">
            <a:extLst>
              <a:ext uri="{FF2B5EF4-FFF2-40B4-BE49-F238E27FC236}">
                <a16:creationId xmlns:a16="http://schemas.microsoft.com/office/drawing/2014/main" id="{2D3D518F-FED5-7E25-12CE-FCBE9431A5C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4228" y="3957788"/>
            <a:ext cx="10370191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9071244-DD24-D83B-A3BC-DF4D85E0872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2463" y="4733057"/>
            <a:ext cx="10370190" cy="963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background">
            <a:extLst>
              <a:ext uri="{FF2B5EF4-FFF2-40B4-BE49-F238E27FC236}">
                <a16:creationId xmlns:a16="http://schemas.microsoft.com/office/drawing/2014/main" id="{2CDA5182-C298-A7CD-BECD-28B3EF9F5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epartment/Unit name Placeholder">
            <a:extLst>
              <a:ext uri="{FF2B5EF4-FFF2-40B4-BE49-F238E27FC236}">
                <a16:creationId xmlns:a16="http://schemas.microsoft.com/office/drawing/2014/main" id="{D04B6268-443E-C233-94CE-19E2240CBF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2166FCCC-D572-7B04-6D0C-142E9AF1A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004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lock I">
            <a:extLst>
              <a:ext uri="{FF2B5EF4-FFF2-40B4-BE49-F238E27FC236}">
                <a16:creationId xmlns:a16="http://schemas.microsoft.com/office/drawing/2014/main" id="{83CCBDC0-B71E-50D9-1AE4-50C357B1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E00EE44-1662-6C19-8EEE-4473520AD6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Placeholder">
            <a:extLst>
              <a:ext uri="{FF2B5EF4-FFF2-40B4-BE49-F238E27FC236}">
                <a16:creationId xmlns:a16="http://schemas.microsoft.com/office/drawing/2014/main" id="{E931AE62-380E-BC43-BCCD-6289A36C172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4228" y="277803"/>
            <a:ext cx="10370191" cy="1189820"/>
          </a:xfrm>
        </p:spPr>
        <p:txBody>
          <a:bodyPr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sp>
        <p:nvSpPr>
          <p:cNvPr id="19" name="Subhead Placeholder - left">
            <a:extLst>
              <a:ext uri="{FF2B5EF4-FFF2-40B4-BE49-F238E27FC236}">
                <a16:creationId xmlns:a16="http://schemas.microsoft.com/office/drawing/2014/main" id="{CC490E05-74DB-0E53-9364-2C3ADCC6A2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2178" y="2009998"/>
            <a:ext cx="4876417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5611F233-E768-987E-50BE-BF98E82C82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2463" y="2785267"/>
            <a:ext cx="4876417" cy="21554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ubhead Placeholder - right">
            <a:extLst>
              <a:ext uri="{FF2B5EF4-FFF2-40B4-BE49-F238E27FC236}">
                <a16:creationId xmlns:a16="http://schemas.microsoft.com/office/drawing/2014/main" id="{224424D1-87E7-3962-19AA-DA17D1EABB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8002" y="2009998"/>
            <a:ext cx="4876417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629D8EC-3306-885D-34FB-A593175BDA5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46237" y="2785267"/>
            <a:ext cx="4876417" cy="21554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background">
            <a:extLst>
              <a:ext uri="{FF2B5EF4-FFF2-40B4-BE49-F238E27FC236}">
                <a16:creationId xmlns:a16="http://schemas.microsoft.com/office/drawing/2014/main" id="{2CDA5182-C298-A7CD-BECD-28B3EF9F5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epartment/Unit name Placeholder">
            <a:extLst>
              <a:ext uri="{FF2B5EF4-FFF2-40B4-BE49-F238E27FC236}">
                <a16:creationId xmlns:a16="http://schemas.microsoft.com/office/drawing/2014/main" id="{78C65027-A687-41F0-E627-6C9CA6C8D0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2166FCCC-D572-7B04-6D0C-142E9AF1A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254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accent">
            <a:extLst>
              <a:ext uri="{FF2B5EF4-FFF2-40B4-BE49-F238E27FC236}">
                <a16:creationId xmlns:a16="http://schemas.microsoft.com/office/drawing/2014/main" id="{115AD324-E2E1-9400-B6BC-49D0C5F6A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itle">
            <a:extLst>
              <a:ext uri="{FF2B5EF4-FFF2-40B4-BE49-F238E27FC236}">
                <a16:creationId xmlns:a16="http://schemas.microsoft.com/office/drawing/2014/main" id="{6A7A0BEE-DAD0-8B48-F83D-62899B2EFB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4228" y="277803"/>
            <a:ext cx="10370191" cy="1189820"/>
          </a:xfrm>
        </p:spPr>
        <p:txBody>
          <a:bodyPr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pic>
        <p:nvPicPr>
          <p:cNvPr id="7" name="Block I">
            <a:extLst>
              <a:ext uri="{FF2B5EF4-FFF2-40B4-BE49-F238E27FC236}">
                <a16:creationId xmlns:a16="http://schemas.microsoft.com/office/drawing/2014/main" id="{83CCBDC0-B71E-50D9-1AE4-50C357B1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25" name="Subhead Placeholder - left">
            <a:extLst>
              <a:ext uri="{FF2B5EF4-FFF2-40B4-BE49-F238E27FC236}">
                <a16:creationId xmlns:a16="http://schemas.microsoft.com/office/drawing/2014/main" id="{4F21266B-E068-C84F-857F-629382CE95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0585" y="2009998"/>
            <a:ext cx="4876417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8" name="Text Placeholder - left">
            <a:extLst>
              <a:ext uri="{FF2B5EF4-FFF2-40B4-BE49-F238E27FC236}">
                <a16:creationId xmlns:a16="http://schemas.microsoft.com/office/drawing/2014/main" id="{E378921D-C904-2C44-DAD3-10FCD05155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1081" y="2774950"/>
            <a:ext cx="4876417" cy="2668588"/>
          </a:xfrm>
        </p:spPr>
        <p:txBody>
          <a:bodyPr/>
          <a:lstStyle>
            <a:lvl1pPr marL="228600" indent="-2286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/>
            </a:lvl4pPr>
            <a:lvl5pPr marL="2057400" indent="-2286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Subhead Placeholder - right">
            <a:extLst>
              <a:ext uri="{FF2B5EF4-FFF2-40B4-BE49-F238E27FC236}">
                <a16:creationId xmlns:a16="http://schemas.microsoft.com/office/drawing/2014/main" id="{EEBD4F98-6476-56B5-5D6A-FDFCA46BF70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4359" y="2009998"/>
            <a:ext cx="4876417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30" name="Text Placeholder -right">
            <a:extLst>
              <a:ext uri="{FF2B5EF4-FFF2-40B4-BE49-F238E27FC236}">
                <a16:creationId xmlns:a16="http://schemas.microsoft.com/office/drawing/2014/main" id="{E6AC3C03-BBBE-A121-29AB-D885327950B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44855" y="2774797"/>
            <a:ext cx="4876417" cy="2668588"/>
          </a:xfrm>
        </p:spPr>
        <p:txBody>
          <a:bodyPr/>
          <a:lstStyle>
            <a:lvl1pPr marL="228600" indent="-2286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/>
            </a:lvl4pPr>
            <a:lvl5pPr marL="2057400" indent="-2286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background">
            <a:extLst>
              <a:ext uri="{FF2B5EF4-FFF2-40B4-BE49-F238E27FC236}">
                <a16:creationId xmlns:a16="http://schemas.microsoft.com/office/drawing/2014/main" id="{2CDA5182-C298-A7CD-BECD-28B3EF9F5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Department/unit name Placeholder">
            <a:extLst>
              <a:ext uri="{FF2B5EF4-FFF2-40B4-BE49-F238E27FC236}">
                <a16:creationId xmlns:a16="http://schemas.microsoft.com/office/drawing/2014/main" id="{447F6171-D545-B452-563D-EFB2AE9666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2166FCCC-D572-7B04-6D0C-142E9AF1A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1018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Content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Accent">
            <a:extLst>
              <a:ext uri="{FF2B5EF4-FFF2-40B4-BE49-F238E27FC236}">
                <a16:creationId xmlns:a16="http://schemas.microsoft.com/office/drawing/2014/main" id="{EC828380-4544-4F96-B8A5-DCC905DD2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E786A00E-850A-460E-A70F-9654094110B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4228" y="277803"/>
            <a:ext cx="10370191" cy="1189820"/>
          </a:xfrm>
        </p:spPr>
        <p:txBody>
          <a:bodyPr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pic>
        <p:nvPicPr>
          <p:cNvPr id="7" name="Block I">
            <a:extLst>
              <a:ext uri="{FF2B5EF4-FFF2-40B4-BE49-F238E27FC236}">
                <a16:creationId xmlns:a16="http://schemas.microsoft.com/office/drawing/2014/main" id="{83CCBDC0-B71E-50D9-1AE4-50C357B1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19" name="Subheading">
            <a:extLst>
              <a:ext uri="{FF2B5EF4-FFF2-40B4-BE49-F238E27FC236}">
                <a16:creationId xmlns:a16="http://schemas.microsoft.com/office/drawing/2014/main" id="{CC490E05-74DB-0E53-9364-2C3ADCC6A2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4228" y="1913536"/>
            <a:ext cx="10370191" cy="764799"/>
          </a:xfrm>
        </p:spPr>
        <p:txBody>
          <a:bodyPr anchor="ctr">
            <a:normAutofit/>
          </a:bodyPr>
          <a:lstStyle>
            <a:lvl1pPr marL="457200" indent="-4572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1" name="Subheading 2">
            <a:extLst>
              <a:ext uri="{FF2B5EF4-FFF2-40B4-BE49-F238E27FC236}">
                <a16:creationId xmlns:a16="http://schemas.microsoft.com/office/drawing/2014/main" id="{2D3D518F-FED5-7E25-12CE-FCBE9431A5C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4228" y="2741843"/>
            <a:ext cx="10370191" cy="764799"/>
          </a:xfrm>
        </p:spPr>
        <p:txBody>
          <a:bodyPr anchor="ctr">
            <a:normAutofit/>
          </a:bodyPr>
          <a:lstStyle>
            <a:lvl1pPr marL="457200" indent="-4572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Footer background">
            <a:extLst>
              <a:ext uri="{FF2B5EF4-FFF2-40B4-BE49-F238E27FC236}">
                <a16:creationId xmlns:a16="http://schemas.microsoft.com/office/drawing/2014/main" id="{2CDA5182-C298-A7CD-BECD-28B3EF9F5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epartment/Unit name Placeholder">
            <a:extLst>
              <a:ext uri="{FF2B5EF4-FFF2-40B4-BE49-F238E27FC236}">
                <a16:creationId xmlns:a16="http://schemas.microsoft.com/office/drawing/2014/main" id="{D04B6268-443E-C233-94CE-19E2240CBF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2166FCCC-D572-7B04-6D0C-142E9AF1A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heading">
            <a:extLst>
              <a:ext uri="{FF2B5EF4-FFF2-40B4-BE49-F238E27FC236}">
                <a16:creationId xmlns:a16="http://schemas.microsoft.com/office/drawing/2014/main" id="{0BA45A50-1DF7-BF11-4822-6F854C5562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2463" y="3570150"/>
            <a:ext cx="10370191" cy="764799"/>
          </a:xfrm>
        </p:spPr>
        <p:txBody>
          <a:bodyPr anchor="ctr">
            <a:normAutofit/>
          </a:bodyPr>
          <a:lstStyle>
            <a:lvl1pPr marL="457200" indent="-4572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5" name="Subheading 2">
            <a:extLst>
              <a:ext uri="{FF2B5EF4-FFF2-40B4-BE49-F238E27FC236}">
                <a16:creationId xmlns:a16="http://schemas.microsoft.com/office/drawing/2014/main" id="{87344FC9-816B-4FB8-CD29-03B82498CBF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2463" y="4398457"/>
            <a:ext cx="10370191" cy="764799"/>
          </a:xfrm>
        </p:spPr>
        <p:txBody>
          <a:bodyPr anchor="ctr">
            <a:normAutofit/>
          </a:bodyPr>
          <a:lstStyle>
            <a:lvl1pPr marL="457200" indent="-4572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3746484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Accent">
            <a:extLst>
              <a:ext uri="{FF2B5EF4-FFF2-40B4-BE49-F238E27FC236}">
                <a16:creationId xmlns:a16="http://schemas.microsoft.com/office/drawing/2014/main" id="{EC828380-4544-4F96-B8A5-DCC905DD2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E786A00E-850A-460E-A70F-9654094110B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4228" y="277803"/>
            <a:ext cx="10370191" cy="1189820"/>
          </a:xfrm>
        </p:spPr>
        <p:txBody>
          <a:bodyPr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pic>
        <p:nvPicPr>
          <p:cNvPr id="7" name="Block I">
            <a:extLst>
              <a:ext uri="{FF2B5EF4-FFF2-40B4-BE49-F238E27FC236}">
                <a16:creationId xmlns:a16="http://schemas.microsoft.com/office/drawing/2014/main" id="{83CCBDC0-B71E-50D9-1AE4-50C357B1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21" name="Subheading 2">
            <a:extLst>
              <a:ext uri="{FF2B5EF4-FFF2-40B4-BE49-F238E27FC236}">
                <a16:creationId xmlns:a16="http://schemas.microsoft.com/office/drawing/2014/main" id="{2D3D518F-FED5-7E25-12CE-FCBE9431A5C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4228" y="1904561"/>
            <a:ext cx="10370191" cy="3813193"/>
          </a:xfrm>
        </p:spPr>
        <p:txBody>
          <a:bodyPr anchor="t">
            <a:normAutofit/>
          </a:bodyPr>
          <a:lstStyle>
            <a:lvl1pPr marL="457200" indent="-4572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Footer background">
            <a:extLst>
              <a:ext uri="{FF2B5EF4-FFF2-40B4-BE49-F238E27FC236}">
                <a16:creationId xmlns:a16="http://schemas.microsoft.com/office/drawing/2014/main" id="{2CDA5182-C298-A7CD-BECD-28B3EF9F5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epartment/Unit name Placeholder">
            <a:extLst>
              <a:ext uri="{FF2B5EF4-FFF2-40B4-BE49-F238E27FC236}">
                <a16:creationId xmlns:a16="http://schemas.microsoft.com/office/drawing/2014/main" id="{D04B6268-443E-C233-94CE-19E2240CBF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2166FCCC-D572-7B04-6D0C-142E9AF1A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6146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15" name="Large Quote  Placeholder">
            <a:extLst>
              <a:ext uri="{FF2B5EF4-FFF2-40B4-BE49-F238E27FC236}">
                <a16:creationId xmlns:a16="http://schemas.microsoft.com/office/drawing/2014/main" id="{8439945E-3870-D7AE-A511-982401C95CA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60741" y="1291652"/>
            <a:ext cx="6179926" cy="76479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Large Quote</a:t>
            </a:r>
          </a:p>
        </p:txBody>
      </p:sp>
      <p:sp>
        <p:nvSpPr>
          <p:cNvPr id="17" name="Attribution 1 Placeholder">
            <a:extLst>
              <a:ext uri="{FF2B5EF4-FFF2-40B4-BE49-F238E27FC236}">
                <a16:creationId xmlns:a16="http://schemas.microsoft.com/office/drawing/2014/main" id="{2A25C115-1C3A-AC3A-C7C7-570E85027B6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27193" y="2116732"/>
            <a:ext cx="2113474" cy="429881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19" name="Long Quote Placeholder">
            <a:extLst>
              <a:ext uri="{FF2B5EF4-FFF2-40B4-BE49-F238E27FC236}">
                <a16:creationId xmlns:a16="http://schemas.microsoft.com/office/drawing/2014/main" id="{C6593C7D-5AD9-BC2C-0070-B0B3F7287B2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0741" y="3501730"/>
            <a:ext cx="6179926" cy="150724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Long Paragraph Quote </a:t>
            </a:r>
          </a:p>
        </p:txBody>
      </p:sp>
      <p:sp>
        <p:nvSpPr>
          <p:cNvPr id="20" name="Long Quote attribution Placeholder">
            <a:extLst>
              <a:ext uri="{FF2B5EF4-FFF2-40B4-BE49-F238E27FC236}">
                <a16:creationId xmlns:a16="http://schemas.microsoft.com/office/drawing/2014/main" id="{D808D8CD-BCBE-F257-3C6F-64185F7ABD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27193" y="5065124"/>
            <a:ext cx="2113474" cy="429881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5280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Accent">
            <a:extLst>
              <a:ext uri="{FF2B5EF4-FFF2-40B4-BE49-F238E27FC236}">
                <a16:creationId xmlns:a16="http://schemas.microsoft.com/office/drawing/2014/main" id="{6AC03172-2FA4-F47D-B58A-C84D36B9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Placeholder">
            <a:extLst>
              <a:ext uri="{FF2B5EF4-FFF2-40B4-BE49-F238E27FC236}">
                <a16:creationId xmlns:a16="http://schemas.microsoft.com/office/drawing/2014/main" id="{119C3D1A-1767-F64F-CCEA-FD8AB56C88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4228" y="277803"/>
            <a:ext cx="10370191" cy="1189820"/>
          </a:xfrm>
        </p:spPr>
        <p:txBody>
          <a:bodyPr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5902D87F-A357-6B12-50D8-55555AA9D9D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4038" y="1786687"/>
            <a:ext cx="4738687" cy="204293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Subhead 1 Placeholder">
            <a:extLst>
              <a:ext uri="{FF2B5EF4-FFF2-40B4-BE49-F238E27FC236}">
                <a16:creationId xmlns:a16="http://schemas.microsoft.com/office/drawing/2014/main" id="{CC193BC8-108C-8326-80FA-BAECF7254B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77348" y="1786687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75583" y="2561957"/>
            <a:ext cx="5547072" cy="12676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3332E0F7-8D76-3BED-561C-C7B99F9CA5F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52273" y="3924115"/>
            <a:ext cx="4738687" cy="204293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Subhead Placeholder 2">
            <a:extLst>
              <a:ext uri="{FF2B5EF4-FFF2-40B4-BE49-F238E27FC236}">
                <a16:creationId xmlns:a16="http://schemas.microsoft.com/office/drawing/2014/main" id="{4AEA1B53-9D39-71C7-6498-B61C0E9CDA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75583" y="3924115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5DAD01A-BC33-C150-4677-8D04EA1F709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73818" y="4699385"/>
            <a:ext cx="5547072" cy="12676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6938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Accent">
            <a:extLst>
              <a:ext uri="{FF2B5EF4-FFF2-40B4-BE49-F238E27FC236}">
                <a16:creationId xmlns:a16="http://schemas.microsoft.com/office/drawing/2014/main" id="{6AC03172-2FA4-F47D-B58A-C84D36B9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119C3D1A-1767-F64F-CCEA-FD8AB56C88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4228" y="277803"/>
            <a:ext cx="10370191" cy="1189820"/>
          </a:xfrm>
        </p:spPr>
        <p:txBody>
          <a:bodyPr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18" name="Subhead Placeholder 1">
            <a:extLst>
              <a:ext uri="{FF2B5EF4-FFF2-40B4-BE49-F238E27FC236}">
                <a16:creationId xmlns:a16="http://schemas.microsoft.com/office/drawing/2014/main" id="{CC193BC8-108C-8326-80FA-BAECF7254B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4228" y="1786687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2463" y="2561957"/>
            <a:ext cx="5547072" cy="12676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5902D87F-A357-6B12-50D8-55555AA9D9D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82203" y="1786687"/>
            <a:ext cx="4738687" cy="204293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Subhead Placeholder 2">
            <a:extLst>
              <a:ext uri="{FF2B5EF4-FFF2-40B4-BE49-F238E27FC236}">
                <a16:creationId xmlns:a16="http://schemas.microsoft.com/office/drawing/2014/main" id="{4AEA1B53-9D39-71C7-6498-B61C0E9CDA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820" y="3924115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5DAD01A-BC33-C150-4677-8D04EA1F709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50698" y="4699385"/>
            <a:ext cx="5547072" cy="12676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3332E0F7-8D76-3BED-561C-C7B99F9CA5F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80438" y="3924115"/>
            <a:ext cx="4738687" cy="204293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251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14" name="Title accent">
            <a:extLst>
              <a:ext uri="{FF2B5EF4-FFF2-40B4-BE49-F238E27FC236}">
                <a16:creationId xmlns:a16="http://schemas.microsoft.com/office/drawing/2014/main" id="{6AC03172-2FA4-F47D-B58A-C84D36B9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119C3D1A-1767-F64F-CCEA-FD8AB56C88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4228" y="277803"/>
            <a:ext cx="10370191" cy="1189820"/>
          </a:xfrm>
        </p:spPr>
        <p:txBody>
          <a:bodyPr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5902D87F-A357-6B12-50D8-55555AA9D9D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4038" y="1786687"/>
            <a:ext cx="4738687" cy="432220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Subhead Placeholder">
            <a:extLst>
              <a:ext uri="{FF2B5EF4-FFF2-40B4-BE49-F238E27FC236}">
                <a16:creationId xmlns:a16="http://schemas.microsoft.com/office/drawing/2014/main" id="{CC193BC8-108C-8326-80FA-BAECF7254B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77348" y="2717104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75583" y="3492374"/>
            <a:ext cx="5547072" cy="12676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031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accent">
            <a:extLst>
              <a:ext uri="{FF2B5EF4-FFF2-40B4-BE49-F238E27FC236}">
                <a16:creationId xmlns:a16="http://schemas.microsoft.com/office/drawing/2014/main" id="{6AC03172-2FA4-F47D-B58A-C84D36B9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119C3D1A-1767-F64F-CCEA-FD8AB56C88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4228" y="277803"/>
            <a:ext cx="10370191" cy="1189820"/>
          </a:xfrm>
        </p:spPr>
        <p:txBody>
          <a:bodyPr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5372" y="277803"/>
            <a:ext cx="516232" cy="745668"/>
          </a:xfrm>
          <a:prstGeom prst="rect">
            <a:avLst/>
          </a:prstGeom>
        </p:spPr>
      </p:pic>
      <p:sp>
        <p:nvSpPr>
          <p:cNvPr id="18" name="Subheading">
            <a:extLst>
              <a:ext uri="{FF2B5EF4-FFF2-40B4-BE49-F238E27FC236}">
                <a16:creationId xmlns:a16="http://schemas.microsoft.com/office/drawing/2014/main" id="{CC193BC8-108C-8326-80FA-BAECF7254B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8820" y="2717104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0698" y="3492374"/>
            <a:ext cx="5547072" cy="12676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5902D87F-A357-6B12-50D8-55555AA9D9D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83968" y="1786687"/>
            <a:ext cx="4738687" cy="432220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208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accent">
            <a:extLst>
              <a:ext uri="{FF2B5EF4-FFF2-40B4-BE49-F238E27FC236}">
                <a16:creationId xmlns:a16="http://schemas.microsoft.com/office/drawing/2014/main" id="{6AC03172-2FA4-F47D-B58A-C84D36B9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Placeholder">
            <a:extLst>
              <a:ext uri="{FF2B5EF4-FFF2-40B4-BE49-F238E27FC236}">
                <a16:creationId xmlns:a16="http://schemas.microsoft.com/office/drawing/2014/main" id="{119C3D1A-1767-F64F-CCEA-FD8AB56C88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4228" y="277803"/>
            <a:ext cx="10370191" cy="1189820"/>
          </a:xfrm>
        </p:spPr>
        <p:txBody>
          <a:bodyPr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5902D87F-A357-6B12-50D8-55555AA9D9D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0698" y="1578560"/>
            <a:ext cx="10371957" cy="3875254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4689" y="5590340"/>
            <a:ext cx="10367965" cy="612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95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7D02BED8-DBC4-0252-E92E-234AE9D9F1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79104" y="2391179"/>
            <a:ext cx="4187900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5" name="Text Placeholder">
            <a:extLst>
              <a:ext uri="{FF2B5EF4-FFF2-40B4-BE49-F238E27FC236}">
                <a16:creationId xmlns:a16="http://schemas.microsoft.com/office/drawing/2014/main" id="{A877C0E9-AC67-8A06-EFD9-3C48FB86AFC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77339" y="3166449"/>
            <a:ext cx="4187900" cy="12676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8697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9FFDD080-4638-6791-3E4F-BA329002E2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48247" y="4070491"/>
            <a:ext cx="7695506" cy="76479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48247" y="4980067"/>
            <a:ext cx="7695506" cy="61258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4255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accent">
            <a:extLst>
              <a:ext uri="{FF2B5EF4-FFF2-40B4-BE49-F238E27FC236}">
                <a16:creationId xmlns:a16="http://schemas.microsoft.com/office/drawing/2014/main" id="{EC828380-4544-4F96-B8A5-DCC905DD2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Placeholder">
            <a:extLst>
              <a:ext uri="{FF2B5EF4-FFF2-40B4-BE49-F238E27FC236}">
                <a16:creationId xmlns:a16="http://schemas.microsoft.com/office/drawing/2014/main" id="{E786A00E-850A-460E-A70F-9654094110B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4228" y="277803"/>
            <a:ext cx="10370191" cy="1189820"/>
          </a:xfrm>
        </p:spPr>
        <p:txBody>
          <a:bodyPr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pic>
        <p:nvPicPr>
          <p:cNvPr id="7" name="Block I">
            <a:extLst>
              <a:ext uri="{FF2B5EF4-FFF2-40B4-BE49-F238E27FC236}">
                <a16:creationId xmlns:a16="http://schemas.microsoft.com/office/drawing/2014/main" id="{83CCBDC0-B71E-50D9-1AE4-50C357B1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9"/>
          </a:xfrm>
          <a:prstGeom prst="rect">
            <a:avLst/>
          </a:prstGeom>
        </p:spPr>
      </p:pic>
      <p:sp>
        <p:nvSpPr>
          <p:cNvPr id="5" name="Chart Placeholder">
            <a:extLst>
              <a:ext uri="{FF2B5EF4-FFF2-40B4-BE49-F238E27FC236}">
                <a16:creationId xmlns:a16="http://schemas.microsoft.com/office/drawing/2014/main" id="{A294C2DE-00CB-57AC-36E4-F1BD262706DC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1430338" y="1747838"/>
            <a:ext cx="9134475" cy="4360862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" name="Footer background">
            <a:extLst>
              <a:ext uri="{FF2B5EF4-FFF2-40B4-BE49-F238E27FC236}">
                <a16:creationId xmlns:a16="http://schemas.microsoft.com/office/drawing/2014/main" id="{2CDA5182-C298-A7CD-BECD-28B3EF9F5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epartment/unit placeholder">
            <a:extLst>
              <a:ext uri="{FF2B5EF4-FFF2-40B4-BE49-F238E27FC236}">
                <a16:creationId xmlns:a16="http://schemas.microsoft.com/office/drawing/2014/main" id="{D04B6268-443E-C233-94CE-19E2240CBF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6FCCC-D572-7B04-6D0C-142E9AF1A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472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&#10;&#10;Description automatically generated">
            <a:extLst>
              <a:ext uri="{FF2B5EF4-FFF2-40B4-BE49-F238E27FC236}">
                <a16:creationId xmlns:a16="http://schemas.microsoft.com/office/drawing/2014/main" id="{B1BBE6F3-1224-AE90-FEBE-EEDE87A011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  <p:sp>
        <p:nvSpPr>
          <p:cNvPr id="17" name="Title Placeholder">
            <a:extLst>
              <a:ext uri="{FF2B5EF4-FFF2-40B4-BE49-F238E27FC236}">
                <a16:creationId xmlns:a16="http://schemas.microsoft.com/office/drawing/2014/main" id="{9E07F9AC-4E7E-9623-9170-90BDADFA2A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0698" y="823864"/>
            <a:ext cx="8981220" cy="1107047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2" name="Title Underscore">
            <a:extLst>
              <a:ext uri="{FF2B5EF4-FFF2-40B4-BE49-F238E27FC236}">
                <a16:creationId xmlns:a16="http://schemas.microsoft.com/office/drawing/2014/main" id="{58F4D01E-94DA-4F0B-8E13-618D11B2D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55664" y="1930911"/>
            <a:ext cx="1275549" cy="1419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Block I">
            <a:extLst>
              <a:ext uri="{FF2B5EF4-FFF2-40B4-BE49-F238E27FC236}">
                <a16:creationId xmlns:a16="http://schemas.microsoft.com/office/drawing/2014/main" id="{2ECD6B36-AE20-6B2C-70DA-90541397C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</p:spPr>
      </p:pic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645B5409-DDAC-5BBA-E785-37F723B563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10697" y="2328261"/>
            <a:ext cx="8981219" cy="220147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Questions/Contact/Information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982A2E9-6729-F459-2EB4-38593EB1846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10697" y="4952165"/>
            <a:ext cx="8981219" cy="79678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Department/Unit name Placeholder">
            <a:extLst>
              <a:ext uri="{FF2B5EF4-FFF2-40B4-BE49-F238E27FC236}">
                <a16:creationId xmlns:a16="http://schemas.microsoft.com/office/drawing/2014/main" id="{EC420C19-0C40-EAE2-AA9D-5101B4FF16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AF599E-70A8-5E76-56CB-CA69217C1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41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range, yellow, bright&#10;&#10;Description automatically generated">
            <a:extLst>
              <a:ext uri="{FF2B5EF4-FFF2-40B4-BE49-F238E27FC236}">
                <a16:creationId xmlns:a16="http://schemas.microsoft.com/office/drawing/2014/main" id="{12395475-4CA9-AFD0-CBCB-74FDA7E8B2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3DE6DDB-A415-6C63-7353-2B6BB41D58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0698" y="823864"/>
            <a:ext cx="8981220" cy="1107047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0" name="Title Underscore">
            <a:extLst>
              <a:ext uri="{FF2B5EF4-FFF2-40B4-BE49-F238E27FC236}">
                <a16:creationId xmlns:a16="http://schemas.microsoft.com/office/drawing/2014/main" id="{EE499929-DC2D-46B3-A28E-229CC329A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55664" y="1930911"/>
            <a:ext cx="1275549" cy="1419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Block I">
            <a:extLst>
              <a:ext uri="{FF2B5EF4-FFF2-40B4-BE49-F238E27FC236}">
                <a16:creationId xmlns:a16="http://schemas.microsoft.com/office/drawing/2014/main" id="{E693DE19-AD82-43E4-870B-ABD71ED9E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275" y="277804"/>
            <a:ext cx="528575" cy="764797"/>
          </a:xfrm>
          <a:prstGeom prst="rect">
            <a:avLst/>
          </a:prstGeom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20D3AEAA-8383-5B38-DD49-CF2D2E42B2F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10697" y="2328261"/>
            <a:ext cx="8981219" cy="220147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Questions/Contact/Information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650F580-D423-6DBC-88B2-B37D4EB87AF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10697" y="4952165"/>
            <a:ext cx="8981219" cy="79678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epartment/Unit name Placeholder">
            <a:extLst>
              <a:ext uri="{FF2B5EF4-FFF2-40B4-BE49-F238E27FC236}">
                <a16:creationId xmlns:a16="http://schemas.microsoft.com/office/drawing/2014/main" id="{D09D9943-0FAE-E4DE-E4FE-0B3F8F5513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BC285FAE-FC3C-B139-BFE4-13B464552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3200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EADAC919-EA2F-35AA-C89F-CF29E61472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0489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BA337922-CA13-B2D1-A985-97CCB75A48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9" y="0"/>
            <a:ext cx="121807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2106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Ar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">
            <a:extLst>
              <a:ext uri="{FF2B5EF4-FFF2-40B4-BE49-F238E27FC236}">
                <a16:creationId xmlns:a16="http://schemas.microsoft.com/office/drawing/2014/main" id="{D10096E1-7AA4-3695-82F5-7DAD7028D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6" y="694"/>
            <a:ext cx="12189533" cy="685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953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Ar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>
            <a:extLst>
              <a:ext uri="{FF2B5EF4-FFF2-40B4-BE49-F238E27FC236}">
                <a16:creationId xmlns:a16="http://schemas.microsoft.com/office/drawing/2014/main" id="{C55AD4A4-2991-D3F6-2545-9BA75BB14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39" y="3172"/>
            <a:ext cx="12180721" cy="685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135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E08955-08BB-4699-BDD8-1E3D7EEFD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3B2E1F-8BE8-6F6E-A1F6-527F51B3D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B605B6C-A108-B529-76C2-7C90E4E90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84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50" r:id="rId5"/>
    <p:sldLayoutId id="2147483663" r:id="rId6"/>
    <p:sldLayoutId id="2147483664" r:id="rId7"/>
    <p:sldLayoutId id="2147483665" r:id="rId8"/>
    <p:sldLayoutId id="2147483651" r:id="rId9"/>
    <p:sldLayoutId id="2147483666" r:id="rId10"/>
    <p:sldLayoutId id="2147483671" r:id="rId11"/>
    <p:sldLayoutId id="2147483670" r:id="rId12"/>
    <p:sldLayoutId id="2147483652" r:id="rId13"/>
    <p:sldLayoutId id="2147483681" r:id="rId14"/>
    <p:sldLayoutId id="2147483682" r:id="rId15"/>
    <p:sldLayoutId id="2147483653" r:id="rId16"/>
    <p:sldLayoutId id="2147483672" r:id="rId17"/>
    <p:sldLayoutId id="2147483673" r:id="rId18"/>
    <p:sldLayoutId id="2147483675" r:id="rId19"/>
    <p:sldLayoutId id="2147483676" r:id="rId20"/>
    <p:sldLayoutId id="2147483677" r:id="rId21"/>
    <p:sldLayoutId id="2147483678" r:id="rId22"/>
    <p:sldLayoutId id="2147483679" r:id="rId23"/>
    <p:sldLayoutId id="2147483680" r:id="rId24"/>
    <p:sldLayoutId id="2147483654" r:id="rId25"/>
    <p:sldLayoutId id="2147483655" r:id="rId26"/>
    <p:sldLayoutId id="2147483656" r:id="rId27"/>
    <p:sldLayoutId id="2147483657" r:id="rId28"/>
    <p:sldLayoutId id="2147483667" r:id="rId29"/>
    <p:sldLayoutId id="2147483668" r:id="rId3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zhenlin4@illinois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4.png"/><Relationship Id="rId7" Type="http://schemas.microsoft.com/office/2007/relationships/hdphoto" Target="../media/hdphoto1.wdp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3.png"/><Relationship Id="rId11" Type="http://schemas.openxmlformats.org/officeDocument/2006/relationships/image" Target="../media/image24.png"/><Relationship Id="rId5" Type="http://schemas.openxmlformats.org/officeDocument/2006/relationships/image" Target="../media/image36.png"/><Relationship Id="rId10" Type="http://schemas.openxmlformats.org/officeDocument/2006/relationships/image" Target="../media/image40.png"/><Relationship Id="rId4" Type="http://schemas.openxmlformats.org/officeDocument/2006/relationships/image" Target="../media/image35.png"/><Relationship Id="rId9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4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2.png"/><Relationship Id="rId18" Type="http://schemas.openxmlformats.org/officeDocument/2006/relationships/image" Target="../media/image57.png"/><Relationship Id="rId3" Type="http://schemas.openxmlformats.org/officeDocument/2006/relationships/image" Target="../media/image50.png"/><Relationship Id="rId7" Type="http://schemas.microsoft.com/office/2007/relationships/hdphoto" Target="../media/hdphoto1.wdp"/><Relationship Id="rId12" Type="http://schemas.openxmlformats.org/officeDocument/2006/relationships/image" Target="../media/image31.pn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3.png"/><Relationship Id="rId11" Type="http://schemas.openxmlformats.org/officeDocument/2006/relationships/image" Target="../media/image36.png"/><Relationship Id="rId5" Type="http://schemas.openxmlformats.org/officeDocument/2006/relationships/image" Target="../media/image51.png"/><Relationship Id="rId15" Type="http://schemas.openxmlformats.org/officeDocument/2006/relationships/image" Target="../media/image54.png"/><Relationship Id="rId10" Type="http://schemas.openxmlformats.org/officeDocument/2006/relationships/image" Target="../media/image30.png"/><Relationship Id="rId4" Type="http://schemas.openxmlformats.org/officeDocument/2006/relationships/slide" Target="slide43.xml"/><Relationship Id="rId9" Type="http://schemas.openxmlformats.org/officeDocument/2006/relationships/image" Target="../media/image39.png"/><Relationship Id="rId14" Type="http://schemas.openxmlformats.org/officeDocument/2006/relationships/slide" Target="slide4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3.png"/><Relationship Id="rId4" Type="http://schemas.openxmlformats.org/officeDocument/2006/relationships/image" Target="../media/image5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3.png"/><Relationship Id="rId5" Type="http://schemas.openxmlformats.org/officeDocument/2006/relationships/image" Target="../media/image37.png"/><Relationship Id="rId4" Type="http://schemas.openxmlformats.org/officeDocument/2006/relationships/image" Target="../media/image6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26.png"/><Relationship Id="rId3" Type="http://schemas.openxmlformats.org/officeDocument/2006/relationships/slide" Target="slide36.xml"/><Relationship Id="rId7" Type="http://schemas.microsoft.com/office/2007/relationships/hdphoto" Target="../media/hdphoto2.wdp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9.sv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6.png"/><Relationship Id="rId11" Type="http://schemas.openxmlformats.org/officeDocument/2006/relationships/image" Target="../media/image37.png"/><Relationship Id="rId5" Type="http://schemas.openxmlformats.org/officeDocument/2006/relationships/image" Target="../media/image45.png"/><Relationship Id="rId15" Type="http://schemas.openxmlformats.org/officeDocument/2006/relationships/image" Target="../media/image28.png"/><Relationship Id="rId10" Type="http://schemas.openxmlformats.org/officeDocument/2006/relationships/image" Target="../media/image61.png"/><Relationship Id="rId4" Type="http://schemas.openxmlformats.org/officeDocument/2006/relationships/image" Target="../media/image41.png"/><Relationship Id="rId9" Type="http://schemas.microsoft.com/office/2007/relationships/hdphoto" Target="../media/hdphoto3.wdp"/><Relationship Id="rId14" Type="http://schemas.openxmlformats.org/officeDocument/2006/relationships/image" Target="../media/image2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1.png"/><Relationship Id="rId5" Type="http://schemas.openxmlformats.org/officeDocument/2006/relationships/image" Target="../media/image49.png"/><Relationship Id="rId4" Type="http://schemas.openxmlformats.org/officeDocument/2006/relationships/image" Target="../media/image6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2.png"/><Relationship Id="rId4" Type="http://schemas.openxmlformats.org/officeDocument/2006/relationships/slide" Target="slide4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49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5.xml"/><Relationship Id="rId4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41.xml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9.png"/><Relationship Id="rId5" Type="http://schemas.openxmlformats.org/officeDocument/2006/relationships/image" Target="../media/image55.png"/><Relationship Id="rId4" Type="http://schemas.openxmlformats.org/officeDocument/2006/relationships/image" Target="../media/image7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4.png"/><Relationship Id="rId5" Type="http://schemas.openxmlformats.org/officeDocument/2006/relationships/image" Target="../media/image80.png"/><Relationship Id="rId4" Type="http://schemas.openxmlformats.org/officeDocument/2006/relationships/slide" Target="slide4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84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7.png"/><Relationship Id="rId5" Type="http://schemas.openxmlformats.org/officeDocument/2006/relationships/image" Target="../media/image22.png"/><Relationship Id="rId4" Type="http://schemas.openxmlformats.org/officeDocument/2006/relationships/image" Target="../media/image6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8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5.png"/><Relationship Id="rId5" Type="http://schemas.openxmlformats.org/officeDocument/2006/relationships/image" Target="../media/image73.png"/><Relationship Id="rId4" Type="http://schemas.openxmlformats.org/officeDocument/2006/relationships/image" Target="../media/image7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Relationship Id="rId5" Type="http://schemas.openxmlformats.org/officeDocument/2006/relationships/slide" Target="slide8.xml"/><Relationship Id="rId4" Type="http://schemas.openxmlformats.org/officeDocument/2006/relationships/image" Target="../media/image9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Relationship Id="rId6" Type="http://schemas.openxmlformats.org/officeDocument/2006/relationships/slide" Target="slide10.xml"/><Relationship Id="rId5" Type="http://schemas.openxmlformats.org/officeDocument/2006/relationships/image" Target="../media/image96.png"/><Relationship Id="rId4" Type="http://schemas.openxmlformats.org/officeDocument/2006/relationships/image" Target="../media/image9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Relationship Id="rId6" Type="http://schemas.openxmlformats.org/officeDocument/2006/relationships/slide" Target="slide11.xml"/><Relationship Id="rId5" Type="http://schemas.openxmlformats.org/officeDocument/2006/relationships/image" Target="../media/image102.png"/><Relationship Id="rId4" Type="http://schemas.openxmlformats.org/officeDocument/2006/relationships/image" Target="../media/image10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7" Type="http://schemas.openxmlformats.org/officeDocument/2006/relationships/slide" Target="slide1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7" Type="http://schemas.openxmlformats.org/officeDocument/2006/relationships/slide" Target="slide12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7" Type="http://schemas.openxmlformats.org/officeDocument/2006/relationships/slide" Target="slide12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5.xml"/><Relationship Id="rId5" Type="http://schemas.openxmlformats.org/officeDocument/2006/relationships/slide" Target="slide16.xml"/><Relationship Id="rId4" Type="http://schemas.openxmlformats.org/officeDocument/2006/relationships/image" Target="../media/image11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5.xml"/><Relationship Id="rId6" Type="http://schemas.openxmlformats.org/officeDocument/2006/relationships/slide" Target="slide17.xml"/><Relationship Id="rId5" Type="http://schemas.openxmlformats.org/officeDocument/2006/relationships/image" Target="../media/image142.png"/><Relationship Id="rId4" Type="http://schemas.openxmlformats.org/officeDocument/2006/relationships/slide" Target="slide45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16.png"/><Relationship Id="rId7" Type="http://schemas.openxmlformats.org/officeDocument/2006/relationships/image" Target="../media/image1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45.png"/><Relationship Id="rId11" Type="http://schemas.openxmlformats.org/officeDocument/2006/relationships/slide" Target="slide17.xml"/><Relationship Id="rId5" Type="http://schemas.openxmlformats.org/officeDocument/2006/relationships/slide" Target="slide46.xml"/><Relationship Id="rId10" Type="http://schemas.openxmlformats.org/officeDocument/2006/relationships/image" Target="../media/image122.png"/><Relationship Id="rId4" Type="http://schemas.openxmlformats.org/officeDocument/2006/relationships/image" Target="../media/image117.png"/><Relationship Id="rId9" Type="http://schemas.openxmlformats.org/officeDocument/2006/relationships/image" Target="../media/image12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5.xml"/><Relationship Id="rId6" Type="http://schemas.openxmlformats.org/officeDocument/2006/relationships/slide" Target="slide17.xml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15.xml"/><Relationship Id="rId6" Type="http://schemas.openxmlformats.org/officeDocument/2006/relationships/slide" Target="slide42.xml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Relationship Id="rId6" Type="http://schemas.openxmlformats.org/officeDocument/2006/relationships/slide" Target="slide43.xml"/><Relationship Id="rId5" Type="http://schemas.openxmlformats.org/officeDocument/2006/relationships/image" Target="../media/image129.png"/><Relationship Id="rId4" Type="http://schemas.openxmlformats.org/officeDocument/2006/relationships/image" Target="../media/image15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2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161.png"/><Relationship Id="rId7" Type="http://schemas.openxmlformats.org/officeDocument/2006/relationships/image" Target="../media/image1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4.png"/><Relationship Id="rId5" Type="http://schemas.openxmlformats.org/officeDocument/2006/relationships/image" Target="../media/image133.png"/><Relationship Id="rId4" Type="http://schemas.openxmlformats.org/officeDocument/2006/relationships/image" Target="../media/image120.png"/><Relationship Id="rId9" Type="http://schemas.openxmlformats.org/officeDocument/2006/relationships/slide" Target="slide1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5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image" Target="../media/image13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75.png"/><Relationship Id="rId4" Type="http://schemas.openxmlformats.org/officeDocument/2006/relationships/image" Target="../media/image17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E4649BFC-827E-267C-3218-DDFE5574DF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600" b="0" i="0">
                <a:effectLst/>
                <a:latin typeface="Arial" panose="020B0604020202020204" pitchFamily="34" charset="0"/>
              </a:rPr>
              <a:t>Distribution-free Uncertainty Quantification for Deep Learning</a:t>
            </a:r>
            <a:endParaRPr lang="en-US" sz="3600"/>
          </a:p>
        </p:txBody>
      </p:sp>
      <p:sp>
        <p:nvSpPr>
          <p:cNvPr id="3" name="Department/Unit name Placeholder">
            <a:extLst>
              <a:ext uri="{FF2B5EF4-FFF2-40B4-BE49-F238E27FC236}">
                <a16:creationId xmlns:a16="http://schemas.microsoft.com/office/drawing/2014/main" id="{138239ED-1BBE-78C2-B201-2949C361BF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88719" y="3694701"/>
            <a:ext cx="9603281" cy="1048749"/>
          </a:xfrm>
        </p:spPr>
        <p:txBody>
          <a:bodyPr>
            <a:normAutofit/>
          </a:bodyPr>
          <a:lstStyle/>
          <a:p>
            <a:r>
              <a:rPr lang="en-US" sz="1400"/>
              <a:t>Zhen Lin</a:t>
            </a:r>
          </a:p>
          <a:p>
            <a:r>
              <a:rPr lang="en-US" sz="140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zhenlin4@illinois.edu</a:t>
            </a:r>
            <a:endParaRPr lang="en-US" sz="1400">
              <a:solidFill>
                <a:schemeClr val="accent1"/>
              </a:solidFill>
            </a:endParaRPr>
          </a:p>
          <a:p>
            <a:r>
              <a:rPr lang="en-US" sz="1400"/>
              <a:t>Advisor: Jimeng Sun</a:t>
            </a:r>
          </a:p>
          <a:p>
            <a:r>
              <a:rPr lang="en-US" sz="1400"/>
              <a:t>Committee: Jim Rehg, Hanghang Tong, Yaniv Romano, Jimeng Sun </a:t>
            </a:r>
          </a:p>
          <a:p>
            <a:endParaRPr lang="en-US" sz="1400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3F401903-84E8-B086-2352-4B096E7420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86248" y="5053220"/>
            <a:ext cx="9603281" cy="767969"/>
          </a:xfrm>
        </p:spPr>
        <p:txBody>
          <a:bodyPr>
            <a:normAutofit/>
          </a:bodyPr>
          <a:lstStyle/>
          <a:p>
            <a:r>
              <a:rPr lang="en-US" sz="2400"/>
              <a:t>03/19/2024</a:t>
            </a:r>
          </a:p>
        </p:txBody>
      </p:sp>
    </p:spTree>
    <p:extLst>
      <p:ext uri="{BB962C8B-B14F-4D97-AF65-F5344CB8AC3E}">
        <p14:creationId xmlns:p14="http://schemas.microsoft.com/office/powerpoint/2010/main" val="2344748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Committee Members</a:t>
            </a: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1CFA3FC7-8A50-DFAB-1FA5-38C6B3E467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A36B23E-80BD-8B07-8F41-002D708C9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5167" y="2055271"/>
            <a:ext cx="1738991" cy="229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lt text">
            <a:extLst>
              <a:ext uri="{FF2B5EF4-FFF2-40B4-BE49-F238E27FC236}">
                <a16:creationId xmlns:a16="http://schemas.microsoft.com/office/drawing/2014/main" id="{2304697F-E6EE-D25F-13B0-1653C308A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569" y="2055271"/>
            <a:ext cx="2276475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James M. Rehg">
            <a:extLst>
              <a:ext uri="{FF2B5EF4-FFF2-40B4-BE49-F238E27FC236}">
                <a16:creationId xmlns:a16="http://schemas.microsoft.com/office/drawing/2014/main" id="{F9F5C415-72FF-2D80-6E5D-6DB23DE25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2071355"/>
            <a:ext cx="2285999" cy="2285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52DF04F0-BD17-D134-DADD-068114DED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080" y="2071355"/>
            <a:ext cx="2360221" cy="2285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5BAAF6-B5C3-0392-8151-9D2510E41B64}"/>
              </a:ext>
            </a:extLst>
          </p:cNvPr>
          <p:cNvSpPr txBox="1"/>
          <p:nvPr/>
        </p:nvSpPr>
        <p:spPr>
          <a:xfrm>
            <a:off x="457199" y="4533679"/>
            <a:ext cx="24892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Prof. Jim Rehg</a:t>
            </a:r>
          </a:p>
          <a:p>
            <a:endParaRPr lang="en-US" sz="1400"/>
          </a:p>
          <a:p>
            <a:r>
              <a:rPr lang="en-US" sz="1400"/>
              <a:t>University of Illinois Urbana-Champaign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3EE7F1-CD4E-1B5E-9BD6-09F486EE8EA5}"/>
              </a:ext>
            </a:extLst>
          </p:cNvPr>
          <p:cNvSpPr txBox="1"/>
          <p:nvPr/>
        </p:nvSpPr>
        <p:spPr>
          <a:xfrm>
            <a:off x="3200400" y="4533679"/>
            <a:ext cx="233064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Prof. Hanghang Tong</a:t>
            </a:r>
          </a:p>
          <a:p>
            <a:endParaRPr lang="en-US" sz="1400"/>
          </a:p>
          <a:p>
            <a:r>
              <a:rPr lang="en-US" sz="1400"/>
              <a:t>University of Illinois Urbana-Champaign</a:t>
            </a:r>
          </a:p>
          <a:p>
            <a:r>
              <a:rPr lang="en-US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A96C8D-39F1-07C7-D6AC-D6DAA1B83AF5}"/>
              </a:ext>
            </a:extLst>
          </p:cNvPr>
          <p:cNvSpPr txBox="1"/>
          <p:nvPr/>
        </p:nvSpPr>
        <p:spPr>
          <a:xfrm>
            <a:off x="6451599" y="4558260"/>
            <a:ext cx="220345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Prof. Yaniv Romano</a:t>
            </a:r>
          </a:p>
          <a:p>
            <a:endParaRPr lang="en-US" sz="1400" b="0" i="0">
              <a:solidFill>
                <a:srgbClr val="212121"/>
              </a:solidFill>
              <a:effectLst/>
              <a:latin typeface="Open Sans" panose="020F0502020204030204" pitchFamily="34" charset="0"/>
            </a:endParaRPr>
          </a:p>
          <a:p>
            <a:r>
              <a:rPr lang="en-US" sz="1400" b="0" i="0">
                <a:solidFill>
                  <a:srgbClr val="212121"/>
                </a:solidFill>
                <a:effectLst/>
                <a:latin typeface="Open Sans" panose="020F0502020204030204" pitchFamily="34" charset="0"/>
              </a:rPr>
              <a:t>Technion—Israel Institute of Technology</a:t>
            </a:r>
            <a:endParaRPr lang="en-US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B93960-EE44-4F2A-89C6-F2DA6ECB5E8E}"/>
              </a:ext>
            </a:extLst>
          </p:cNvPr>
          <p:cNvSpPr txBox="1"/>
          <p:nvPr/>
        </p:nvSpPr>
        <p:spPr>
          <a:xfrm>
            <a:off x="9325868" y="4533679"/>
            <a:ext cx="23306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Prof. Jimeng Sun</a:t>
            </a:r>
          </a:p>
          <a:p>
            <a:endParaRPr lang="en-US"/>
          </a:p>
          <a:p>
            <a:r>
              <a:rPr lang="en-US" sz="1400"/>
              <a:t>University of Illinois Urbana-Champaign</a:t>
            </a:r>
          </a:p>
          <a:p>
            <a:endParaRPr lang="en-US" sz="1400"/>
          </a:p>
          <a:p>
            <a:r>
              <a:rPr lang="en-US" sz="1200"/>
              <a:t>(Chair &amp; Director of Research)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485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Research Overview</a:t>
            </a: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1CFA3FC7-8A50-DFAB-1FA5-38C6B3E467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3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A6F451A-B105-69D7-33B8-38234A76AF51}"/>
              </a:ext>
            </a:extLst>
          </p:cNvPr>
          <p:cNvGrpSpPr/>
          <p:nvPr/>
        </p:nvGrpSpPr>
        <p:grpSpPr>
          <a:xfrm>
            <a:off x="175581" y="1509258"/>
            <a:ext cx="8575227" cy="4218388"/>
            <a:chOff x="2273417" y="1466233"/>
            <a:chExt cx="9145415" cy="4570819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128A7D3-271C-BE55-5DF6-C29F43F0108E}"/>
                </a:ext>
              </a:extLst>
            </p:cNvPr>
            <p:cNvSpPr/>
            <p:nvPr/>
          </p:nvSpPr>
          <p:spPr>
            <a:xfrm>
              <a:off x="2273417" y="1466233"/>
              <a:ext cx="9080383" cy="457081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58EDD5B-587C-5A26-8236-2C96E483665F}"/>
                </a:ext>
              </a:extLst>
            </p:cNvPr>
            <p:cNvSpPr/>
            <p:nvPr/>
          </p:nvSpPr>
          <p:spPr>
            <a:xfrm>
              <a:off x="2642532" y="1786921"/>
              <a:ext cx="7038363" cy="404342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F9C2560-4DA3-3D05-E8B6-667022D9829F}"/>
                </a:ext>
              </a:extLst>
            </p:cNvPr>
            <p:cNvSpPr/>
            <p:nvPr/>
          </p:nvSpPr>
          <p:spPr>
            <a:xfrm>
              <a:off x="4225798" y="2246399"/>
              <a:ext cx="3144445" cy="2057153"/>
            </a:xfrm>
            <a:prstGeom prst="ellipse">
              <a:avLst/>
            </a:prstGeom>
            <a:solidFill>
              <a:schemeClr val="accent5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>
                  <a:solidFill>
                    <a:schemeClr val="tx1"/>
                  </a:solidFill>
                </a:rPr>
                <a:t>Conformal Prediction</a:t>
              </a:r>
            </a:p>
            <a:p>
              <a:pPr algn="ctr"/>
              <a:endParaRPr lang="en-US" sz="1400">
                <a:solidFill>
                  <a:schemeClr val="tx1"/>
                </a:solidFill>
              </a:endParaRPr>
            </a:p>
            <a:p>
              <a:pPr algn="ctr"/>
              <a:r>
                <a:rPr lang="en-US" sz="1400" b="1">
                  <a:solidFill>
                    <a:schemeClr val="tx1"/>
                  </a:solidFill>
                </a:rPr>
                <a:t>LVD</a:t>
              </a:r>
              <a:r>
                <a:rPr lang="en-US" sz="1400">
                  <a:solidFill>
                    <a:schemeClr val="tx1"/>
                  </a:solidFill>
                </a:rPr>
                <a:t> (NeurIPS’21)</a:t>
              </a:r>
            </a:p>
            <a:p>
              <a:pPr algn="ctr"/>
              <a:r>
                <a:rPr lang="en-US" sz="1400" b="1">
                  <a:solidFill>
                    <a:schemeClr val="tx1"/>
                  </a:solidFill>
                </a:rPr>
                <a:t>TQA</a:t>
              </a:r>
              <a:r>
                <a:rPr lang="en-US" sz="1400">
                  <a:solidFill>
                    <a:schemeClr val="tx1"/>
                  </a:solidFill>
                </a:rPr>
                <a:t> (NeurIPS’22)</a:t>
              </a:r>
            </a:p>
            <a:p>
              <a:pPr algn="ctr"/>
              <a:r>
                <a:rPr lang="en-US" sz="1400" b="1">
                  <a:solidFill>
                    <a:schemeClr val="tx1"/>
                  </a:solidFill>
                </a:rPr>
                <a:t>CPTD</a:t>
              </a:r>
              <a:r>
                <a:rPr lang="en-US" sz="1400">
                  <a:solidFill>
                    <a:schemeClr val="tx1"/>
                  </a:solidFill>
                </a:rPr>
                <a:t> (TMLR’22)</a:t>
              </a:r>
            </a:p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F1FAAB7-EC9D-0710-0DF3-88B141EB01C5}"/>
                </a:ext>
              </a:extLst>
            </p:cNvPr>
            <p:cNvSpPr/>
            <p:nvPr/>
          </p:nvSpPr>
          <p:spPr>
            <a:xfrm>
              <a:off x="7370244" y="2916532"/>
              <a:ext cx="2264840" cy="167022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i="1">
                  <a:solidFill>
                    <a:schemeClr val="tx1"/>
                  </a:solidFill>
                </a:rPr>
                <a:t>Model Calibration</a:t>
              </a:r>
            </a:p>
            <a:p>
              <a:pPr algn="ctr"/>
              <a:endParaRPr lang="en-US" sz="1600">
                <a:solidFill>
                  <a:schemeClr val="tx1"/>
                </a:solidFill>
              </a:endParaRPr>
            </a:p>
            <a:p>
              <a:pPr algn="ctr"/>
              <a:r>
                <a:rPr lang="en-US" sz="1600" b="1" err="1">
                  <a:solidFill>
                    <a:schemeClr val="tx1"/>
                  </a:solidFill>
                </a:rPr>
                <a:t>KCal</a:t>
              </a:r>
              <a:r>
                <a:rPr lang="en-US" sz="1600">
                  <a:solidFill>
                    <a:schemeClr val="tx1"/>
                  </a:solidFill>
                </a:rPr>
                <a:t> (ICLR’23)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CE677AA-660B-F522-E2C8-CA2B3267B1AE}"/>
                </a:ext>
              </a:extLst>
            </p:cNvPr>
            <p:cNvSpPr/>
            <p:nvPr/>
          </p:nvSpPr>
          <p:spPr>
            <a:xfrm>
              <a:off x="4570436" y="3800376"/>
              <a:ext cx="2799807" cy="1904137"/>
            </a:xfrm>
            <a:prstGeom prst="ellipse">
              <a:avLst/>
            </a:prstGeom>
            <a:solidFill>
              <a:schemeClr val="accent4">
                <a:lumMod val="25000"/>
                <a:lumOff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>
                  <a:solidFill>
                    <a:schemeClr val="tx1"/>
                  </a:solidFill>
                </a:rPr>
                <a:t>Risk-Controlling Prediction Set</a:t>
              </a:r>
            </a:p>
            <a:p>
              <a:pPr algn="ctr"/>
              <a:endParaRPr lang="en-US" sz="1400">
                <a:solidFill>
                  <a:schemeClr val="tx1"/>
                </a:solidFill>
              </a:endParaRPr>
            </a:p>
            <a:p>
              <a:pPr algn="ctr"/>
              <a:r>
                <a:rPr lang="en-US" sz="1400" b="1">
                  <a:solidFill>
                    <a:schemeClr val="tx1"/>
                  </a:solidFill>
                </a:rPr>
                <a:t>SCRIB</a:t>
              </a:r>
              <a:r>
                <a:rPr lang="en-US" sz="1400">
                  <a:solidFill>
                    <a:schemeClr val="tx1"/>
                  </a:solidFill>
                </a:rPr>
                <a:t> (AAAI’22)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C3FAE90-532E-8872-C2E8-A894AA7FC0FB}"/>
                </a:ext>
              </a:extLst>
            </p:cNvPr>
            <p:cNvSpPr txBox="1"/>
            <p:nvPr/>
          </p:nvSpPr>
          <p:spPr>
            <a:xfrm>
              <a:off x="9611460" y="3384879"/>
              <a:ext cx="180737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>
                  <a:solidFill>
                    <a:schemeClr val="bg1"/>
                  </a:solidFill>
                </a:rPr>
                <a:t>Uncertainty Quantification (UQ)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9F4DFFD-80D3-B9B5-0519-D9300EE6EB0C}"/>
                </a:ext>
              </a:extLst>
            </p:cNvPr>
            <p:cNvSpPr txBox="1"/>
            <p:nvPr/>
          </p:nvSpPr>
          <p:spPr>
            <a:xfrm>
              <a:off x="5597848" y="1882289"/>
              <a:ext cx="23634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/>
                <a:t>Distribution-Free UQ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B29EF8C-AFC9-4A1B-9048-F41C733E5B49}"/>
                </a:ext>
              </a:extLst>
            </p:cNvPr>
            <p:cNvSpPr txBox="1"/>
            <p:nvPr/>
          </p:nvSpPr>
          <p:spPr>
            <a:xfrm>
              <a:off x="5136683" y="3856319"/>
              <a:ext cx="178753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/>
                <a:t>FavMac</a:t>
              </a:r>
              <a:r>
                <a:rPr lang="en-US" sz="1400"/>
                <a:t> (ICML’23)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E9DF3F4-6E00-4211-0148-9BBA56D0A569}"/>
                </a:ext>
              </a:extLst>
            </p:cNvPr>
            <p:cNvSpPr/>
            <p:nvPr/>
          </p:nvSpPr>
          <p:spPr>
            <a:xfrm>
              <a:off x="2426534" y="3094720"/>
              <a:ext cx="2799807" cy="1742492"/>
            </a:xfrm>
            <a:prstGeom prst="ellipse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>
                  <a:solidFill>
                    <a:schemeClr val="tx1"/>
                  </a:solidFill>
                </a:rPr>
                <a:t>UQ for Natural Language Generation (</a:t>
              </a:r>
              <a:r>
                <a:rPr lang="en-US" sz="1400" b="1" i="1">
                  <a:solidFill>
                    <a:schemeClr val="tx1"/>
                  </a:solidFill>
                </a:rPr>
                <a:t>preprint</a:t>
              </a:r>
              <a:r>
                <a:rPr lang="en-US" sz="1400" i="1">
                  <a:solidFill>
                    <a:schemeClr val="tx1"/>
                  </a:solidFill>
                </a:rPr>
                <a:t>)</a:t>
              </a:r>
              <a:endParaRPr lang="en-US" sz="140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349DDA5-A73E-A69E-E0A6-9F305DD7458C}"/>
              </a:ext>
            </a:extLst>
          </p:cNvPr>
          <p:cNvGrpSpPr/>
          <p:nvPr/>
        </p:nvGrpSpPr>
        <p:grpSpPr>
          <a:xfrm>
            <a:off x="8065008" y="723455"/>
            <a:ext cx="4139703" cy="2671710"/>
            <a:chOff x="8065008" y="723455"/>
            <a:chExt cx="4139703" cy="2671710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EF6C978-A9CE-F081-04EA-2AAC1F5B2A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5008" y="2308828"/>
              <a:ext cx="1277226" cy="1086337"/>
            </a:xfrm>
            <a:prstGeom prst="straightConnector1">
              <a:avLst/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78" name="Picture 6" descr="What is Gaussian Process? [Intuitive Explaination] | by Joanna | Geek  Culture | Medium">
              <a:extLst>
                <a:ext uri="{FF2B5EF4-FFF2-40B4-BE49-F238E27FC236}">
                  <a16:creationId xmlns:a16="http://schemas.microsoft.com/office/drawing/2014/main" id="{069478B0-AD23-41B1-ECEB-61B923CE57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46521" y="723455"/>
              <a:ext cx="3158190" cy="1453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354756A-D28E-A031-E8DD-2DD7C13D85D0}"/>
                </a:ext>
              </a:extLst>
            </p:cNvPr>
            <p:cNvSpPr txBox="1"/>
            <p:nvPr/>
          </p:nvSpPr>
          <p:spPr>
            <a:xfrm>
              <a:off x="9532662" y="2194836"/>
              <a:ext cx="229832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Gaussian Process</a:t>
              </a:r>
            </a:p>
            <a:p>
              <a:r>
                <a:rPr lang="en-US"/>
                <a:t>Monte-Carlo Dropout</a:t>
              </a:r>
            </a:p>
            <a:p>
              <a:r>
                <a:rPr lang="en-US"/>
                <a:t>Bayesian NN</a:t>
              </a:r>
            </a:p>
            <a:p>
              <a:r>
                <a:rPr lang="en-US"/>
                <a:t>…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63777BE-3281-F846-61F2-F7ADA98E1DB4}"/>
              </a:ext>
            </a:extLst>
          </p:cNvPr>
          <p:cNvGrpSpPr/>
          <p:nvPr/>
        </p:nvGrpSpPr>
        <p:grpSpPr>
          <a:xfrm>
            <a:off x="4692184" y="35967"/>
            <a:ext cx="3662464" cy="2796554"/>
            <a:chOff x="4692184" y="35967"/>
            <a:chExt cx="3662464" cy="2796554"/>
          </a:xfrm>
        </p:grpSpPr>
        <p:pic>
          <p:nvPicPr>
            <p:cNvPr id="3080" name="Picture 8" descr="Understanding the difference between prediction and confidence intervals  for linear models in Python | Casual Inference">
              <a:extLst>
                <a:ext uri="{FF2B5EF4-FFF2-40B4-BE49-F238E27FC236}">
                  <a16:creationId xmlns:a16="http://schemas.microsoft.com/office/drawing/2014/main" id="{5BC0898B-1282-265A-B8F2-B4ED32554E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4230" y="35967"/>
              <a:ext cx="2100418" cy="15753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38FB020-3D4C-48AD-4FEF-5233A1E5CC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92184" y="1304621"/>
              <a:ext cx="1611869" cy="1527900"/>
            </a:xfrm>
            <a:prstGeom prst="straightConnector1">
              <a:avLst/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14005F9-D5D3-FF35-70EC-0B00128E540E}"/>
              </a:ext>
            </a:extLst>
          </p:cNvPr>
          <p:cNvGrpSpPr/>
          <p:nvPr/>
        </p:nvGrpSpPr>
        <p:grpSpPr>
          <a:xfrm>
            <a:off x="6726805" y="3634921"/>
            <a:ext cx="4975136" cy="2091890"/>
            <a:chOff x="6726805" y="3634921"/>
            <a:chExt cx="4975136" cy="2091890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E19CA80-EC5C-49AD-4282-E38D1C1E2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549290" y="3634921"/>
              <a:ext cx="2152651" cy="2091890"/>
            </a:xfrm>
            <a:prstGeom prst="rect">
              <a:avLst/>
            </a:prstGeom>
          </p:spPr>
        </p:pic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6BD547E-A300-D288-2281-7CBC50F95911}"/>
                </a:ext>
              </a:extLst>
            </p:cNvPr>
            <p:cNvCxnSpPr>
              <a:cxnSpLocks/>
              <a:endCxn id="24" idx="1"/>
            </p:cNvCxnSpPr>
            <p:nvPr/>
          </p:nvCxnSpPr>
          <p:spPr>
            <a:xfrm>
              <a:off x="6726805" y="3816250"/>
              <a:ext cx="2822485" cy="864616"/>
            </a:xfrm>
            <a:prstGeom prst="straightConnector1">
              <a:avLst/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B4F23A3-3B42-2627-1DC2-3BF92BCF9BFC}"/>
              </a:ext>
            </a:extLst>
          </p:cNvPr>
          <p:cNvGrpSpPr/>
          <p:nvPr/>
        </p:nvGrpSpPr>
        <p:grpSpPr>
          <a:xfrm>
            <a:off x="4734765" y="2976705"/>
            <a:ext cx="6541133" cy="2688788"/>
            <a:chOff x="4734765" y="2976705"/>
            <a:chExt cx="6541133" cy="2688788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94371D99-49F0-18C6-7AAC-47D54D346F16}"/>
                </a:ext>
              </a:extLst>
            </p:cNvPr>
            <p:cNvCxnSpPr>
              <a:cxnSpLocks/>
            </p:cNvCxnSpPr>
            <p:nvPr/>
          </p:nvCxnSpPr>
          <p:spPr>
            <a:xfrm>
              <a:off x="4734765" y="4953727"/>
              <a:ext cx="3458572" cy="142598"/>
            </a:xfrm>
            <a:prstGeom prst="straightConnector1">
              <a:avLst/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EE398CC-60D9-D5DE-82A3-927479E8E239}"/>
                </a:ext>
              </a:extLst>
            </p:cNvPr>
            <p:cNvGrpSpPr/>
            <p:nvPr/>
          </p:nvGrpSpPr>
          <p:grpSpPr>
            <a:xfrm>
              <a:off x="8750808" y="2976705"/>
              <a:ext cx="2525090" cy="2688788"/>
              <a:chOff x="9369199" y="1130833"/>
              <a:chExt cx="2525090" cy="2688788"/>
            </a:xfrm>
          </p:grpSpPr>
          <p:pic>
            <p:nvPicPr>
              <p:cNvPr id="36" name="Picture 2" descr="10 Dog Breeds That Look Like Bears">
                <a:extLst>
                  <a:ext uri="{FF2B5EF4-FFF2-40B4-BE49-F238E27FC236}">
                    <a16:creationId xmlns:a16="http://schemas.microsoft.com/office/drawing/2014/main" id="{365D8BF0-A419-0883-9E87-0E2462C9D9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6863"/>
              <a:stretch/>
            </p:blipFill>
            <p:spPr bwMode="auto">
              <a:xfrm>
                <a:off x="9378122" y="2632294"/>
                <a:ext cx="1239443" cy="11873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AFBFC4F-BE59-9285-4C2E-C55802FCD668}"/>
                  </a:ext>
                </a:extLst>
              </p:cNvPr>
              <p:cNvSpPr txBox="1"/>
              <p:nvPr/>
            </p:nvSpPr>
            <p:spPr>
              <a:xfrm>
                <a:off x="10654847" y="3059668"/>
                <a:ext cx="12394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{dog, bear}</a:t>
                </a:r>
              </a:p>
            </p:txBody>
          </p:sp>
          <p:pic>
            <p:nvPicPr>
              <p:cNvPr id="38" name="Picture 4" descr="Domestic cat">
                <a:extLst>
                  <a:ext uri="{FF2B5EF4-FFF2-40B4-BE49-F238E27FC236}">
                    <a16:creationId xmlns:a16="http://schemas.microsoft.com/office/drawing/2014/main" id="{4F39324A-0412-B625-B73E-3039F28195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369199" y="1130833"/>
                <a:ext cx="1226001" cy="12260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9BC3F1F-C533-1904-C6C4-758451205392}"/>
                  </a:ext>
                </a:extLst>
              </p:cNvPr>
              <p:cNvSpPr txBox="1"/>
              <p:nvPr/>
            </p:nvSpPr>
            <p:spPr>
              <a:xfrm>
                <a:off x="10647473" y="1488652"/>
                <a:ext cx="6270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{cat}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315F123-179B-05AC-741B-399B34C9BC80}"/>
              </a:ext>
            </a:extLst>
          </p:cNvPr>
          <p:cNvGrpSpPr/>
          <p:nvPr/>
        </p:nvGrpSpPr>
        <p:grpSpPr>
          <a:xfrm>
            <a:off x="2557882" y="1077666"/>
            <a:ext cx="8582205" cy="2786094"/>
            <a:chOff x="2557882" y="1077666"/>
            <a:chExt cx="8582205" cy="2786094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59413490-0065-9F24-6359-50834BC8AD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7882" y="2416663"/>
              <a:ext cx="5891174" cy="1447097"/>
            </a:xfrm>
            <a:prstGeom prst="straightConnector1">
              <a:avLst/>
            </a:prstGeom>
            <a:ln w="1905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A219D172-917B-BDB1-ABA9-73DA8D8925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8822" t="20761" r="27608" b="20376"/>
            <a:stretch/>
          </p:blipFill>
          <p:spPr>
            <a:xfrm>
              <a:off x="8941236" y="1923497"/>
              <a:ext cx="1133201" cy="1530911"/>
            </a:xfrm>
            <a:prstGeom prst="rect">
              <a:avLst/>
            </a:prstGeom>
          </p:spPr>
        </p:pic>
        <p:sp>
          <p:nvSpPr>
            <p:cNvPr id="44" name="Speech Bubble: Oval 43">
              <a:extLst>
                <a:ext uri="{FF2B5EF4-FFF2-40B4-BE49-F238E27FC236}">
                  <a16:creationId xmlns:a16="http://schemas.microsoft.com/office/drawing/2014/main" id="{291374F3-650D-AC56-F080-4D64A1103D61}"/>
                </a:ext>
              </a:extLst>
            </p:cNvPr>
            <p:cNvSpPr/>
            <p:nvPr/>
          </p:nvSpPr>
          <p:spPr>
            <a:xfrm>
              <a:off x="9713623" y="1077666"/>
              <a:ext cx="1426464" cy="877824"/>
            </a:xfrm>
            <a:prstGeom prst="wedgeEllipseCallout">
              <a:avLst>
                <a:gd name="adj1" fmla="val -36218"/>
                <a:gd name="adj2" fmla="val 60417"/>
              </a:avLst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Hello World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9930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Conformal Prediction – Prediction Intervals </a:t>
            </a: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1CFA3FC7-8A50-DFAB-1FA5-38C6B3E467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2A52B4C-46A4-3D4B-D6F4-ADA2E73B438D}"/>
              </a:ext>
            </a:extLst>
          </p:cNvPr>
          <p:cNvSpPr/>
          <p:nvPr/>
        </p:nvSpPr>
        <p:spPr>
          <a:xfrm>
            <a:off x="175581" y="1509258"/>
            <a:ext cx="8514250" cy="42183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96917CC-D302-8975-3A62-F63F57940C09}"/>
              </a:ext>
            </a:extLst>
          </p:cNvPr>
          <p:cNvSpPr/>
          <p:nvPr/>
        </p:nvSpPr>
        <p:spPr>
          <a:xfrm>
            <a:off x="521683" y="1805219"/>
            <a:ext cx="6599543" cy="37316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57170DF-F38A-F6CF-9F54-B61D63350AAF}"/>
              </a:ext>
            </a:extLst>
          </p:cNvPr>
          <p:cNvSpPr/>
          <p:nvPr/>
        </p:nvSpPr>
        <p:spPr>
          <a:xfrm>
            <a:off x="2006237" y="2229270"/>
            <a:ext cx="2948399" cy="1898537"/>
          </a:xfrm>
          <a:prstGeom prst="ellips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>
                <a:solidFill>
                  <a:schemeClr val="tx1"/>
                </a:solidFill>
              </a:rPr>
              <a:t>Conformal Prediction</a:t>
            </a:r>
          </a:p>
          <a:p>
            <a:pPr algn="ctr"/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 b="1">
                <a:solidFill>
                  <a:schemeClr val="tx1"/>
                </a:solidFill>
              </a:rPr>
              <a:t>LVD</a:t>
            </a:r>
            <a:r>
              <a:rPr lang="en-US" sz="1400">
                <a:solidFill>
                  <a:schemeClr val="tx1"/>
                </a:solidFill>
              </a:rPr>
              <a:t> (NeurIPS’21)</a:t>
            </a:r>
          </a:p>
          <a:p>
            <a:pPr algn="ctr"/>
            <a:r>
              <a:rPr lang="en-US" sz="1400" b="1">
                <a:solidFill>
                  <a:schemeClr val="tx1"/>
                </a:solidFill>
              </a:rPr>
              <a:t>TQA</a:t>
            </a:r>
            <a:r>
              <a:rPr lang="en-US" sz="1400">
                <a:solidFill>
                  <a:schemeClr val="tx1"/>
                </a:solidFill>
              </a:rPr>
              <a:t> (NeurIPS’22)</a:t>
            </a:r>
          </a:p>
          <a:p>
            <a:pPr algn="ctr"/>
            <a:r>
              <a:rPr lang="en-US" sz="1400" b="1">
                <a:solidFill>
                  <a:schemeClr val="tx1"/>
                </a:solidFill>
              </a:rPr>
              <a:t>CPTD</a:t>
            </a:r>
            <a:r>
              <a:rPr lang="en-US" sz="1400">
                <a:solidFill>
                  <a:schemeClr val="tx1"/>
                </a:solidFill>
              </a:rPr>
              <a:t> (TMLR’22)</a:t>
            </a:r>
          </a:p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B5365B4-EC61-CBDC-0F99-CD79BEB977CD}"/>
              </a:ext>
            </a:extLst>
          </p:cNvPr>
          <p:cNvSpPr/>
          <p:nvPr/>
        </p:nvSpPr>
        <p:spPr>
          <a:xfrm>
            <a:off x="4954637" y="2847732"/>
            <a:ext cx="2123634" cy="1541438"/>
          </a:xfrm>
          <a:prstGeom prst="ellipse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>
                <a:solidFill>
                  <a:schemeClr val="tx1">
                    <a:lumMod val="50000"/>
                    <a:lumOff val="50000"/>
                  </a:schemeClr>
                </a:solidFill>
              </a:rPr>
              <a:t>Model Calibration</a:t>
            </a:r>
          </a:p>
          <a:p>
            <a:pPr algn="ctr"/>
            <a:endParaRPr lang="en-US" sz="16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sz="1600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KCal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 (ICLR’23)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358C1D0-09A0-F034-45D6-7CABDBB0D8A7}"/>
              </a:ext>
            </a:extLst>
          </p:cNvPr>
          <p:cNvSpPr/>
          <p:nvPr/>
        </p:nvSpPr>
        <p:spPr>
          <a:xfrm>
            <a:off x="2329388" y="3663428"/>
            <a:ext cx="2625248" cy="1757319"/>
          </a:xfrm>
          <a:prstGeom prst="ellipse">
            <a:avLst/>
          </a:prstGeom>
          <a:solidFill>
            <a:schemeClr val="accent4">
              <a:lumMod val="25000"/>
              <a:lumOff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>
                <a:solidFill>
                  <a:schemeClr val="tx1">
                    <a:lumMod val="50000"/>
                    <a:lumOff val="50000"/>
                  </a:schemeClr>
                </a:solidFill>
              </a:rPr>
              <a:t>Risk-Controlling Prediction Set</a:t>
            </a:r>
          </a:p>
          <a:p>
            <a:pPr algn="ctr"/>
            <a:endParaRPr 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sz="1400" b="1">
                <a:solidFill>
                  <a:schemeClr val="tx1">
                    <a:lumMod val="50000"/>
                    <a:lumOff val="50000"/>
                  </a:schemeClr>
                </a:solidFill>
              </a:rPr>
              <a:t>SCRIB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 (AAAI’22)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DC4C6B-FBD8-BD5F-C580-66538E7F54B9}"/>
              </a:ext>
            </a:extLst>
          </p:cNvPr>
          <p:cNvSpPr txBox="1"/>
          <p:nvPr/>
        </p:nvSpPr>
        <p:spPr>
          <a:xfrm>
            <a:off x="7056120" y="3279968"/>
            <a:ext cx="1694688" cy="539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>
                <a:solidFill>
                  <a:schemeClr val="bg1"/>
                </a:solidFill>
              </a:rPr>
              <a:t>Uncertainty Quantification (UQ)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AEE047-5A7E-6CA6-10C0-AA08F488108E}"/>
              </a:ext>
            </a:extLst>
          </p:cNvPr>
          <p:cNvSpPr txBox="1"/>
          <p:nvPr/>
        </p:nvSpPr>
        <p:spPr>
          <a:xfrm>
            <a:off x="3292744" y="1893234"/>
            <a:ext cx="2216064" cy="312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/>
              <a:t>Distribution-Free UQ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824D73-6FFA-555D-118C-60739C1D6A3B}"/>
              </a:ext>
            </a:extLst>
          </p:cNvPr>
          <p:cNvSpPr txBox="1"/>
          <p:nvPr/>
        </p:nvSpPr>
        <p:spPr>
          <a:xfrm>
            <a:off x="2860331" y="3715057"/>
            <a:ext cx="1676083" cy="31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tx1">
                    <a:lumMod val="50000"/>
                    <a:lumOff val="50000"/>
                  </a:schemeClr>
                </a:solidFill>
              </a:rPr>
              <a:t>FavMac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 (ICML’23)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D3AF5A8-2149-8E8F-A3FF-8294DD51138D}"/>
              </a:ext>
            </a:extLst>
          </p:cNvPr>
          <p:cNvSpPr/>
          <p:nvPr/>
        </p:nvSpPr>
        <p:spPr>
          <a:xfrm>
            <a:off x="319152" y="3012181"/>
            <a:ext cx="2625248" cy="1608138"/>
          </a:xfrm>
          <a:prstGeom prst="ellipse">
            <a:avLst/>
          </a:prstGeom>
          <a:solidFill>
            <a:srgbClr val="FF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>
                <a:solidFill>
                  <a:schemeClr val="tx1">
                    <a:lumMod val="50000"/>
                    <a:lumOff val="50000"/>
                  </a:schemeClr>
                </a:solidFill>
              </a:rPr>
              <a:t>UQ for Natural Language Generation (</a:t>
            </a:r>
            <a:r>
              <a:rPr lang="en-US" sz="1400" b="1" i="1">
                <a:solidFill>
                  <a:schemeClr val="tx1">
                    <a:lumMod val="50000"/>
                    <a:lumOff val="50000"/>
                  </a:schemeClr>
                </a:solidFill>
              </a:rPr>
              <a:t>preprint</a:t>
            </a:r>
            <a:r>
              <a:rPr lang="en-US" sz="1400" i="1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26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Prediction Set and Interval Construction</a:t>
            </a:r>
          </a:p>
          <a:p>
            <a:r>
              <a:rPr lang="en-US" sz="2400"/>
              <a:t>Conformal Prediction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15B671-AB3B-E656-A1BC-051BC9E57035}"/>
                  </a:ext>
                </a:extLst>
              </p:cNvPr>
              <p:cNvSpPr>
                <a:spLocks noGrp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10515952" cy="4250131"/>
              </a:xfrm>
            </p:spPr>
            <p:txBody>
              <a:bodyPr>
                <a:noAutofit/>
              </a:bodyPr>
              <a:lstStyle/>
              <a:p>
                <a:r>
                  <a:rPr lang="en-US" sz="18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Goal</a:t>
                </a:r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altLang="zh-CN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Build valid prediction set/interval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 test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altLang="zh-CN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r>
                  <a:rPr lang="en-US" altLang="zh-CN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Coverage guarantee: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≥1−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CN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(e.g. 0.9)</a:t>
                </a:r>
              </a:p>
              <a:p>
                <a:r>
                  <a:rPr lang="en-US" sz="18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Simplest Example (</a:t>
                </a:r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Split conformal) Assuming the DNN is trained:</a:t>
                </a:r>
              </a:p>
              <a:p>
                <a:pPr lvl="1"/>
                <a:r>
                  <a:rPr lang="en-US" altLang="zh-CN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Fix a non-conformity score function: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 compute them on </a:t>
                </a:r>
                <a:r>
                  <a:rPr lang="en-US" altLang="zh-CN" sz="160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:r>
                  <a:rPr lang="en-US" altLang="zh-CN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calibration dataset.</a:t>
                </a:r>
              </a:p>
              <a:p>
                <a:pPr lvl="1"/>
                <a:r>
                  <a:rPr lang="en-US" altLang="zh-CN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Construct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≤</m:t>
                    </m:r>
                    <m:acc>
                      <m:accPr>
                        <m:chr m:val="̂"/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</m:oMath>
                </a14:m>
                <a:r>
                  <a:rPr lang="en-US" altLang="zh-CN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the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𝛼</m:t>
                    </m:r>
                    <m:r>
                      <m:rPr>
                        <m:nor/>
                      </m:rPr>
                      <a:rPr lang="en-US" altLang="zh-CN" sz="16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16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quantile</m:t>
                    </m:r>
                    <m:r>
                      <m:rPr>
                        <m:nor/>
                      </m:rPr>
                      <a:rPr lang="en-US" altLang="zh-CN" sz="16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∗ </m:t>
                    </m:r>
                    <m:r>
                      <m:rPr>
                        <m:nor/>
                      </m:rPr>
                      <a:rPr lang="en-US" altLang="zh-CN" sz="16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of</m:t>
                    </m:r>
                    <m:r>
                      <m:rPr>
                        <m:nor/>
                      </m:rPr>
                      <a:rPr lang="en-US" altLang="zh-CN" sz="16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16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the</m:t>
                    </m:r>
                    <m:r>
                      <m:rPr>
                        <m:nor/>
                      </m:rPr>
                      <a:rPr lang="en-US" altLang="zh-CN" sz="16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16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scores</m:t>
                    </m:r>
                    <m:r>
                      <m:rPr>
                        <m:nor/>
                      </m:rPr>
                      <a:rPr lang="en-US" altLang="zh-CN" sz="16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1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r>
                  <a:rPr lang="en-US" altLang="zh-CN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Assuming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altLang="zh-CN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are exchangeable (or </a:t>
                </a:r>
                <a:r>
                  <a:rPr lang="en-US" altLang="zh-CN" sz="160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iid</a:t>
                </a:r>
                <a:r>
                  <a:rPr lang="en-US" altLang="zh-CN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has the coverage guarantee</a:t>
                </a:r>
              </a:p>
              <a:p>
                <a:pPr lvl="1"/>
                <a:r>
                  <a:rPr lang="en-US" altLang="zh-CN" sz="1600">
                    <a:latin typeface="Arial" panose="020B0604020202020204" pitchFamily="34" charset="0"/>
                    <a:cs typeface="Arial" panose="020B0604020202020204" pitchFamily="34" charset="0"/>
                  </a:rPr>
                  <a:t>Why? Rank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CN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among 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1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1600">
                    <a:latin typeface="Arial" panose="020B0604020202020204" pitchFamily="34" charset="0"/>
                    <a:cs typeface="Arial" panose="020B0604020202020204" pitchFamily="34" charset="0"/>
                  </a:rPr>
                  <a:t> is Uniform[0,1].</a:t>
                </a:r>
              </a:p>
              <a:p>
                <a:pPr lvl="1"/>
                <a:endParaRPr lang="en-US" altLang="zh-CN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15B671-AB3B-E656-A1BC-051BC9E570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10515952" cy="4250131"/>
              </a:xfrm>
              <a:blipFill>
                <a:blip r:embed="rId3"/>
                <a:stretch>
                  <a:fillRect l="-348" t="-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5BDF37-2AC3-84D6-0C87-BCA982131203}"/>
                  </a:ext>
                </a:extLst>
              </p:cNvPr>
              <p:cNvSpPr txBox="1"/>
              <p:nvPr/>
            </p:nvSpPr>
            <p:spPr>
              <a:xfrm>
                <a:off x="690482" y="5852129"/>
                <a:ext cx="4363374" cy="3655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*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⌉"/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⌈"/>
                                <m:endChr m:val=""/>
                                <m:ctrlPr>
                                  <a:rPr lang="en-US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+1)(1−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d>
                      </m:num>
                      <m:den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en-US" sz="1200"/>
                  <a:t> to be precise. The difference is small when N is large.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5BDF37-2AC3-84D6-0C87-BCA982131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482" y="5852129"/>
                <a:ext cx="4363374" cy="365549"/>
              </a:xfrm>
              <a:prstGeom prst="rect">
                <a:avLst/>
              </a:prstGeom>
              <a:blipFill>
                <a:blip r:embed="rId4"/>
                <a:stretch>
                  <a:fillRect l="-559" t="-53333" r="-140" b="-4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DAF9EAE6-FC88-206F-4160-945B683BACED}"/>
              </a:ext>
            </a:extLst>
          </p:cNvPr>
          <p:cNvSpPr/>
          <p:nvPr/>
        </p:nvSpPr>
        <p:spPr>
          <a:xfrm>
            <a:off x="366566" y="3552031"/>
            <a:ext cx="1369586" cy="708962"/>
          </a:xfrm>
          <a:prstGeom prst="round2SameRect">
            <a:avLst/>
          </a:prstGeom>
          <a:solidFill>
            <a:schemeClr val="accent4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Proper training </a:t>
            </a:r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73DD95BB-0B5E-CF3A-B8D9-4E2434548942}"/>
              </a:ext>
            </a:extLst>
          </p:cNvPr>
          <p:cNvSpPr/>
          <p:nvPr/>
        </p:nvSpPr>
        <p:spPr>
          <a:xfrm>
            <a:off x="366566" y="4259086"/>
            <a:ext cx="1369586" cy="708962"/>
          </a:xfrm>
          <a:prstGeom prst="round2SameRect">
            <a:avLst>
              <a:gd name="adj1" fmla="val 0"/>
              <a:gd name="adj2" fmla="val 23295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Calibration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461F2A9-3B8A-AA03-27D2-E8C98F8E4152}"/>
              </a:ext>
            </a:extLst>
          </p:cNvPr>
          <p:cNvGrpSpPr/>
          <p:nvPr/>
        </p:nvGrpSpPr>
        <p:grpSpPr>
          <a:xfrm>
            <a:off x="9898742" y="4961345"/>
            <a:ext cx="528958" cy="664045"/>
            <a:chOff x="818219" y="5289652"/>
            <a:chExt cx="528958" cy="664045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FCC8F04-067E-6513-5221-D7B984EFA68B}"/>
                </a:ext>
              </a:extLst>
            </p:cNvPr>
            <p:cNvGrpSpPr/>
            <p:nvPr/>
          </p:nvGrpSpPr>
          <p:grpSpPr>
            <a:xfrm>
              <a:off x="912386" y="5289652"/>
              <a:ext cx="277945" cy="431563"/>
              <a:chOff x="2610270" y="4646251"/>
              <a:chExt cx="277945" cy="431563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A7E2BE8A-6376-F7FF-F799-BBAC2A45E58E}"/>
                  </a:ext>
                </a:extLst>
              </p:cNvPr>
              <p:cNvSpPr/>
              <p:nvPr/>
            </p:nvSpPr>
            <p:spPr>
              <a:xfrm>
                <a:off x="2630411" y="4646251"/>
                <a:ext cx="241691" cy="237663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: Top Corners Rounded 28">
                <a:extLst>
                  <a:ext uri="{FF2B5EF4-FFF2-40B4-BE49-F238E27FC236}">
                    <a16:creationId xmlns:a16="http://schemas.microsoft.com/office/drawing/2014/main" id="{BA94F4B6-853C-E7D5-A523-CD70A68EA5F0}"/>
                  </a:ext>
                </a:extLst>
              </p:cNvPr>
              <p:cNvSpPr/>
              <p:nvPr/>
            </p:nvSpPr>
            <p:spPr>
              <a:xfrm>
                <a:off x="2610270" y="4903755"/>
                <a:ext cx="277945" cy="17405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C99B21B-DCB1-04AE-FD8A-481FDC2A9B27}"/>
                    </a:ext>
                  </a:extLst>
                </p:cNvPr>
                <p:cNvSpPr txBox="1"/>
                <p:nvPr/>
              </p:nvSpPr>
              <p:spPr>
                <a:xfrm>
                  <a:off x="818219" y="5645920"/>
                  <a:ext cx="52895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sz="140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C99B21B-DCB1-04AE-FD8A-481FDC2A9B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219" y="5645920"/>
                  <a:ext cx="528958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E86C012-AA45-29C2-D5E3-562C9984C801}"/>
              </a:ext>
            </a:extLst>
          </p:cNvPr>
          <p:cNvGrpSpPr/>
          <p:nvPr/>
        </p:nvGrpSpPr>
        <p:grpSpPr>
          <a:xfrm>
            <a:off x="1881167" y="3670327"/>
            <a:ext cx="1028336" cy="472369"/>
            <a:chOff x="1881167" y="3670327"/>
            <a:chExt cx="1028336" cy="472369"/>
          </a:xfrm>
        </p:grpSpPr>
        <p:pic>
          <p:nvPicPr>
            <p:cNvPr id="34" name="Picture 4" descr="A logo representing a machine learning algorithm that is simplistic and less ornamental">
              <a:extLst>
                <a:ext uri="{FF2B5EF4-FFF2-40B4-BE49-F238E27FC236}">
                  <a16:creationId xmlns:a16="http://schemas.microsoft.com/office/drawing/2014/main" id="{4A0AD51D-DA4A-47D1-25BB-ED61916285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8887" b="91309" l="8887" r="90430">
                          <a14:foregroundMark x1="49316" y1="8887" x2="49316" y2="8887"/>
                          <a14:foregroundMark x1="36816" y1="16992" x2="36816" y2="16992"/>
                          <a14:foregroundMark x1="61719" y1="84766" x2="61719" y2="84766"/>
                          <a14:foregroundMark x1="90527" y1="49219" x2="90527" y2="49219"/>
                          <a14:foregroundMark x1="8887" y1="49707" x2="8887" y2="49707"/>
                          <a14:foregroundMark x1="50586" y1="91309" x2="50586" y2="91309"/>
                          <a14:backgroundMark x1="24707" y1="24316" x2="24707" y2="24316"/>
                          <a14:backgroundMark x1="75293" y1="24316" x2="75293" y2="24316"/>
                          <a14:backgroundMark x1="75977" y1="75293" x2="75977" y2="75293"/>
                          <a14:backgroundMark x1="24707" y1="75586" x2="24707" y2="7558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4356" y="3670327"/>
              <a:ext cx="472369" cy="472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CBFE6E7E-6C16-3597-AAC6-34D67B555055}"/>
                    </a:ext>
                  </a:extLst>
                </p:cNvPr>
                <p:cNvSpPr txBox="1"/>
                <p:nvPr/>
              </p:nvSpPr>
              <p:spPr>
                <a:xfrm flipH="1">
                  <a:off x="2723946" y="3714054"/>
                  <a:ext cx="185557" cy="3849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CBFE6E7E-6C16-3597-AAC6-34D67B5550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723946" y="3714054"/>
                  <a:ext cx="185557" cy="384914"/>
                </a:xfrm>
                <a:prstGeom prst="rect">
                  <a:avLst/>
                </a:prstGeom>
                <a:blipFill>
                  <a:blip r:embed="rId8"/>
                  <a:stretch>
                    <a:fillRect l="-10000" t="-7937" r="-80000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4C8348E-F741-07B9-0F1E-3459AB345A09}"/>
                </a:ext>
              </a:extLst>
            </p:cNvPr>
            <p:cNvCxnSpPr/>
            <p:nvPr/>
          </p:nvCxnSpPr>
          <p:spPr>
            <a:xfrm>
              <a:off x="1881167" y="3906511"/>
              <a:ext cx="4631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182A2BF-EA58-3520-BAC5-5B762AFB4EB9}"/>
              </a:ext>
            </a:extLst>
          </p:cNvPr>
          <p:cNvGrpSpPr/>
          <p:nvPr/>
        </p:nvGrpSpPr>
        <p:grpSpPr>
          <a:xfrm>
            <a:off x="3047736" y="3699552"/>
            <a:ext cx="2571593" cy="352469"/>
            <a:chOff x="3047736" y="3699552"/>
            <a:chExt cx="2571593" cy="352469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0F05CEB-BDB2-54C6-F386-78186DB3A1CD}"/>
                </a:ext>
              </a:extLst>
            </p:cNvPr>
            <p:cNvCxnSpPr>
              <a:cxnSpLocks/>
            </p:cNvCxnSpPr>
            <p:nvPr/>
          </p:nvCxnSpPr>
          <p:spPr>
            <a:xfrm>
              <a:off x="3047736" y="3906921"/>
              <a:ext cx="5278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0BE39DE-7740-7E24-5FD9-578BE96E0443}"/>
                    </a:ext>
                  </a:extLst>
                </p:cNvPr>
                <p:cNvSpPr txBox="1"/>
                <p:nvPr/>
              </p:nvSpPr>
              <p:spPr>
                <a:xfrm flipH="1">
                  <a:off x="3547254" y="3699552"/>
                  <a:ext cx="2072075" cy="35246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(⋅,⋅)</m:t>
                      </m:r>
                    </m:oMath>
                  </a14:m>
                  <a:r>
                    <a:rPr lang="en-US" sz="1600"/>
                    <a:t>(e.g.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160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n-US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)|)</m:t>
                      </m:r>
                    </m:oMath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0BE39DE-7740-7E24-5FD9-578BE96E04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547254" y="3699552"/>
                  <a:ext cx="2072075" cy="352469"/>
                </a:xfrm>
                <a:prstGeom prst="rect">
                  <a:avLst/>
                </a:prstGeom>
                <a:blipFill>
                  <a:blip r:embed="rId9"/>
                  <a:stretch>
                    <a:fillRect b="-224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55F5703-1F19-C761-5BD8-69489FF86384}"/>
              </a:ext>
            </a:extLst>
          </p:cNvPr>
          <p:cNvGrpSpPr/>
          <p:nvPr/>
        </p:nvGrpSpPr>
        <p:grpSpPr>
          <a:xfrm>
            <a:off x="4563698" y="4028000"/>
            <a:ext cx="5250150" cy="1598673"/>
            <a:chOff x="4563698" y="4028000"/>
            <a:chExt cx="5250150" cy="1598673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5F74B909-6286-3A5D-451C-39E47FB5B43C}"/>
                </a:ext>
              </a:extLst>
            </p:cNvPr>
            <p:cNvCxnSpPr>
              <a:cxnSpLocks/>
            </p:cNvCxnSpPr>
            <p:nvPr/>
          </p:nvCxnSpPr>
          <p:spPr>
            <a:xfrm>
              <a:off x="4563698" y="4028000"/>
              <a:ext cx="2385137" cy="12653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0E3D1471-0BBD-9254-91BC-C63E78E31A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24218" y="5317613"/>
              <a:ext cx="2089630" cy="173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05CF4631-AD54-7FEE-4C1E-7CC9E9C12BD8}"/>
                </a:ext>
              </a:extLst>
            </p:cNvPr>
            <p:cNvCxnSpPr>
              <a:cxnSpLocks/>
              <a:stCxn id="63" idx="2"/>
            </p:cNvCxnSpPr>
            <p:nvPr/>
          </p:nvCxnSpPr>
          <p:spPr>
            <a:xfrm flipH="1">
              <a:off x="7166108" y="5003428"/>
              <a:ext cx="493767" cy="2038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B81DE5E-E699-18DB-46A3-D5052E0CB369}"/>
                    </a:ext>
                  </a:extLst>
                </p:cNvPr>
                <p:cNvSpPr txBox="1"/>
                <p:nvPr/>
              </p:nvSpPr>
              <p:spPr>
                <a:xfrm>
                  <a:off x="5232917" y="5288119"/>
                  <a:ext cx="2844283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≤</m:t>
                        </m:r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B81DE5E-E699-18DB-46A3-D5052E0CB3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2917" y="5288119"/>
                  <a:ext cx="2844283" cy="338554"/>
                </a:xfrm>
                <a:prstGeom prst="rect">
                  <a:avLst/>
                </a:prstGeom>
                <a:blipFill>
                  <a:blip r:embed="rId10"/>
                  <a:stretch>
                    <a:fillRect r="-4711" b="-89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01143C85-FA3F-014A-884E-AC879115E1BE}"/>
              </a:ext>
            </a:extLst>
          </p:cNvPr>
          <p:cNvGrpSpPr/>
          <p:nvPr/>
        </p:nvGrpSpPr>
        <p:grpSpPr>
          <a:xfrm>
            <a:off x="1881167" y="3659052"/>
            <a:ext cx="7393955" cy="1035519"/>
            <a:chOff x="1881167" y="3659052"/>
            <a:chExt cx="7393955" cy="1035519"/>
          </a:xfrm>
        </p:grpSpPr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874F8741-A9A6-EDD6-24AC-BEC533931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452098" y="3659052"/>
              <a:ext cx="1469770" cy="1035519"/>
            </a:xfrm>
            <a:prstGeom prst="rect">
              <a:avLst/>
            </a:prstGeom>
          </p:spPr>
        </p:pic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C7D362CA-FABF-5910-C95B-BCCB33E7D9DE}"/>
                </a:ext>
              </a:extLst>
            </p:cNvPr>
            <p:cNvGrpSpPr/>
            <p:nvPr/>
          </p:nvGrpSpPr>
          <p:grpSpPr>
            <a:xfrm>
              <a:off x="1881167" y="3875786"/>
              <a:ext cx="7393955" cy="612769"/>
              <a:chOff x="1881167" y="3875786"/>
              <a:chExt cx="7393955" cy="612769"/>
            </a:xfrm>
          </p:grpSpPr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73CD3BCC-21E5-DF6A-C840-36179CCA89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1167" y="4488555"/>
                <a:ext cx="456815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E0CD5B5F-70C6-92A8-CE2B-1A916FD9B6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45242" y="3875786"/>
                <a:ext cx="1004075" cy="1104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E076E4B3-11B2-864F-F1A2-FDF07BACC264}"/>
                      </a:ext>
                    </a:extLst>
                  </p:cNvPr>
                  <p:cNvSpPr txBox="1"/>
                  <p:nvPr/>
                </p:nvSpPr>
                <p:spPr>
                  <a:xfrm>
                    <a:off x="7529890" y="3910897"/>
                    <a:ext cx="174523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E076E4B3-11B2-864F-F1A2-FDF07BACC26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29890" y="3910897"/>
                    <a:ext cx="1745232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AE8A4D8-30C2-FAED-81F6-C1B4FF348336}"/>
              </a:ext>
            </a:extLst>
          </p:cNvPr>
          <p:cNvGrpSpPr/>
          <p:nvPr/>
        </p:nvGrpSpPr>
        <p:grpSpPr>
          <a:xfrm>
            <a:off x="7517317" y="3632605"/>
            <a:ext cx="285115" cy="1370823"/>
            <a:chOff x="7464951" y="3701890"/>
            <a:chExt cx="285115" cy="1370823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462C22C-542D-5818-EC36-0BE37BDDB261}"/>
                </a:ext>
              </a:extLst>
            </p:cNvPr>
            <p:cNvCxnSpPr>
              <a:cxnSpLocks/>
            </p:cNvCxnSpPr>
            <p:nvPr/>
          </p:nvCxnSpPr>
          <p:spPr>
            <a:xfrm>
              <a:off x="7620642" y="3701890"/>
              <a:ext cx="0" cy="1078538"/>
            </a:xfrm>
            <a:prstGeom prst="line">
              <a:avLst/>
            </a:prstGeom>
            <a:ln w="9525"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16108FE7-842C-B754-79E3-9A3EAB9FBD06}"/>
                    </a:ext>
                  </a:extLst>
                </p:cNvPr>
                <p:cNvSpPr txBox="1"/>
                <p:nvPr/>
              </p:nvSpPr>
              <p:spPr>
                <a:xfrm>
                  <a:off x="7464951" y="4734159"/>
                  <a:ext cx="285115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16108FE7-842C-B754-79E3-9A3EAB9FBD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4951" y="4734159"/>
                  <a:ext cx="285115" cy="338554"/>
                </a:xfrm>
                <a:prstGeom prst="rect">
                  <a:avLst/>
                </a:prstGeom>
                <a:blipFill>
                  <a:blip r:embed="rId13"/>
                  <a:stretch>
                    <a:fillRect r="-4255" b="-3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3FF0BFC-FE23-3D42-3E71-E7DC416D0960}"/>
              </a:ext>
            </a:extLst>
          </p:cNvPr>
          <p:cNvGrpSpPr/>
          <p:nvPr/>
        </p:nvGrpSpPr>
        <p:grpSpPr>
          <a:xfrm>
            <a:off x="175581" y="6288458"/>
            <a:ext cx="10742356" cy="481701"/>
            <a:chOff x="175581" y="6288458"/>
            <a:chExt cx="10742356" cy="48170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E9A5B8D-5276-B57A-7FE6-8B8570028AF6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8022259-C773-90C5-B76F-7304E836BE68}"/>
                </a:ext>
              </a:extLst>
            </p:cNvPr>
            <p:cNvSpPr/>
            <p:nvPr/>
          </p:nvSpPr>
          <p:spPr>
            <a:xfrm>
              <a:off x="2030891" y="6288743"/>
              <a:ext cx="5175504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Interval: </a:t>
              </a:r>
            </a:p>
            <a:p>
              <a:pPr algn="ctr"/>
              <a:r>
                <a:rPr lang="en-US" sz="1600">
                  <a:solidFill>
                    <a:schemeClr val="tx1"/>
                  </a:solidFill>
                </a:rPr>
                <a:t>LVD(NeurIPS’21), TQA (NeurIPS’22), CPTD (TMLR’22)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B35A6BC-FF16-F4B6-D413-9EF0CE7E9DE2}"/>
                </a:ext>
              </a:extLst>
            </p:cNvPr>
            <p:cNvSpPr/>
            <p:nvPr/>
          </p:nvSpPr>
          <p:spPr>
            <a:xfrm>
              <a:off x="7205473" y="6289564"/>
              <a:ext cx="1856232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B99499-0EBF-8449-7FE9-7F4F1DDF8931}"/>
                </a:ext>
              </a:extLst>
            </p:cNvPr>
            <p:cNvSpPr/>
            <p:nvPr/>
          </p:nvSpPr>
          <p:spPr>
            <a:xfrm>
              <a:off x="9061705" y="6288458"/>
              <a:ext cx="1856232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NLG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900F913-F71E-5368-2EA6-4C6FF8FA1421}"/>
              </a:ext>
            </a:extLst>
          </p:cNvPr>
          <p:cNvGrpSpPr/>
          <p:nvPr/>
        </p:nvGrpSpPr>
        <p:grpSpPr>
          <a:xfrm>
            <a:off x="369571" y="3556931"/>
            <a:ext cx="1369586" cy="1416017"/>
            <a:chOff x="-1733549" y="3587411"/>
            <a:chExt cx="1369586" cy="1416017"/>
          </a:xfrm>
        </p:grpSpPr>
        <p:sp>
          <p:nvSpPr>
            <p:cNvPr id="8" name="Rectangle: Top Corners Rounded 7">
              <a:extLst>
                <a:ext uri="{FF2B5EF4-FFF2-40B4-BE49-F238E27FC236}">
                  <a16:creationId xmlns:a16="http://schemas.microsoft.com/office/drawing/2014/main" id="{48881C1F-6831-4F50-6DB4-64AAA20CE5FC}"/>
                </a:ext>
              </a:extLst>
            </p:cNvPr>
            <p:cNvSpPr/>
            <p:nvPr/>
          </p:nvSpPr>
          <p:spPr>
            <a:xfrm>
              <a:off x="-1733549" y="3587411"/>
              <a:ext cx="1369586" cy="708962"/>
            </a:xfrm>
            <a:prstGeom prst="round2Same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Data</a:t>
              </a:r>
            </a:p>
          </p:txBody>
        </p:sp>
        <p:sp>
          <p:nvSpPr>
            <p:cNvPr id="13" name="Rectangle: Top Corners Rounded 12">
              <a:extLst>
                <a:ext uri="{FF2B5EF4-FFF2-40B4-BE49-F238E27FC236}">
                  <a16:creationId xmlns:a16="http://schemas.microsoft.com/office/drawing/2014/main" id="{DD1C3627-D187-F251-D975-2235A4C2A9C7}"/>
                </a:ext>
              </a:extLst>
            </p:cNvPr>
            <p:cNvSpPr/>
            <p:nvPr/>
          </p:nvSpPr>
          <p:spPr>
            <a:xfrm>
              <a:off x="-1733549" y="4294466"/>
              <a:ext cx="1369586" cy="708962"/>
            </a:xfrm>
            <a:prstGeom prst="round2SameRect">
              <a:avLst>
                <a:gd name="adj1" fmla="val 0"/>
                <a:gd name="adj2" fmla="val 23295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533166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Conditional Validity and Discriminativeness</a:t>
            </a:r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15B671-AB3B-E656-A1BC-051BC9E57035}"/>
                  </a:ext>
                </a:extLst>
              </p:cNvPr>
              <p:cNvSpPr>
                <a:spLocks noGrp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10515952" cy="4250131"/>
              </a:xfrm>
            </p:spPr>
            <p:txBody>
              <a:bodyPr>
                <a:noAutofit/>
              </a:bodyPr>
              <a:lstStyle/>
              <a:p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previous PI</a:t>
                </a:r>
              </a:p>
              <a:p>
                <a:pPr lvl="1"/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guarantee holds for a </a:t>
                </a:r>
                <a:r>
                  <a:rPr lang="en-US" sz="1800" i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random</a:t>
                </a:r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(marginally valid)</a:t>
                </a:r>
                <a:endParaRPr lang="en-US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has constant-width (not discriminative)</a:t>
                </a:r>
              </a:p>
              <a:p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15B671-AB3B-E656-A1BC-051BC9E570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10515952" cy="4250131"/>
              </a:xfrm>
              <a:blipFill>
                <a:blip r:embed="rId3"/>
                <a:stretch>
                  <a:fillRect l="-348" t="-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59FBD801-4818-5692-97BA-7BC0CA1A92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472" y="2804737"/>
            <a:ext cx="7698922" cy="191192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DBE4397-D8B2-EC14-B8C5-5EFFA2753A73}"/>
              </a:ext>
            </a:extLst>
          </p:cNvPr>
          <p:cNvCxnSpPr/>
          <p:nvPr/>
        </p:nvCxnSpPr>
        <p:spPr>
          <a:xfrm flipV="1">
            <a:off x="2328333" y="4346575"/>
            <a:ext cx="1151467" cy="34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54B6366-53CD-CDC6-275D-92C105846E30}"/>
              </a:ext>
            </a:extLst>
          </p:cNvPr>
          <p:cNvSpPr txBox="1"/>
          <p:nvPr/>
        </p:nvSpPr>
        <p:spPr>
          <a:xfrm>
            <a:off x="1464733" y="4647263"/>
            <a:ext cx="2239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e.g. minority patients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2DC024F-AFE9-5EF6-4ACC-00DEC1248E81}"/>
              </a:ext>
            </a:extLst>
          </p:cNvPr>
          <p:cNvSpPr/>
          <p:nvPr/>
        </p:nvSpPr>
        <p:spPr>
          <a:xfrm>
            <a:off x="4099034" y="2732690"/>
            <a:ext cx="2280745" cy="2116868"/>
          </a:xfrm>
          <a:custGeom>
            <a:avLst/>
            <a:gdLst>
              <a:gd name="connsiteX0" fmla="*/ 262759 w 2280745"/>
              <a:gd name="connsiteY0" fmla="*/ 115613 h 2116868"/>
              <a:gd name="connsiteX1" fmla="*/ 262759 w 2280745"/>
              <a:gd name="connsiteY1" fmla="*/ 115613 h 2116868"/>
              <a:gd name="connsiteX2" fmla="*/ 252249 w 2280745"/>
              <a:gd name="connsiteY2" fmla="*/ 283779 h 2116868"/>
              <a:gd name="connsiteX3" fmla="*/ 241738 w 2280745"/>
              <a:gd name="connsiteY3" fmla="*/ 336331 h 2116868"/>
              <a:gd name="connsiteX4" fmla="*/ 147145 w 2280745"/>
              <a:gd name="connsiteY4" fmla="*/ 451944 h 2116868"/>
              <a:gd name="connsiteX5" fmla="*/ 115614 w 2280745"/>
              <a:gd name="connsiteY5" fmla="*/ 536027 h 2116868"/>
              <a:gd name="connsiteX6" fmla="*/ 84083 w 2280745"/>
              <a:gd name="connsiteY6" fmla="*/ 641131 h 2116868"/>
              <a:gd name="connsiteX7" fmla="*/ 63063 w 2280745"/>
              <a:gd name="connsiteY7" fmla="*/ 1008993 h 2116868"/>
              <a:gd name="connsiteX8" fmla="*/ 52552 w 2280745"/>
              <a:gd name="connsiteY8" fmla="*/ 1061544 h 2116868"/>
              <a:gd name="connsiteX9" fmla="*/ 21021 w 2280745"/>
              <a:gd name="connsiteY9" fmla="*/ 1135117 h 2116868"/>
              <a:gd name="connsiteX10" fmla="*/ 0 w 2280745"/>
              <a:gd name="connsiteY10" fmla="*/ 1198179 h 2116868"/>
              <a:gd name="connsiteX11" fmla="*/ 10511 w 2280745"/>
              <a:gd name="connsiteY11" fmla="*/ 1660634 h 2116868"/>
              <a:gd name="connsiteX12" fmla="*/ 21021 w 2280745"/>
              <a:gd name="connsiteY12" fmla="*/ 1734207 h 2116868"/>
              <a:gd name="connsiteX13" fmla="*/ 42042 w 2280745"/>
              <a:gd name="connsiteY13" fmla="*/ 1765738 h 2116868"/>
              <a:gd name="connsiteX14" fmla="*/ 157656 w 2280745"/>
              <a:gd name="connsiteY14" fmla="*/ 1912882 h 2116868"/>
              <a:gd name="connsiteX15" fmla="*/ 199697 w 2280745"/>
              <a:gd name="connsiteY15" fmla="*/ 1954924 h 2116868"/>
              <a:gd name="connsiteX16" fmla="*/ 294290 w 2280745"/>
              <a:gd name="connsiteY16" fmla="*/ 2017986 h 2116868"/>
              <a:gd name="connsiteX17" fmla="*/ 357352 w 2280745"/>
              <a:gd name="connsiteY17" fmla="*/ 2060027 h 2116868"/>
              <a:gd name="connsiteX18" fmla="*/ 493987 w 2280745"/>
              <a:gd name="connsiteY18" fmla="*/ 2081048 h 2116868"/>
              <a:gd name="connsiteX19" fmla="*/ 1040525 w 2280745"/>
              <a:gd name="connsiteY19" fmla="*/ 2091558 h 2116868"/>
              <a:gd name="connsiteX20" fmla="*/ 1166649 w 2280745"/>
              <a:gd name="connsiteY20" fmla="*/ 2049517 h 2116868"/>
              <a:gd name="connsiteX21" fmla="*/ 1303283 w 2280745"/>
              <a:gd name="connsiteY21" fmla="*/ 2028496 h 2116868"/>
              <a:gd name="connsiteX22" fmla="*/ 1755228 w 2280745"/>
              <a:gd name="connsiteY22" fmla="*/ 2007476 h 2116868"/>
              <a:gd name="connsiteX23" fmla="*/ 1870842 w 2280745"/>
              <a:gd name="connsiteY23" fmla="*/ 1996965 h 2116868"/>
              <a:gd name="connsiteX24" fmla="*/ 2007476 w 2280745"/>
              <a:gd name="connsiteY24" fmla="*/ 1986455 h 2116868"/>
              <a:gd name="connsiteX25" fmla="*/ 2091559 w 2280745"/>
              <a:gd name="connsiteY25" fmla="*/ 1975944 h 2116868"/>
              <a:gd name="connsiteX26" fmla="*/ 2186152 w 2280745"/>
              <a:gd name="connsiteY26" fmla="*/ 1965434 h 2116868"/>
              <a:gd name="connsiteX27" fmla="*/ 2238704 w 2280745"/>
              <a:gd name="connsiteY27" fmla="*/ 1891862 h 2116868"/>
              <a:gd name="connsiteX28" fmla="*/ 2249214 w 2280745"/>
              <a:gd name="connsiteY28" fmla="*/ 1355834 h 2116868"/>
              <a:gd name="connsiteX29" fmla="*/ 2270235 w 2280745"/>
              <a:gd name="connsiteY29" fmla="*/ 998482 h 2116868"/>
              <a:gd name="connsiteX30" fmla="*/ 2280745 w 2280745"/>
              <a:gd name="connsiteY30" fmla="*/ 945931 h 2116868"/>
              <a:gd name="connsiteX31" fmla="*/ 2270235 w 2280745"/>
              <a:gd name="connsiteY31" fmla="*/ 662151 h 2116868"/>
              <a:gd name="connsiteX32" fmla="*/ 2259725 w 2280745"/>
              <a:gd name="connsiteY32" fmla="*/ 588579 h 2116868"/>
              <a:gd name="connsiteX33" fmla="*/ 2238704 w 2280745"/>
              <a:gd name="connsiteY33" fmla="*/ 367862 h 2116868"/>
              <a:gd name="connsiteX34" fmla="*/ 2217683 w 2280745"/>
              <a:gd name="connsiteY34" fmla="*/ 241738 h 2116868"/>
              <a:gd name="connsiteX35" fmla="*/ 2165132 w 2280745"/>
              <a:gd name="connsiteY35" fmla="*/ 178676 h 2116868"/>
              <a:gd name="connsiteX36" fmla="*/ 2133600 w 2280745"/>
              <a:gd name="connsiteY36" fmla="*/ 136634 h 2116868"/>
              <a:gd name="connsiteX37" fmla="*/ 2102069 w 2280745"/>
              <a:gd name="connsiteY37" fmla="*/ 126124 h 2116868"/>
              <a:gd name="connsiteX38" fmla="*/ 1954925 w 2280745"/>
              <a:gd name="connsiteY38" fmla="*/ 94593 h 2116868"/>
              <a:gd name="connsiteX39" fmla="*/ 1860332 w 2280745"/>
              <a:gd name="connsiteY39" fmla="*/ 73572 h 2116868"/>
              <a:gd name="connsiteX40" fmla="*/ 1713187 w 2280745"/>
              <a:gd name="connsiteY40" fmla="*/ 52551 h 2116868"/>
              <a:gd name="connsiteX41" fmla="*/ 1660635 w 2280745"/>
              <a:gd name="connsiteY41" fmla="*/ 42041 h 2116868"/>
              <a:gd name="connsiteX42" fmla="*/ 1534511 w 2280745"/>
              <a:gd name="connsiteY42" fmla="*/ 31531 h 2116868"/>
              <a:gd name="connsiteX43" fmla="*/ 1334814 w 2280745"/>
              <a:gd name="connsiteY43" fmla="*/ 0 h 2116868"/>
              <a:gd name="connsiteX44" fmla="*/ 861849 w 2280745"/>
              <a:gd name="connsiteY44" fmla="*/ 10510 h 2116868"/>
              <a:gd name="connsiteX45" fmla="*/ 746235 w 2280745"/>
              <a:gd name="connsiteY45" fmla="*/ 21020 h 2116868"/>
              <a:gd name="connsiteX46" fmla="*/ 704194 w 2280745"/>
              <a:gd name="connsiteY46" fmla="*/ 42041 h 2116868"/>
              <a:gd name="connsiteX47" fmla="*/ 609600 w 2280745"/>
              <a:gd name="connsiteY47" fmla="*/ 63062 h 2116868"/>
              <a:gd name="connsiteX48" fmla="*/ 483476 w 2280745"/>
              <a:gd name="connsiteY48" fmla="*/ 73572 h 2116868"/>
              <a:gd name="connsiteX49" fmla="*/ 378373 w 2280745"/>
              <a:gd name="connsiteY49" fmla="*/ 105103 h 2116868"/>
              <a:gd name="connsiteX50" fmla="*/ 304800 w 2280745"/>
              <a:gd name="connsiteY50" fmla="*/ 126124 h 2116868"/>
              <a:gd name="connsiteX51" fmla="*/ 262759 w 2280745"/>
              <a:gd name="connsiteY51" fmla="*/ 115613 h 2116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280745" h="2116868">
                <a:moveTo>
                  <a:pt x="262759" y="115613"/>
                </a:moveTo>
                <a:lnTo>
                  <a:pt x="262759" y="115613"/>
                </a:lnTo>
                <a:cubicBezTo>
                  <a:pt x="259256" y="171668"/>
                  <a:pt x="257574" y="227867"/>
                  <a:pt x="252249" y="283779"/>
                </a:cubicBezTo>
                <a:cubicBezTo>
                  <a:pt x="250555" y="301563"/>
                  <a:pt x="250208" y="320602"/>
                  <a:pt x="241738" y="336331"/>
                </a:cubicBezTo>
                <a:cubicBezTo>
                  <a:pt x="213746" y="388316"/>
                  <a:pt x="184786" y="414303"/>
                  <a:pt x="147145" y="451944"/>
                </a:cubicBezTo>
                <a:cubicBezTo>
                  <a:pt x="124390" y="542970"/>
                  <a:pt x="152256" y="444422"/>
                  <a:pt x="115614" y="536027"/>
                </a:cubicBezTo>
                <a:cubicBezTo>
                  <a:pt x="98558" y="578667"/>
                  <a:pt x="94406" y="599841"/>
                  <a:pt x="84083" y="641131"/>
                </a:cubicBezTo>
                <a:cubicBezTo>
                  <a:pt x="77076" y="763752"/>
                  <a:pt x="72249" y="886516"/>
                  <a:pt x="63063" y="1008993"/>
                </a:cubicBezTo>
                <a:cubicBezTo>
                  <a:pt x="61727" y="1026807"/>
                  <a:pt x="58201" y="1044597"/>
                  <a:pt x="52552" y="1061544"/>
                </a:cubicBezTo>
                <a:cubicBezTo>
                  <a:pt x="44114" y="1086856"/>
                  <a:pt x="30599" y="1110214"/>
                  <a:pt x="21021" y="1135117"/>
                </a:cubicBezTo>
                <a:cubicBezTo>
                  <a:pt x="13067" y="1155798"/>
                  <a:pt x="7007" y="1177158"/>
                  <a:pt x="0" y="1198179"/>
                </a:cubicBezTo>
                <a:cubicBezTo>
                  <a:pt x="3504" y="1352331"/>
                  <a:pt x="4469" y="1506561"/>
                  <a:pt x="10511" y="1660634"/>
                </a:cubicBezTo>
                <a:cubicBezTo>
                  <a:pt x="11482" y="1685388"/>
                  <a:pt x="13902" y="1710478"/>
                  <a:pt x="21021" y="1734207"/>
                </a:cubicBezTo>
                <a:cubicBezTo>
                  <a:pt x="24651" y="1746306"/>
                  <a:pt x="36393" y="1754440"/>
                  <a:pt x="42042" y="1765738"/>
                </a:cubicBezTo>
                <a:cubicBezTo>
                  <a:pt x="98416" y="1878483"/>
                  <a:pt x="5308" y="1760533"/>
                  <a:pt x="157656" y="1912882"/>
                </a:cubicBezTo>
                <a:cubicBezTo>
                  <a:pt x="171670" y="1926896"/>
                  <a:pt x="183207" y="1943931"/>
                  <a:pt x="199697" y="1954924"/>
                </a:cubicBezTo>
                <a:lnTo>
                  <a:pt x="294290" y="2017986"/>
                </a:lnTo>
                <a:cubicBezTo>
                  <a:pt x="294292" y="2017987"/>
                  <a:pt x="357349" y="2060026"/>
                  <a:pt x="357352" y="2060027"/>
                </a:cubicBezTo>
                <a:cubicBezTo>
                  <a:pt x="437601" y="2076078"/>
                  <a:pt x="392178" y="2068322"/>
                  <a:pt x="493987" y="2081048"/>
                </a:cubicBezTo>
                <a:cubicBezTo>
                  <a:pt x="716897" y="2136777"/>
                  <a:pt x="606612" y="2117082"/>
                  <a:pt x="1040525" y="2091558"/>
                </a:cubicBezTo>
                <a:cubicBezTo>
                  <a:pt x="1117018" y="2087058"/>
                  <a:pt x="1101674" y="2063956"/>
                  <a:pt x="1166649" y="2049517"/>
                </a:cubicBezTo>
                <a:cubicBezTo>
                  <a:pt x="1211632" y="2039521"/>
                  <a:pt x="1257506" y="2033778"/>
                  <a:pt x="1303283" y="2028496"/>
                </a:cubicBezTo>
                <a:cubicBezTo>
                  <a:pt x="1431566" y="2013694"/>
                  <a:pt x="1654877" y="2010821"/>
                  <a:pt x="1755228" y="2007476"/>
                </a:cubicBezTo>
                <a:lnTo>
                  <a:pt x="1870842" y="1996965"/>
                </a:lnTo>
                <a:lnTo>
                  <a:pt x="2007476" y="1986455"/>
                </a:lnTo>
                <a:cubicBezTo>
                  <a:pt x="2035595" y="1983777"/>
                  <a:pt x="2063507" y="1979244"/>
                  <a:pt x="2091559" y="1975944"/>
                </a:cubicBezTo>
                <a:lnTo>
                  <a:pt x="2186152" y="1965434"/>
                </a:lnTo>
                <a:cubicBezTo>
                  <a:pt x="2234208" y="1941406"/>
                  <a:pt x="2236481" y="1954097"/>
                  <a:pt x="2238704" y="1891862"/>
                </a:cubicBezTo>
                <a:cubicBezTo>
                  <a:pt x="2245082" y="1713266"/>
                  <a:pt x="2244513" y="1534482"/>
                  <a:pt x="2249214" y="1355834"/>
                </a:cubicBezTo>
                <a:cubicBezTo>
                  <a:pt x="2252454" y="1232728"/>
                  <a:pt x="2253136" y="1118179"/>
                  <a:pt x="2270235" y="998482"/>
                </a:cubicBezTo>
                <a:cubicBezTo>
                  <a:pt x="2272761" y="980798"/>
                  <a:pt x="2277242" y="963448"/>
                  <a:pt x="2280745" y="945931"/>
                </a:cubicBezTo>
                <a:cubicBezTo>
                  <a:pt x="2277242" y="851338"/>
                  <a:pt x="2275793" y="756646"/>
                  <a:pt x="2270235" y="662151"/>
                </a:cubicBezTo>
                <a:cubicBezTo>
                  <a:pt x="2268780" y="637421"/>
                  <a:pt x="2261701" y="613273"/>
                  <a:pt x="2259725" y="588579"/>
                </a:cubicBezTo>
                <a:cubicBezTo>
                  <a:pt x="2242159" y="369010"/>
                  <a:pt x="2270316" y="462701"/>
                  <a:pt x="2238704" y="367862"/>
                </a:cubicBezTo>
                <a:cubicBezTo>
                  <a:pt x="2237142" y="356929"/>
                  <a:pt x="2224779" y="260659"/>
                  <a:pt x="2217683" y="241738"/>
                </a:cubicBezTo>
                <a:cubicBezTo>
                  <a:pt x="2207358" y="214205"/>
                  <a:pt x="2183308" y="199882"/>
                  <a:pt x="2165132" y="178676"/>
                </a:cubicBezTo>
                <a:cubicBezTo>
                  <a:pt x="2153732" y="165376"/>
                  <a:pt x="2147057" y="147848"/>
                  <a:pt x="2133600" y="136634"/>
                </a:cubicBezTo>
                <a:cubicBezTo>
                  <a:pt x="2125089" y="129542"/>
                  <a:pt x="2112722" y="129168"/>
                  <a:pt x="2102069" y="126124"/>
                </a:cubicBezTo>
                <a:cubicBezTo>
                  <a:pt x="2054055" y="112405"/>
                  <a:pt x="2003236" y="104945"/>
                  <a:pt x="1954925" y="94593"/>
                </a:cubicBezTo>
                <a:cubicBezTo>
                  <a:pt x="1898215" y="82441"/>
                  <a:pt x="1923756" y="83586"/>
                  <a:pt x="1860332" y="73572"/>
                </a:cubicBezTo>
                <a:cubicBezTo>
                  <a:pt x="1811392" y="65845"/>
                  <a:pt x="1761771" y="62267"/>
                  <a:pt x="1713187" y="52551"/>
                </a:cubicBezTo>
                <a:cubicBezTo>
                  <a:pt x="1695670" y="49048"/>
                  <a:pt x="1678377" y="44128"/>
                  <a:pt x="1660635" y="42041"/>
                </a:cubicBezTo>
                <a:cubicBezTo>
                  <a:pt x="1618737" y="37112"/>
                  <a:pt x="1576552" y="35034"/>
                  <a:pt x="1534511" y="31531"/>
                </a:cubicBezTo>
                <a:cubicBezTo>
                  <a:pt x="1479695" y="20568"/>
                  <a:pt x="1392641" y="0"/>
                  <a:pt x="1334814" y="0"/>
                </a:cubicBezTo>
                <a:cubicBezTo>
                  <a:pt x="1177120" y="0"/>
                  <a:pt x="1019504" y="7007"/>
                  <a:pt x="861849" y="10510"/>
                </a:cubicBezTo>
                <a:cubicBezTo>
                  <a:pt x="823311" y="14013"/>
                  <a:pt x="784180" y="13431"/>
                  <a:pt x="746235" y="21020"/>
                </a:cubicBezTo>
                <a:cubicBezTo>
                  <a:pt x="730871" y="24093"/>
                  <a:pt x="718864" y="36540"/>
                  <a:pt x="704194" y="42041"/>
                </a:cubicBezTo>
                <a:cubicBezTo>
                  <a:pt x="690928" y="47016"/>
                  <a:pt x="619297" y="61921"/>
                  <a:pt x="609600" y="63062"/>
                </a:cubicBezTo>
                <a:cubicBezTo>
                  <a:pt x="567702" y="67991"/>
                  <a:pt x="525517" y="70069"/>
                  <a:pt x="483476" y="73572"/>
                </a:cubicBezTo>
                <a:cubicBezTo>
                  <a:pt x="389330" y="111232"/>
                  <a:pt x="473105" y="81421"/>
                  <a:pt x="378373" y="105103"/>
                </a:cubicBezTo>
                <a:cubicBezTo>
                  <a:pt x="343472" y="113828"/>
                  <a:pt x="344116" y="121209"/>
                  <a:pt x="304800" y="126124"/>
                </a:cubicBezTo>
                <a:cubicBezTo>
                  <a:pt x="290895" y="127862"/>
                  <a:pt x="269766" y="117365"/>
                  <a:pt x="262759" y="11561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A6F41D2-A51D-A9AB-E537-14D8D8DEFA93}"/>
              </a:ext>
            </a:extLst>
          </p:cNvPr>
          <p:cNvSpPr/>
          <p:nvPr/>
        </p:nvSpPr>
        <p:spPr>
          <a:xfrm>
            <a:off x="6390290" y="2680138"/>
            <a:ext cx="2280744" cy="2060028"/>
          </a:xfrm>
          <a:custGeom>
            <a:avLst/>
            <a:gdLst>
              <a:gd name="connsiteX0" fmla="*/ 231227 w 2280744"/>
              <a:gd name="connsiteY0" fmla="*/ 31531 h 2060028"/>
              <a:gd name="connsiteX1" fmla="*/ 0 w 2280744"/>
              <a:gd name="connsiteY1" fmla="*/ 52552 h 2060028"/>
              <a:gd name="connsiteX2" fmla="*/ 0 w 2280744"/>
              <a:gd name="connsiteY2" fmla="*/ 2060028 h 2060028"/>
              <a:gd name="connsiteX3" fmla="*/ 2165131 w 2280744"/>
              <a:gd name="connsiteY3" fmla="*/ 2017986 h 2060028"/>
              <a:gd name="connsiteX4" fmla="*/ 2102069 w 2280744"/>
              <a:gd name="connsiteY4" fmla="*/ 1608083 h 2060028"/>
              <a:gd name="connsiteX5" fmla="*/ 2102069 w 2280744"/>
              <a:gd name="connsiteY5" fmla="*/ 462455 h 2060028"/>
              <a:gd name="connsiteX6" fmla="*/ 2280744 w 2280744"/>
              <a:gd name="connsiteY6" fmla="*/ 178676 h 2060028"/>
              <a:gd name="connsiteX7" fmla="*/ 1902372 w 2280744"/>
              <a:gd name="connsiteY7" fmla="*/ 0 h 2060028"/>
              <a:gd name="connsiteX8" fmla="*/ 231227 w 2280744"/>
              <a:gd name="connsiteY8" fmla="*/ 31531 h 2060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80744" h="2060028">
                <a:moveTo>
                  <a:pt x="231227" y="31531"/>
                </a:moveTo>
                <a:lnTo>
                  <a:pt x="0" y="52552"/>
                </a:lnTo>
                <a:lnTo>
                  <a:pt x="0" y="2060028"/>
                </a:lnTo>
                <a:lnTo>
                  <a:pt x="2165131" y="2017986"/>
                </a:lnTo>
                <a:lnTo>
                  <a:pt x="2102069" y="1608083"/>
                </a:lnTo>
                <a:lnTo>
                  <a:pt x="2102069" y="462455"/>
                </a:lnTo>
                <a:lnTo>
                  <a:pt x="2280744" y="178676"/>
                </a:lnTo>
                <a:lnTo>
                  <a:pt x="1902372" y="0"/>
                </a:lnTo>
                <a:lnTo>
                  <a:pt x="231227" y="315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BE8D8A8-914D-3724-E3A2-87FCD3B623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0A2782D-1456-BC56-C2A1-097C9D219C96}"/>
              </a:ext>
            </a:extLst>
          </p:cNvPr>
          <p:cNvGrpSpPr/>
          <p:nvPr/>
        </p:nvGrpSpPr>
        <p:grpSpPr>
          <a:xfrm>
            <a:off x="175581" y="6288458"/>
            <a:ext cx="10742356" cy="481701"/>
            <a:chOff x="175581" y="6288458"/>
            <a:chExt cx="10742356" cy="48170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76A9515-99C2-EE5E-21B8-F4FE34704A26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B590EB-83EC-7CAE-D21E-5A025F8AECA5}"/>
                </a:ext>
              </a:extLst>
            </p:cNvPr>
            <p:cNvSpPr/>
            <p:nvPr/>
          </p:nvSpPr>
          <p:spPr>
            <a:xfrm>
              <a:off x="2030891" y="6288743"/>
              <a:ext cx="5175504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Interval: </a:t>
              </a:r>
            </a:p>
            <a:p>
              <a:pPr algn="ctr"/>
              <a:r>
                <a:rPr lang="en-US" sz="1600" b="1">
                  <a:solidFill>
                    <a:schemeClr val="tx1"/>
                  </a:solidFill>
                </a:rPr>
                <a:t>LVD(NeurIPS’21)</a:t>
              </a:r>
              <a:r>
                <a:rPr lang="en-US" sz="1600">
                  <a:solidFill>
                    <a:schemeClr val="tx1"/>
                  </a:solidFill>
                </a:rPr>
                <a:t>, TQA (NeurIPS’22), CPTD (TMLR’22)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8A2F57F-EAAB-C2B2-6835-1A439BA3D246}"/>
                </a:ext>
              </a:extLst>
            </p:cNvPr>
            <p:cNvSpPr/>
            <p:nvPr/>
          </p:nvSpPr>
          <p:spPr>
            <a:xfrm>
              <a:off x="7205473" y="6289564"/>
              <a:ext cx="1856232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5F6CA8C-F43B-575D-43A9-3314BBFC7B97}"/>
                </a:ext>
              </a:extLst>
            </p:cNvPr>
            <p:cNvSpPr/>
            <p:nvPr/>
          </p:nvSpPr>
          <p:spPr>
            <a:xfrm>
              <a:off x="9061705" y="6288458"/>
              <a:ext cx="1856232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NLG</a:t>
              </a:r>
            </a:p>
          </p:txBody>
        </p:sp>
      </p:grpSp>
      <p:pic>
        <p:nvPicPr>
          <p:cNvPr id="11" name="Graphic 10" descr="Smiling face outline with solid fill">
            <a:extLst>
              <a:ext uri="{FF2B5EF4-FFF2-40B4-BE49-F238E27FC236}">
                <a16:creationId xmlns:a16="http://schemas.microsoft.com/office/drawing/2014/main" id="{F77B4D0E-95BF-5A98-B902-5CAC786E3A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00240" y="5034280"/>
            <a:ext cx="914400" cy="914400"/>
          </a:xfrm>
          <a:prstGeom prst="rect">
            <a:avLst/>
          </a:prstGeom>
        </p:spPr>
      </p:pic>
      <p:pic>
        <p:nvPicPr>
          <p:cNvPr id="19" name="Graphic 18" descr="Sad face outline with solid fill">
            <a:extLst>
              <a:ext uri="{FF2B5EF4-FFF2-40B4-BE49-F238E27FC236}">
                <a16:creationId xmlns:a16="http://schemas.microsoft.com/office/drawing/2014/main" id="{8F950688-A946-118D-B4C0-A40AD332F3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0320" y="5076793"/>
            <a:ext cx="914400" cy="914400"/>
          </a:xfrm>
          <a:prstGeom prst="rect">
            <a:avLst/>
          </a:prstGeom>
        </p:spPr>
      </p:pic>
      <p:pic>
        <p:nvPicPr>
          <p:cNvPr id="22" name="Graphic 21" descr="Sad face outline with solid fill">
            <a:extLst>
              <a:ext uri="{FF2B5EF4-FFF2-40B4-BE49-F238E27FC236}">
                <a16:creationId xmlns:a16="http://schemas.microsoft.com/office/drawing/2014/main" id="{B95BF688-9EAC-3FC9-6C96-507B3EEF8B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04776" y="504236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065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595168C6-3007-3FFA-DD9C-C974395B7E8E}"/>
              </a:ext>
            </a:extLst>
          </p:cNvPr>
          <p:cNvGrpSpPr/>
          <p:nvPr/>
        </p:nvGrpSpPr>
        <p:grpSpPr>
          <a:xfrm>
            <a:off x="4563698" y="4028000"/>
            <a:ext cx="5250150" cy="1521939"/>
            <a:chOff x="4563698" y="4028000"/>
            <a:chExt cx="5250150" cy="1521939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D645D04-4798-6A45-4A1F-4CEA9FAF8C34}"/>
                </a:ext>
              </a:extLst>
            </p:cNvPr>
            <p:cNvCxnSpPr>
              <a:cxnSpLocks/>
            </p:cNvCxnSpPr>
            <p:nvPr/>
          </p:nvCxnSpPr>
          <p:spPr>
            <a:xfrm>
              <a:off x="4563698" y="4028000"/>
              <a:ext cx="2385137" cy="12653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4C9D050-20F4-8A63-8E9A-7187381D68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24218" y="5317613"/>
              <a:ext cx="2089630" cy="173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1AD1B93-0428-CDA0-C447-3D0C5C1101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3742" y="5072713"/>
              <a:ext cx="493767" cy="2038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FA917B3F-BDDF-028C-B1A4-AF9AEA09C591}"/>
                    </a:ext>
                  </a:extLst>
                </p:cNvPr>
                <p:cNvSpPr txBox="1"/>
                <p:nvPr/>
              </p:nvSpPr>
              <p:spPr>
                <a:xfrm>
                  <a:off x="6523079" y="5211385"/>
                  <a:ext cx="1398789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FA917B3F-BDDF-028C-B1A4-AF9AEA09C5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3079" y="5211385"/>
                  <a:ext cx="1398789" cy="338554"/>
                </a:xfrm>
                <a:prstGeom prst="rect">
                  <a:avLst/>
                </a:prstGeom>
                <a:blipFill>
                  <a:blip r:embed="rId3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Locally Valid and Discriminative PI (LVD)</a:t>
            </a:r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15B671-AB3B-E656-A1BC-051BC9E57035}"/>
                  </a:ext>
                </a:extLst>
              </p:cNvPr>
              <p:cNvSpPr>
                <a:spLocks noGrp="1"/>
              </p:cNvSpPr>
              <p:nvPr>
                <p:ph type="body" sz="quarter" idx="21"/>
              </p:nvPr>
            </p:nvSpPr>
            <p:spPr>
              <a:xfrm>
                <a:off x="654229" y="1467624"/>
                <a:ext cx="10515952" cy="1443136"/>
              </a:xfrm>
            </p:spPr>
            <p:txBody>
              <a:bodyPr>
                <a:noAutofit/>
              </a:bodyPr>
              <a:lstStyle/>
              <a:p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As conditional validity is impossible [1], we seek local validity [2]:</a:t>
                </a:r>
              </a:p>
              <a:p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Valid for a random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 that is </a:t>
                </a:r>
                <a:r>
                  <a:rPr lang="en-US" sz="1600" b="1">
                    <a:latin typeface="Arial" panose="020B0604020202020204" pitchFamily="34" charset="0"/>
                    <a:cs typeface="Arial" panose="020B0604020202020204" pitchFamily="34" charset="0"/>
                  </a:rPr>
                  <a:t>similar</a:t>
                </a: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1"/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Achieved by t</a:t>
                </a:r>
                <a:r>
                  <a:rPr lang="en-US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 following construction (</a:t>
                </a:r>
                <a:r>
                  <a:rPr lang="en-US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hlinkClick r:id="rId4" action="ppaction://hlinksldjump"/>
                  </a:rPr>
                  <a:t>theorem</a:t>
                </a:r>
                <a:r>
                  <a:rPr lang="en-US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</a:p>
              <a:p>
                <a:pPr marL="0" indent="0">
                  <a:buNone/>
                </a:pPr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</a:p>
              <a:p>
                <a:pPr marL="0" indent="0">
                  <a:buNone/>
                </a:pPr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15B671-AB3B-E656-A1BC-051BC9E570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1"/>
              </p:nvPr>
            </p:nvSpPr>
            <p:spPr>
              <a:xfrm>
                <a:off x="654229" y="1467624"/>
                <a:ext cx="10515952" cy="1443136"/>
              </a:xfrm>
              <a:blipFill>
                <a:blip r:embed="rId5"/>
                <a:stretch>
                  <a:fillRect l="-348" t="-2542"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DAF9EAE6-FC88-206F-4160-945B683BACED}"/>
              </a:ext>
            </a:extLst>
          </p:cNvPr>
          <p:cNvSpPr/>
          <p:nvPr/>
        </p:nvSpPr>
        <p:spPr>
          <a:xfrm>
            <a:off x="366566" y="3552031"/>
            <a:ext cx="1369586" cy="708962"/>
          </a:xfrm>
          <a:prstGeom prst="round2SameRect">
            <a:avLst/>
          </a:prstGeom>
          <a:solidFill>
            <a:schemeClr val="accent4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Proper training </a:t>
            </a:r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73DD95BB-0B5E-CF3A-B8D9-4E2434548942}"/>
              </a:ext>
            </a:extLst>
          </p:cNvPr>
          <p:cNvSpPr/>
          <p:nvPr/>
        </p:nvSpPr>
        <p:spPr>
          <a:xfrm>
            <a:off x="366566" y="4259086"/>
            <a:ext cx="1369586" cy="708962"/>
          </a:xfrm>
          <a:prstGeom prst="round2SameRect">
            <a:avLst>
              <a:gd name="adj1" fmla="val 0"/>
              <a:gd name="adj2" fmla="val 23295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Calibration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E86C012-AA45-29C2-D5E3-562C9984C801}"/>
              </a:ext>
            </a:extLst>
          </p:cNvPr>
          <p:cNvGrpSpPr/>
          <p:nvPr/>
        </p:nvGrpSpPr>
        <p:grpSpPr>
          <a:xfrm>
            <a:off x="1881167" y="3670327"/>
            <a:ext cx="1028336" cy="472369"/>
            <a:chOff x="1881167" y="3670327"/>
            <a:chExt cx="1028336" cy="472369"/>
          </a:xfrm>
        </p:grpSpPr>
        <p:pic>
          <p:nvPicPr>
            <p:cNvPr id="34" name="Picture 4" descr="A logo representing a machine learning algorithm that is simplistic and less ornamental">
              <a:extLst>
                <a:ext uri="{FF2B5EF4-FFF2-40B4-BE49-F238E27FC236}">
                  <a16:creationId xmlns:a16="http://schemas.microsoft.com/office/drawing/2014/main" id="{4A0AD51D-DA4A-47D1-25BB-ED61916285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8887" b="91309" l="8887" r="90430">
                          <a14:foregroundMark x1="49316" y1="8887" x2="49316" y2="8887"/>
                          <a14:foregroundMark x1="36816" y1="16992" x2="36816" y2="16992"/>
                          <a14:foregroundMark x1="61719" y1="84766" x2="61719" y2="84766"/>
                          <a14:foregroundMark x1="90527" y1="49219" x2="90527" y2="49219"/>
                          <a14:foregroundMark x1="8887" y1="49707" x2="8887" y2="49707"/>
                          <a14:foregroundMark x1="50586" y1="91309" x2="50586" y2="91309"/>
                          <a14:backgroundMark x1="24707" y1="24316" x2="24707" y2="24316"/>
                          <a14:backgroundMark x1="75293" y1="24316" x2="75293" y2="24316"/>
                          <a14:backgroundMark x1="75977" y1="75293" x2="75977" y2="75293"/>
                          <a14:backgroundMark x1="24707" y1="75586" x2="24707" y2="7558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4356" y="3670327"/>
              <a:ext cx="472369" cy="472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CBFE6E7E-6C16-3597-AAC6-34D67B555055}"/>
                    </a:ext>
                  </a:extLst>
                </p:cNvPr>
                <p:cNvSpPr txBox="1"/>
                <p:nvPr/>
              </p:nvSpPr>
              <p:spPr>
                <a:xfrm flipH="1">
                  <a:off x="2723946" y="3714054"/>
                  <a:ext cx="185557" cy="3849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CBFE6E7E-6C16-3597-AAC6-34D67B5550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723946" y="3714054"/>
                  <a:ext cx="185557" cy="384914"/>
                </a:xfrm>
                <a:prstGeom prst="rect">
                  <a:avLst/>
                </a:prstGeom>
                <a:blipFill>
                  <a:blip r:embed="rId8"/>
                  <a:stretch>
                    <a:fillRect l="-10000" t="-7937" r="-80000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4C8348E-F741-07B9-0F1E-3459AB345A09}"/>
                </a:ext>
              </a:extLst>
            </p:cNvPr>
            <p:cNvCxnSpPr/>
            <p:nvPr/>
          </p:nvCxnSpPr>
          <p:spPr>
            <a:xfrm>
              <a:off x="1881167" y="3906511"/>
              <a:ext cx="4631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182A2BF-EA58-3520-BAC5-5B762AFB4EB9}"/>
              </a:ext>
            </a:extLst>
          </p:cNvPr>
          <p:cNvGrpSpPr/>
          <p:nvPr/>
        </p:nvGrpSpPr>
        <p:grpSpPr>
          <a:xfrm>
            <a:off x="3047736" y="3699552"/>
            <a:ext cx="2571593" cy="352469"/>
            <a:chOff x="3047736" y="3699552"/>
            <a:chExt cx="2571593" cy="352469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0F05CEB-BDB2-54C6-F386-78186DB3A1CD}"/>
                </a:ext>
              </a:extLst>
            </p:cNvPr>
            <p:cNvCxnSpPr>
              <a:cxnSpLocks/>
            </p:cNvCxnSpPr>
            <p:nvPr/>
          </p:nvCxnSpPr>
          <p:spPr>
            <a:xfrm>
              <a:off x="3047736" y="3906921"/>
              <a:ext cx="5278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0BE39DE-7740-7E24-5FD9-578BE96E0443}"/>
                    </a:ext>
                  </a:extLst>
                </p:cNvPr>
                <p:cNvSpPr txBox="1"/>
                <p:nvPr/>
              </p:nvSpPr>
              <p:spPr>
                <a:xfrm flipH="1">
                  <a:off x="3547254" y="3699552"/>
                  <a:ext cx="2072075" cy="35246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(⋅,⋅)</m:t>
                      </m:r>
                    </m:oMath>
                  </a14:m>
                  <a:r>
                    <a:rPr lang="en-US" sz="1600"/>
                    <a:t>(e.g.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160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n-US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)|)</m:t>
                      </m:r>
                    </m:oMath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0BE39DE-7740-7E24-5FD9-578BE96E04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547254" y="3699552"/>
                  <a:ext cx="2072075" cy="352469"/>
                </a:xfrm>
                <a:prstGeom prst="rect">
                  <a:avLst/>
                </a:prstGeom>
                <a:blipFill>
                  <a:blip r:embed="rId9"/>
                  <a:stretch>
                    <a:fillRect b="-224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596AF6D0-C3B6-16D9-FCB2-2B60F48D47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9026" y="1907981"/>
            <a:ext cx="4734586" cy="3905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29F3BA-0A62-91E1-61D6-60B1E909B574}"/>
              </a:ext>
            </a:extLst>
          </p:cNvPr>
          <p:cNvSpPr txBox="1"/>
          <p:nvPr/>
        </p:nvSpPr>
        <p:spPr>
          <a:xfrm>
            <a:off x="360295" y="5838566"/>
            <a:ext cx="92736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[1] Vovk, Vladimir. "Conditional validity of inductive conformal predictors." In Asian conference on machine learning, pp. 475-490. PMLR, 2012.</a:t>
            </a:r>
          </a:p>
          <a:p>
            <a:r>
              <a:rPr lang="en-US" sz="1200"/>
              <a:t>[2] Guan, </a:t>
            </a:r>
            <a:r>
              <a:rPr lang="en-US" sz="1200" err="1"/>
              <a:t>Leying</a:t>
            </a:r>
            <a:r>
              <a:rPr lang="en-US" sz="1200"/>
              <a:t>. "Conformal prediction with localization." </a:t>
            </a:r>
            <a:r>
              <a:rPr lang="en-US" sz="1200" err="1"/>
              <a:t>arXiv</a:t>
            </a:r>
            <a:r>
              <a:rPr lang="en-US" sz="1200"/>
              <a:t> preprint arXiv:1908.08558 (2019).</a:t>
            </a:r>
          </a:p>
          <a:p>
            <a:endParaRPr lang="en-US" sz="12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46CAF18-D4AD-D7C1-FCEA-5E2FF89A4EBF}"/>
              </a:ext>
            </a:extLst>
          </p:cNvPr>
          <p:cNvGrpSpPr/>
          <p:nvPr/>
        </p:nvGrpSpPr>
        <p:grpSpPr>
          <a:xfrm>
            <a:off x="9898742" y="4961345"/>
            <a:ext cx="528958" cy="664045"/>
            <a:chOff x="818219" y="5289652"/>
            <a:chExt cx="528958" cy="664045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6DB889C-D79E-B00E-D78E-A3ED5F1EA1B7}"/>
                </a:ext>
              </a:extLst>
            </p:cNvPr>
            <p:cNvGrpSpPr/>
            <p:nvPr/>
          </p:nvGrpSpPr>
          <p:grpSpPr>
            <a:xfrm>
              <a:off x="912386" y="5289652"/>
              <a:ext cx="277945" cy="431563"/>
              <a:chOff x="2610270" y="4646251"/>
              <a:chExt cx="277945" cy="431563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7A0E7F42-2023-1F9E-5ED2-123382A58167}"/>
                  </a:ext>
                </a:extLst>
              </p:cNvPr>
              <p:cNvSpPr/>
              <p:nvPr/>
            </p:nvSpPr>
            <p:spPr>
              <a:xfrm>
                <a:off x="2630411" y="4646251"/>
                <a:ext cx="241691" cy="237663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: Top Corners Rounded 23">
                <a:extLst>
                  <a:ext uri="{FF2B5EF4-FFF2-40B4-BE49-F238E27FC236}">
                    <a16:creationId xmlns:a16="http://schemas.microsoft.com/office/drawing/2014/main" id="{F31B63F3-760F-1D5D-F52D-CCB0947692A3}"/>
                  </a:ext>
                </a:extLst>
              </p:cNvPr>
              <p:cNvSpPr/>
              <p:nvPr/>
            </p:nvSpPr>
            <p:spPr>
              <a:xfrm>
                <a:off x="2610270" y="4903755"/>
                <a:ext cx="277945" cy="17405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4468C42-DCE4-00F2-1213-0D208DD35AD0}"/>
                    </a:ext>
                  </a:extLst>
                </p:cNvPr>
                <p:cNvSpPr txBox="1"/>
                <p:nvPr/>
              </p:nvSpPr>
              <p:spPr>
                <a:xfrm>
                  <a:off x="818219" y="5645920"/>
                  <a:ext cx="52895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sz="140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4468C42-DCE4-00F2-1213-0D208DD35A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219" y="5645920"/>
                  <a:ext cx="528958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31E9101-E0DC-7FDB-6B59-AFFF447667F4}"/>
              </a:ext>
            </a:extLst>
          </p:cNvPr>
          <p:cNvGrpSpPr/>
          <p:nvPr/>
        </p:nvGrpSpPr>
        <p:grpSpPr>
          <a:xfrm>
            <a:off x="1881167" y="3660570"/>
            <a:ext cx="7393955" cy="1032483"/>
            <a:chOff x="1881167" y="3660570"/>
            <a:chExt cx="7393955" cy="1032483"/>
          </a:xfrm>
        </p:grpSpPr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F8CB6DE1-F991-054C-C0F4-4B02F104A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452098" y="3660570"/>
              <a:ext cx="1469770" cy="1032483"/>
            </a:xfrm>
            <a:prstGeom prst="rect">
              <a:avLst/>
            </a:prstGeom>
          </p:spPr>
        </p:pic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105FB65-EE2C-815D-0124-3F382545FC76}"/>
                </a:ext>
              </a:extLst>
            </p:cNvPr>
            <p:cNvGrpSpPr/>
            <p:nvPr/>
          </p:nvGrpSpPr>
          <p:grpSpPr>
            <a:xfrm>
              <a:off x="1881167" y="3875786"/>
              <a:ext cx="7393955" cy="612769"/>
              <a:chOff x="1881167" y="3875786"/>
              <a:chExt cx="7393955" cy="612769"/>
            </a:xfrm>
          </p:grpSpPr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16E7EFA1-0E4E-5AE0-1D0B-C31A90596E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1167" y="4488555"/>
                <a:ext cx="456815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5D14CC69-9B00-BF98-64DF-BD9034A3B3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45242" y="3875786"/>
                <a:ext cx="1004075" cy="1104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14F35985-0535-700E-75EE-0E5A3458D658}"/>
                      </a:ext>
                    </a:extLst>
                  </p:cNvPr>
                  <p:cNvSpPr txBox="1"/>
                  <p:nvPr/>
                </p:nvSpPr>
                <p:spPr>
                  <a:xfrm>
                    <a:off x="7529890" y="3910897"/>
                    <a:ext cx="174523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14F35985-0535-700E-75EE-0E5A3458D6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29890" y="3910897"/>
                    <a:ext cx="1745232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2CD2EB3-3AE9-D7D4-DDD7-909E77B79989}"/>
              </a:ext>
            </a:extLst>
          </p:cNvPr>
          <p:cNvGrpSpPr/>
          <p:nvPr/>
        </p:nvGrpSpPr>
        <p:grpSpPr>
          <a:xfrm>
            <a:off x="1835611" y="3140655"/>
            <a:ext cx="6352985" cy="565074"/>
            <a:chOff x="1835611" y="3140655"/>
            <a:chExt cx="6352985" cy="5650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6E83535-943C-8593-7ACA-7AED44C958EB}"/>
                    </a:ext>
                  </a:extLst>
                </p:cNvPr>
                <p:cNvSpPr txBox="1"/>
                <p:nvPr/>
              </p:nvSpPr>
              <p:spPr>
                <a:xfrm>
                  <a:off x="2552258" y="3140655"/>
                  <a:ext cx="5636338" cy="3955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800">
                      <a:hlinkClick r:id="rId14" action="ppaction://hlinksldjump"/>
                    </a:rPr>
                    <a:t>Trained</a:t>
                  </a:r>
                  <a:r>
                    <a:rPr lang="en-US" sz="1800"/>
                    <a:t> kernel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</m:oMath>
                  </a14:m>
                  <a:r>
                    <a:rPr lang="en-US"/>
                    <a:t>    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6E83535-943C-8593-7ACA-7AED44C958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52258" y="3140655"/>
                  <a:ext cx="5636338" cy="395558"/>
                </a:xfrm>
                <a:prstGeom prst="rect">
                  <a:avLst/>
                </a:prstGeom>
                <a:blipFill>
                  <a:blip r:embed="rId15"/>
                  <a:stretch>
                    <a:fillRect l="-974" t="-6154" b="-18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248B31E-362D-236B-F484-B22D5BA0EE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5611" y="3327350"/>
              <a:ext cx="742433" cy="378379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3AD60D3-9CFB-E39C-A872-D77E79F169E2}"/>
                </a:ext>
              </a:extLst>
            </p:cNvPr>
            <p:cNvCxnSpPr>
              <a:cxnSpLocks/>
            </p:cNvCxnSpPr>
            <p:nvPr/>
          </p:nvCxnSpPr>
          <p:spPr>
            <a:xfrm>
              <a:off x="4441594" y="3338434"/>
              <a:ext cx="244207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73521DA-32F6-FE50-6D61-496269DE9EAC}"/>
              </a:ext>
            </a:extLst>
          </p:cNvPr>
          <p:cNvGrpSpPr/>
          <p:nvPr/>
        </p:nvGrpSpPr>
        <p:grpSpPr>
          <a:xfrm>
            <a:off x="1882258" y="3343060"/>
            <a:ext cx="7381382" cy="1401808"/>
            <a:chOff x="1881167" y="3343887"/>
            <a:chExt cx="7381382" cy="1401808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18573F06-16AE-6DE3-76C2-619E30414F7F}"/>
                </a:ext>
              </a:extLst>
            </p:cNvPr>
            <p:cNvGrpSpPr/>
            <p:nvPr/>
          </p:nvGrpSpPr>
          <p:grpSpPr>
            <a:xfrm>
              <a:off x="1881167" y="3639345"/>
              <a:ext cx="7381382" cy="1106350"/>
              <a:chOff x="1881167" y="3639345"/>
              <a:chExt cx="7381382" cy="1106350"/>
            </a:xfrm>
          </p:grpSpPr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D9AFC78E-140D-2EA6-DD3F-1E1D38090A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452100" y="3639345"/>
                <a:ext cx="1469768" cy="1035519"/>
              </a:xfrm>
              <a:prstGeom prst="rect">
                <a:avLst/>
              </a:prstGeom>
            </p:spPr>
          </p:pic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C7D362CA-FABF-5910-C95B-BCCB33E7D9DE}"/>
                  </a:ext>
                </a:extLst>
              </p:cNvPr>
              <p:cNvGrpSpPr/>
              <p:nvPr/>
            </p:nvGrpSpPr>
            <p:grpSpPr>
              <a:xfrm>
                <a:off x="1881167" y="3822365"/>
                <a:ext cx="7381382" cy="923330"/>
                <a:chOff x="1881167" y="3822365"/>
                <a:chExt cx="7381382" cy="923330"/>
              </a:xfrm>
            </p:grpSpPr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73CD3BCC-21E5-DF6A-C840-36179CCA89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81167" y="4488555"/>
                  <a:ext cx="4568150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E0CD5B5F-70C6-92A8-CE2B-1A916FD9B6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45242" y="3875786"/>
                  <a:ext cx="1004075" cy="1104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E076E4B3-11B2-864F-F1A2-FDF07BACC26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17317" y="3822365"/>
                      <a:ext cx="1745232" cy="92333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en-US" sz="18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oMath>
                        </m:oMathPara>
                      </a14:m>
                      <a:endParaRPr lang="en-US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18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oMath>
                        </m:oMathPara>
                      </a14:m>
                      <a:endParaRPr lang="en-US"/>
                    </a:p>
                    <a:p>
                      <a:endParaRPr lang="en-US"/>
                    </a:p>
                  </p:txBody>
                </p:sp>
              </mc:Choice>
              <mc:Fallback xmlns="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E076E4B3-11B2-864F-F1A2-FDF07BACC26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17317" y="3822365"/>
                      <a:ext cx="1745232" cy="923330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D66070C7-04DB-6536-DF40-7692486FDA52}"/>
                </a:ext>
              </a:extLst>
            </p:cNvPr>
            <p:cNvCxnSpPr>
              <a:cxnSpLocks/>
            </p:cNvCxnSpPr>
            <p:nvPr/>
          </p:nvCxnSpPr>
          <p:spPr>
            <a:xfrm>
              <a:off x="6327213" y="3343887"/>
              <a:ext cx="1469768" cy="270457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AE8A4D8-30C2-FAED-81F6-C1B4FF348336}"/>
              </a:ext>
            </a:extLst>
          </p:cNvPr>
          <p:cNvGrpSpPr/>
          <p:nvPr/>
        </p:nvGrpSpPr>
        <p:grpSpPr>
          <a:xfrm>
            <a:off x="6984109" y="3614344"/>
            <a:ext cx="1369503" cy="1382111"/>
            <a:chOff x="6892947" y="3701890"/>
            <a:chExt cx="1369503" cy="1382111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462C22C-542D-5818-EC36-0BE37BDDB261}"/>
                </a:ext>
              </a:extLst>
            </p:cNvPr>
            <p:cNvCxnSpPr>
              <a:cxnSpLocks/>
            </p:cNvCxnSpPr>
            <p:nvPr/>
          </p:nvCxnSpPr>
          <p:spPr>
            <a:xfrm>
              <a:off x="7620642" y="3701890"/>
              <a:ext cx="0" cy="1078538"/>
            </a:xfrm>
            <a:prstGeom prst="line">
              <a:avLst/>
            </a:prstGeom>
            <a:ln w="19050"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16108FE7-842C-B754-79E3-9A3EAB9FBD06}"/>
                    </a:ext>
                  </a:extLst>
                </p:cNvPr>
                <p:cNvSpPr txBox="1"/>
                <p:nvPr/>
              </p:nvSpPr>
              <p:spPr>
                <a:xfrm>
                  <a:off x="6892947" y="4745447"/>
                  <a:ext cx="1369503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0"/>
                    <a:t>Weighted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16108FE7-842C-B754-79E3-9A3EAB9FBD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2947" y="4745447"/>
                  <a:ext cx="1369503" cy="338554"/>
                </a:xfrm>
                <a:prstGeom prst="rect">
                  <a:avLst/>
                </a:prstGeom>
                <a:blipFill>
                  <a:blip r:embed="rId18"/>
                  <a:stretch>
                    <a:fillRect l="-2679" t="-5357" r="-893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F9328EB-68DE-17A9-A45B-62C66A691B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81FA20-EBC6-D689-E1DB-D37BE63480FA}"/>
              </a:ext>
            </a:extLst>
          </p:cNvPr>
          <p:cNvGrpSpPr/>
          <p:nvPr/>
        </p:nvGrpSpPr>
        <p:grpSpPr>
          <a:xfrm>
            <a:off x="175581" y="6288458"/>
            <a:ext cx="10742356" cy="481701"/>
            <a:chOff x="175581" y="6288458"/>
            <a:chExt cx="10742356" cy="48170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53864BA-A3EF-AE0B-D13A-D569F7149429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3FF0A7-8C62-4625-62EB-5F2F63A0901F}"/>
                </a:ext>
              </a:extLst>
            </p:cNvPr>
            <p:cNvSpPr/>
            <p:nvPr/>
          </p:nvSpPr>
          <p:spPr>
            <a:xfrm>
              <a:off x="2030891" y="6288743"/>
              <a:ext cx="5175504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Interval: </a:t>
              </a:r>
            </a:p>
            <a:p>
              <a:pPr algn="ctr"/>
              <a:r>
                <a:rPr lang="en-US" sz="1600" b="1">
                  <a:solidFill>
                    <a:schemeClr val="tx1"/>
                  </a:solidFill>
                </a:rPr>
                <a:t>LVD(NeurIPS’21)</a:t>
              </a:r>
              <a:r>
                <a:rPr lang="en-US" sz="1600">
                  <a:solidFill>
                    <a:schemeClr val="tx1"/>
                  </a:solidFill>
                </a:rPr>
                <a:t>, TQA (NeurIPS’22), CPTD (TMLR’22)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51802D2-AB47-1FE4-94A5-BD575AD62A95}"/>
                </a:ext>
              </a:extLst>
            </p:cNvPr>
            <p:cNvSpPr/>
            <p:nvPr/>
          </p:nvSpPr>
          <p:spPr>
            <a:xfrm>
              <a:off x="7205473" y="6289564"/>
              <a:ext cx="1856232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4020303-7910-8481-26B2-0B038F9A965B}"/>
                </a:ext>
              </a:extLst>
            </p:cNvPr>
            <p:cNvSpPr/>
            <p:nvPr/>
          </p:nvSpPr>
          <p:spPr>
            <a:xfrm>
              <a:off x="9061705" y="6288458"/>
              <a:ext cx="1856232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NLG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2904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US" sz="2800"/>
              <a:t>LVD Experiment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15B671-AB3B-E656-A1BC-051BC9E57035}"/>
                  </a:ext>
                </a:extLst>
              </p:cNvPr>
              <p:cNvSpPr>
                <a:spLocks noGrp="1"/>
              </p:cNvSpPr>
              <p:nvPr>
                <p:ph type="body" sz="quarter" idx="21"/>
              </p:nvPr>
            </p:nvSpPr>
            <p:spPr>
              <a:xfrm>
                <a:off x="654229" y="1467624"/>
                <a:ext cx="10515952" cy="1443136"/>
              </a:xfrm>
            </p:spPr>
            <p:txBody>
              <a:bodyPr>
                <a:noAutofit/>
              </a:bodyPr>
              <a:lstStyle/>
              <a:p>
                <a:r>
                  <a:rPr lang="en-US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LVD improves conditional coverage/validity: </a:t>
                </a:r>
              </a:p>
              <a:p>
                <a:pPr lvl="1"/>
                <a:r>
                  <a:rPr lang="en-US">
                    <a:latin typeface="Arial" panose="020B0604020202020204" pitchFamily="34" charset="0"/>
                    <a:cs typeface="Arial" panose="020B0604020202020204" pitchFamily="34" charset="0"/>
                  </a:rPr>
                  <a:t>Tail Coverage Rate: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𝑐𝑜𝑣𝑒𝑟𝑒𝑑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𝑏𝑜𝑡𝑡𝑜𝑚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10%)</m:t>
                    </m:r>
                  </m:oMath>
                </a14:m>
                <a:endParaRPr lang="en-US"/>
              </a:p>
              <a:p>
                <a:r>
                  <a:rPr lang="en-US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LVD is also </a:t>
                </a:r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  <a:hlinkClick r:id="rId3" action="ppaction://hlinksldjump"/>
                  </a:rPr>
                  <a:t>discriminative</a:t>
                </a:r>
                <a:endParaRPr 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15B671-AB3B-E656-A1BC-051BC9E570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1"/>
              </p:nvPr>
            </p:nvSpPr>
            <p:spPr>
              <a:xfrm>
                <a:off x="654229" y="1467624"/>
                <a:ext cx="10515952" cy="1443136"/>
              </a:xfrm>
              <a:blipFill>
                <a:blip r:embed="rId4"/>
                <a:stretch>
                  <a:fillRect l="-754" t="-2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3BD362-F315-2C10-7CA2-60ECAE527A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7155" y="3259255"/>
            <a:ext cx="8805328" cy="216914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F51242C-A03D-0E63-980C-AD57D5EB5D6C}"/>
              </a:ext>
            </a:extLst>
          </p:cNvPr>
          <p:cNvSpPr/>
          <p:nvPr/>
        </p:nvSpPr>
        <p:spPr>
          <a:xfrm>
            <a:off x="2030891" y="3119502"/>
            <a:ext cx="996977" cy="24167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F47007-058B-59C4-DCFD-88D79900A2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873D944-316B-77AD-A060-965B162B4436}"/>
              </a:ext>
            </a:extLst>
          </p:cNvPr>
          <p:cNvGrpSpPr/>
          <p:nvPr/>
        </p:nvGrpSpPr>
        <p:grpSpPr>
          <a:xfrm>
            <a:off x="175581" y="6288458"/>
            <a:ext cx="10742356" cy="481701"/>
            <a:chOff x="175581" y="6288458"/>
            <a:chExt cx="10742356" cy="48170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6C6C4B5-E7F8-5D6C-DC86-5AF421174C15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28D9316-198F-CAE2-0F91-474FA34C273F}"/>
                </a:ext>
              </a:extLst>
            </p:cNvPr>
            <p:cNvSpPr/>
            <p:nvPr/>
          </p:nvSpPr>
          <p:spPr>
            <a:xfrm>
              <a:off x="2030891" y="6288743"/>
              <a:ext cx="5175504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Interval: </a:t>
              </a:r>
            </a:p>
            <a:p>
              <a:pPr algn="ctr"/>
              <a:r>
                <a:rPr lang="en-US" sz="1600" b="1">
                  <a:solidFill>
                    <a:schemeClr val="tx1"/>
                  </a:solidFill>
                </a:rPr>
                <a:t>LVD(NeurIPS’21)</a:t>
              </a:r>
              <a:r>
                <a:rPr lang="en-US" sz="1600">
                  <a:solidFill>
                    <a:schemeClr val="tx1"/>
                  </a:solidFill>
                </a:rPr>
                <a:t>, TQA (NeurIPS’22), CPTD (TMLR’22)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42ABBEB-DC2F-5CDE-16D3-19A198560F6E}"/>
                </a:ext>
              </a:extLst>
            </p:cNvPr>
            <p:cNvSpPr/>
            <p:nvPr/>
          </p:nvSpPr>
          <p:spPr>
            <a:xfrm>
              <a:off x="7205473" y="6289564"/>
              <a:ext cx="1856232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FC346A4-3F21-6A99-4C98-984F4B388CBB}"/>
                </a:ext>
              </a:extLst>
            </p:cNvPr>
            <p:cNvSpPr/>
            <p:nvPr/>
          </p:nvSpPr>
          <p:spPr>
            <a:xfrm>
              <a:off x="9061705" y="6288458"/>
              <a:ext cx="1856232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NLG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2042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PI for Cross-sectional Time Series</a:t>
            </a:r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15B671-AB3B-E656-A1BC-051BC9E57035}"/>
                  </a:ext>
                </a:extLst>
              </p:cNvPr>
              <p:cNvSpPr>
                <a:spLocks noGrp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10515952" cy="4250131"/>
              </a:xfrm>
            </p:spPr>
            <p:txBody>
              <a:bodyPr>
                <a:noAutofit/>
              </a:bodyPr>
              <a:lstStyle/>
              <a:p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Given </a:t>
                </a:r>
                <a:r>
                  <a:rPr lang="en-US" sz="180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i.i.d.</a:t>
                </a:r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training data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where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a (temporally correlated) time series (TS)</a:t>
                </a:r>
              </a:p>
              <a:p>
                <a:endParaRPr lang="en-US" sz="18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8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Task</a:t>
                </a:r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Given a new 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at time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construct a PI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+1, 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denoted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+1,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15B671-AB3B-E656-A1BC-051BC9E570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10515952" cy="4250131"/>
              </a:xfrm>
              <a:blipFill>
                <a:blip r:embed="rId3"/>
                <a:stretch>
                  <a:fillRect l="-348" t="-5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C3175BD-2E92-A78C-BA5C-63C0AF739964}"/>
              </a:ext>
            </a:extLst>
          </p:cNvPr>
          <p:cNvGrpSpPr/>
          <p:nvPr/>
        </p:nvGrpSpPr>
        <p:grpSpPr>
          <a:xfrm>
            <a:off x="2113213" y="4898739"/>
            <a:ext cx="1031845" cy="1084277"/>
            <a:chOff x="914401" y="2531377"/>
            <a:chExt cx="1031845" cy="108427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BC5A84-DEEB-4223-F5C3-74D0F6A2BAE4}"/>
                </a:ext>
              </a:extLst>
            </p:cNvPr>
            <p:cNvSpPr/>
            <p:nvPr/>
          </p:nvSpPr>
          <p:spPr>
            <a:xfrm>
              <a:off x="914401" y="2531377"/>
              <a:ext cx="1031845" cy="10842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  <a:p>
              <a:pPr algn="ctr"/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Patient Data</a:t>
              </a:r>
            </a:p>
          </p:txBody>
        </p:sp>
        <p:sp>
          <p:nvSpPr>
            <p:cNvPr id="11" name="Plus Sign 10">
              <a:extLst>
                <a:ext uri="{FF2B5EF4-FFF2-40B4-BE49-F238E27FC236}">
                  <a16:creationId xmlns:a16="http://schemas.microsoft.com/office/drawing/2014/main" id="{57049188-398A-B2EE-184B-F41F9D3F61A9}"/>
                </a:ext>
              </a:extLst>
            </p:cNvPr>
            <p:cNvSpPr/>
            <p:nvPr/>
          </p:nvSpPr>
          <p:spPr>
            <a:xfrm>
              <a:off x="1129688" y="2531378"/>
              <a:ext cx="629174" cy="587230"/>
            </a:xfrm>
            <a:prstGeom prst="mathPlus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309C083-BEF7-FDCD-E08E-7C353E79757C}"/>
              </a:ext>
            </a:extLst>
          </p:cNvPr>
          <p:cNvGrpSpPr/>
          <p:nvPr/>
        </p:nvGrpSpPr>
        <p:grpSpPr>
          <a:xfrm>
            <a:off x="1252882" y="3241796"/>
            <a:ext cx="2634398" cy="1522593"/>
            <a:chOff x="74324" y="2359383"/>
            <a:chExt cx="2969804" cy="1575151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ED9675C-37AB-73BE-7ADB-1CDE197B6848}"/>
                </a:ext>
              </a:extLst>
            </p:cNvPr>
            <p:cNvGrpSpPr/>
            <p:nvPr/>
          </p:nvGrpSpPr>
          <p:grpSpPr>
            <a:xfrm>
              <a:off x="789672" y="2359383"/>
              <a:ext cx="2254456" cy="319687"/>
              <a:chOff x="6291877" y="3817490"/>
              <a:chExt cx="1472949" cy="319687"/>
            </a:xfrm>
          </p:grpSpPr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0F1507D5-52DC-0BD8-321C-4DEEE22AE8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05378" y="4134964"/>
                <a:ext cx="1459448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9DDDE059-BB61-0EE4-A94F-5DCD887036BF}"/>
                      </a:ext>
                    </a:extLst>
                  </p:cNvPr>
                  <p:cNvSpPr txBox="1"/>
                  <p:nvPr/>
                </p:nvSpPr>
                <p:spPr>
                  <a:xfrm>
                    <a:off x="6291877" y="3817490"/>
                    <a:ext cx="1349131" cy="3196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a14:m>
                    <a:r>
                      <a:rPr lang="en-US" sz="1400"/>
                      <a:t> (e.g. days in hospital)</a:t>
                    </a:r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9DDDE059-BB61-0EE4-A94F-5DCD887036B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91877" y="3817490"/>
                    <a:ext cx="1349131" cy="31968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4000" r="-2667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EB76D17-B313-0ABF-E7BC-AF9205F7F5FF}"/>
                </a:ext>
              </a:extLst>
            </p:cNvPr>
            <p:cNvGrpSpPr/>
            <p:nvPr/>
          </p:nvGrpSpPr>
          <p:grpSpPr>
            <a:xfrm>
              <a:off x="74324" y="2585347"/>
              <a:ext cx="795917" cy="1349187"/>
              <a:chOff x="5521045" y="1229437"/>
              <a:chExt cx="795917" cy="1349187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48ABD18-56AF-3B33-5AA3-4CDD5DD8F6A8}"/>
                  </a:ext>
                </a:extLst>
              </p:cNvPr>
              <p:cNvSpPr txBox="1"/>
              <p:nvPr/>
            </p:nvSpPr>
            <p:spPr>
              <a:xfrm>
                <a:off x="5521045" y="1229437"/>
                <a:ext cx="795917" cy="3196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/>
                  <a:t>patient</a:t>
                </a:r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93390F3B-5C8C-6416-C3DA-334B831FC5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1986" y="1390161"/>
                <a:ext cx="0" cy="1188463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F5CBE69-6443-8100-CEE0-C244ED6CD1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1103" y="2742618"/>
              <a:ext cx="2119614" cy="109776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04BC1A4-92DD-9953-82E0-FB9BA9BCEC9A}"/>
                  </a:ext>
                </a:extLst>
              </p:cNvPr>
              <p:cNvSpPr txBox="1"/>
              <p:nvPr/>
            </p:nvSpPr>
            <p:spPr>
              <a:xfrm>
                <a:off x="4112822" y="4228864"/>
                <a:ext cx="4602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04BC1A4-92DD-9953-82E0-FB9BA9BCE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2822" y="4228864"/>
                <a:ext cx="460220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>
            <a:extLst>
              <a:ext uri="{FF2B5EF4-FFF2-40B4-BE49-F238E27FC236}">
                <a16:creationId xmlns:a16="http://schemas.microsoft.com/office/drawing/2014/main" id="{AC0C79D9-2944-BC0F-F96E-4A63B40C57E7}"/>
              </a:ext>
            </a:extLst>
          </p:cNvPr>
          <p:cNvSpPr/>
          <p:nvPr/>
        </p:nvSpPr>
        <p:spPr>
          <a:xfrm>
            <a:off x="1933062" y="4424514"/>
            <a:ext cx="1917945" cy="123018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824CD0F-23AF-95A4-2E07-13C72889E938}"/>
              </a:ext>
            </a:extLst>
          </p:cNvPr>
          <p:cNvCxnSpPr>
            <a:cxnSpLocks/>
          </p:cNvCxnSpPr>
          <p:nvPr/>
        </p:nvCxnSpPr>
        <p:spPr>
          <a:xfrm flipV="1">
            <a:off x="3887280" y="4424514"/>
            <a:ext cx="346352" cy="390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24EBAC1-F4BA-79C3-B18A-3ADBE03775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FBB6EE9-10AC-2C26-A88E-D48144B7E984}"/>
              </a:ext>
            </a:extLst>
          </p:cNvPr>
          <p:cNvGrpSpPr/>
          <p:nvPr/>
        </p:nvGrpSpPr>
        <p:grpSpPr>
          <a:xfrm>
            <a:off x="175581" y="6288458"/>
            <a:ext cx="10742356" cy="481701"/>
            <a:chOff x="175581" y="6288458"/>
            <a:chExt cx="10742356" cy="48170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2FDD9FA-CDBE-684E-83F0-446500F39BE9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755EBA4-51C5-04DE-FCEC-1A404A308ED5}"/>
                </a:ext>
              </a:extLst>
            </p:cNvPr>
            <p:cNvSpPr/>
            <p:nvPr/>
          </p:nvSpPr>
          <p:spPr>
            <a:xfrm>
              <a:off x="2030891" y="6288743"/>
              <a:ext cx="5175504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Interval: </a:t>
              </a:r>
            </a:p>
            <a:p>
              <a:pPr algn="ctr"/>
              <a:r>
                <a:rPr lang="en-US" sz="1600">
                  <a:solidFill>
                    <a:schemeClr val="tx1"/>
                  </a:solidFill>
                </a:rPr>
                <a:t>LVD(NeurIPS’21), </a:t>
              </a:r>
              <a:r>
                <a:rPr lang="en-US" sz="1600" b="1">
                  <a:solidFill>
                    <a:schemeClr val="tx1"/>
                  </a:solidFill>
                </a:rPr>
                <a:t>TQA (NeurIPS’22), CPTD (TMLR’22)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993A0EE-BCCF-7158-D046-8DE59ACD5AE2}"/>
                </a:ext>
              </a:extLst>
            </p:cNvPr>
            <p:cNvSpPr/>
            <p:nvPr/>
          </p:nvSpPr>
          <p:spPr>
            <a:xfrm>
              <a:off x="7205473" y="6289564"/>
              <a:ext cx="1856232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421788-98FC-DAD9-4940-16488BE42553}"/>
                </a:ext>
              </a:extLst>
            </p:cNvPr>
            <p:cNvSpPr/>
            <p:nvPr/>
          </p:nvSpPr>
          <p:spPr>
            <a:xfrm>
              <a:off x="9061705" y="6288458"/>
              <a:ext cx="1856232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NLG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8941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US"/>
              <a:t>Cross-sectional vs Longitudinal Validity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5B671-AB3B-E656-A1BC-051BC9E5703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4229" y="1467623"/>
            <a:ext cx="10515952" cy="4250131"/>
          </a:xfrm>
        </p:spPr>
        <p:txBody>
          <a:bodyPr>
            <a:noAutofit/>
          </a:bodyPr>
          <a:lstStyle/>
          <a:p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Formal definitions in the </a:t>
            </a:r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 action="ppaction://hlinksldjump"/>
              </a:rPr>
              <a:t>appendix</a:t>
            </a:r>
            <a:endPara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Longitudinal validity is impossible to achieve in the same sense as conditional validity (</a:t>
            </a:r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 action="ppaction://hlinksldjump"/>
              </a:rPr>
              <a:t>theorem</a:t>
            </a:r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284B40-07A7-B8C9-CE1B-A0E47FC016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40418" y="2319753"/>
            <a:ext cx="2178161" cy="98465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C3175BD-2E92-A78C-BA5C-63C0AF739964}"/>
              </a:ext>
            </a:extLst>
          </p:cNvPr>
          <p:cNvGrpSpPr/>
          <p:nvPr/>
        </p:nvGrpSpPr>
        <p:grpSpPr>
          <a:xfrm>
            <a:off x="2113213" y="4898739"/>
            <a:ext cx="1031845" cy="1084277"/>
            <a:chOff x="914401" y="2531377"/>
            <a:chExt cx="1031845" cy="108427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BC5A84-DEEB-4223-F5C3-74D0F6A2BAE4}"/>
                </a:ext>
              </a:extLst>
            </p:cNvPr>
            <p:cNvSpPr/>
            <p:nvPr/>
          </p:nvSpPr>
          <p:spPr>
            <a:xfrm>
              <a:off x="914401" y="2531377"/>
              <a:ext cx="1031845" cy="10842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  <a:p>
              <a:pPr algn="ctr"/>
              <a:endParaRPr lang="en-US">
                <a:solidFill>
                  <a:schemeClr val="tx1"/>
                </a:solidFill>
              </a:endParaRP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Patient Data</a:t>
              </a:r>
            </a:p>
          </p:txBody>
        </p:sp>
        <p:sp>
          <p:nvSpPr>
            <p:cNvPr id="11" name="Plus Sign 10">
              <a:extLst>
                <a:ext uri="{FF2B5EF4-FFF2-40B4-BE49-F238E27FC236}">
                  <a16:creationId xmlns:a16="http://schemas.microsoft.com/office/drawing/2014/main" id="{57049188-398A-B2EE-184B-F41F9D3F61A9}"/>
                </a:ext>
              </a:extLst>
            </p:cNvPr>
            <p:cNvSpPr/>
            <p:nvPr/>
          </p:nvSpPr>
          <p:spPr>
            <a:xfrm>
              <a:off x="1129688" y="2531378"/>
              <a:ext cx="629174" cy="587230"/>
            </a:xfrm>
            <a:prstGeom prst="mathPlus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CF97F500-D9DF-2E4F-13B1-51441722F4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4234" y="5390377"/>
            <a:ext cx="1488960" cy="7536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E00AC4C-2926-83D6-AAC2-6B74A719A7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060" b="90448" l="1478" r="96552">
                        <a14:foregroundMark x1="17980" y1="8358" x2="17980" y2="8358"/>
                        <a14:foregroundMark x1="7266" y1="32836" x2="7266" y2="32836"/>
                        <a14:foregroundMark x1="6897" y1="25075" x2="6897" y2="25075"/>
                        <a14:foregroundMark x1="2956" y1="27761" x2="2956" y2="27761"/>
                        <a14:foregroundMark x1="1970" y1="71940" x2="1970" y2="71940"/>
                        <a14:foregroundMark x1="1478" y1="67463" x2="1478" y2="67463"/>
                        <a14:foregroundMark x1="2463" y1="70746" x2="2463" y2="70746"/>
                        <a14:foregroundMark x1="36946" y1="90746" x2="36946" y2="90746"/>
                        <a14:foregroundMark x1="92241" y1="86567" x2="92241" y2="86567"/>
                        <a14:foregroundMark x1="91872" y1="65075" x2="91872" y2="65075"/>
                        <a14:foregroundMark x1="96552" y1="87164" x2="96552" y2="87164"/>
                        <a14:foregroundMark x1="15887" y1="9552" x2="15887" y2="9552"/>
                        <a14:foregroundMark x1="15394" y1="11642" x2="15394" y2="1164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82985" y="3657517"/>
            <a:ext cx="2314053" cy="80261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DBBE608-1BD8-9793-06FE-AEF4B2EF236A}"/>
              </a:ext>
            </a:extLst>
          </p:cNvPr>
          <p:cNvCxnSpPr>
            <a:cxnSpLocks/>
          </p:cNvCxnSpPr>
          <p:nvPr/>
        </p:nvCxnSpPr>
        <p:spPr>
          <a:xfrm>
            <a:off x="6813786" y="2561951"/>
            <a:ext cx="476028" cy="115356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1F6B06E-0665-01E8-EDA0-7D8A33E0FDA6}"/>
              </a:ext>
            </a:extLst>
          </p:cNvPr>
          <p:cNvCxnSpPr>
            <a:cxnSpLocks/>
          </p:cNvCxnSpPr>
          <p:nvPr/>
        </p:nvCxnSpPr>
        <p:spPr>
          <a:xfrm>
            <a:off x="6804921" y="2677307"/>
            <a:ext cx="484893" cy="430412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45CFC3B-A0C2-A263-11D6-DA05193BD72D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6847384" y="4122834"/>
            <a:ext cx="558056" cy="11505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602A81-3FB6-351B-8423-3AAC8F6734BA}"/>
              </a:ext>
            </a:extLst>
          </p:cNvPr>
          <p:cNvCxnSpPr>
            <a:cxnSpLocks/>
          </p:cNvCxnSpPr>
          <p:nvPr/>
        </p:nvCxnSpPr>
        <p:spPr>
          <a:xfrm flipV="1">
            <a:off x="6843377" y="3880344"/>
            <a:ext cx="562063" cy="115302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9189DE4A-FF1B-4ABF-2F25-25CB92C1F66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8382" b="92197" l="1737" r="96030">
                        <a14:foregroundMark x1="22457" y1="36127" x2="22457" y2="36127"/>
                        <a14:foregroundMark x1="21836" y1="35260" x2="21836" y2="35260"/>
                        <a14:foregroundMark x1="22953" y1="33815" x2="22953" y2="33815"/>
                        <a14:foregroundMark x1="7072" y1="50000" x2="7072" y2="50000"/>
                        <a14:foregroundMark x1="1861" y1="37861" x2="1861" y2="37861"/>
                        <a14:foregroundMark x1="3102" y1="30636" x2="3102" y2="30636"/>
                        <a14:foregroundMark x1="17122" y1="90462" x2="17122" y2="90462"/>
                        <a14:foregroundMark x1="37097" y1="91908" x2="37097" y2="91908"/>
                        <a14:foregroundMark x1="47395" y1="77168" x2="47395" y2="77168"/>
                        <a14:foregroundMark x1="73573" y1="8382" x2="73573" y2="8382"/>
                        <a14:foregroundMark x1="77419" y1="10983" x2="77419" y2="10983"/>
                        <a14:foregroundMark x1="89826" y1="31503" x2="89826" y2="31503"/>
                        <a14:foregroundMark x1="96030" y1="33237" x2="96030" y2="33237"/>
                        <a14:foregroundMark x1="92680" y1="73410" x2="92680" y2="73410"/>
                        <a14:foregroundMark x1="83375" y1="72254" x2="83375" y2="72254"/>
                        <a14:foregroundMark x1="87965" y1="86127" x2="87965" y2="86127"/>
                        <a14:foregroundMark x1="72953" y1="16763" x2="72953" y2="16763"/>
                        <a14:foregroundMark x1="67866" y1="30058" x2="67866" y2="30058"/>
                        <a14:foregroundMark x1="57692" y1="28613" x2="57692" y2="28613"/>
                        <a14:foregroundMark x1="52605" y1="39884" x2="52605" y2="39884"/>
                        <a14:foregroundMark x1="62283" y1="70809" x2="62283" y2="70809"/>
                        <a14:foregroundMark x1="42804" y1="80347" x2="42804" y2="80347"/>
                        <a14:foregroundMark x1="32258" y1="75434" x2="32258" y2="75434"/>
                        <a14:foregroundMark x1="27295" y1="47110" x2="27295" y2="47110"/>
                        <a14:foregroundMark x1="17618" y1="48555" x2="17618" y2="48555"/>
                        <a14:foregroundMark x1="2481" y1="29769" x2="2481" y2="29769"/>
                        <a14:foregroundMark x1="2357" y1="27457" x2="2357" y2="27457"/>
                        <a14:foregroundMark x1="6700" y1="68208" x2="6700" y2="68208"/>
                        <a14:foregroundMark x1="12159" y1="72254" x2="12159" y2="72254"/>
                        <a14:foregroundMark x1="17370" y1="92197" x2="17370" y2="92197"/>
                        <a14:foregroundMark x1="66253" y1="26590" x2="66253" y2="26590"/>
                        <a14:foregroundMark x1="43548" y1="82948" x2="43548" y2="82948"/>
                        <a14:foregroundMark x1="43921" y1="81503" x2="43921" y2="815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8827" y="4581668"/>
            <a:ext cx="2314053" cy="85351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1165A4E-2B57-3066-E153-D7EE6B2DD143}"/>
              </a:ext>
            </a:extLst>
          </p:cNvPr>
          <p:cNvCxnSpPr>
            <a:cxnSpLocks/>
          </p:cNvCxnSpPr>
          <p:nvPr/>
        </p:nvCxnSpPr>
        <p:spPr>
          <a:xfrm flipV="1">
            <a:off x="6804921" y="5230382"/>
            <a:ext cx="511285" cy="447043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174845E-C3E7-599B-F67D-BA47F139D4BA}"/>
              </a:ext>
            </a:extLst>
          </p:cNvPr>
          <p:cNvCxnSpPr>
            <a:cxnSpLocks/>
          </p:cNvCxnSpPr>
          <p:nvPr/>
        </p:nvCxnSpPr>
        <p:spPr>
          <a:xfrm flipV="1">
            <a:off x="6809129" y="4838560"/>
            <a:ext cx="519353" cy="718163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309C083-BEF7-FDCD-E08E-7C353E79757C}"/>
              </a:ext>
            </a:extLst>
          </p:cNvPr>
          <p:cNvGrpSpPr/>
          <p:nvPr/>
        </p:nvGrpSpPr>
        <p:grpSpPr>
          <a:xfrm>
            <a:off x="1252882" y="3241796"/>
            <a:ext cx="2634398" cy="1522593"/>
            <a:chOff x="74324" y="2359383"/>
            <a:chExt cx="2969804" cy="1575151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ED9675C-37AB-73BE-7ADB-1CDE197B6848}"/>
                </a:ext>
              </a:extLst>
            </p:cNvPr>
            <p:cNvGrpSpPr/>
            <p:nvPr/>
          </p:nvGrpSpPr>
          <p:grpSpPr>
            <a:xfrm>
              <a:off x="789672" y="2359383"/>
              <a:ext cx="2254456" cy="319687"/>
              <a:chOff x="6291877" y="3817490"/>
              <a:chExt cx="1472949" cy="319687"/>
            </a:xfrm>
          </p:grpSpPr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0F1507D5-52DC-0BD8-321C-4DEEE22AE8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05378" y="4134964"/>
                <a:ext cx="1459448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9DDDE059-BB61-0EE4-A94F-5DCD887036BF}"/>
                      </a:ext>
                    </a:extLst>
                  </p:cNvPr>
                  <p:cNvSpPr txBox="1"/>
                  <p:nvPr/>
                </p:nvSpPr>
                <p:spPr>
                  <a:xfrm>
                    <a:off x="6291877" y="3817490"/>
                    <a:ext cx="1349131" cy="3196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a14:m>
                    <a:r>
                      <a:rPr lang="en-US" sz="1400"/>
                      <a:t> (e.g. days in hospital)</a:t>
                    </a:r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9DDDE059-BB61-0EE4-A94F-5DCD887036B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91877" y="3817490"/>
                    <a:ext cx="1349131" cy="31968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t="-4000" r="-2667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EB76D17-B313-0ABF-E7BC-AF9205F7F5FF}"/>
                </a:ext>
              </a:extLst>
            </p:cNvPr>
            <p:cNvGrpSpPr/>
            <p:nvPr/>
          </p:nvGrpSpPr>
          <p:grpSpPr>
            <a:xfrm>
              <a:off x="74324" y="2585347"/>
              <a:ext cx="795917" cy="1349187"/>
              <a:chOff x="5521045" y="1229437"/>
              <a:chExt cx="795917" cy="1349187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48ABD18-56AF-3B33-5AA3-4CDD5DD8F6A8}"/>
                  </a:ext>
                </a:extLst>
              </p:cNvPr>
              <p:cNvSpPr txBox="1"/>
              <p:nvPr/>
            </p:nvSpPr>
            <p:spPr>
              <a:xfrm>
                <a:off x="5521045" y="1229437"/>
                <a:ext cx="795917" cy="3196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/>
                  <a:t>patient</a:t>
                </a:r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93390F3B-5C8C-6416-C3DA-334B831FC5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1986" y="1390161"/>
                <a:ext cx="0" cy="1188463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F5CBE69-6443-8100-CEE0-C244ED6CD1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41103" y="2742618"/>
              <a:ext cx="2119614" cy="1097767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A1A3DD4-89E2-DA5D-801F-45562AE64316}"/>
              </a:ext>
            </a:extLst>
          </p:cNvPr>
          <p:cNvGrpSpPr/>
          <p:nvPr/>
        </p:nvGrpSpPr>
        <p:grpSpPr>
          <a:xfrm>
            <a:off x="4118950" y="2336165"/>
            <a:ext cx="3264035" cy="3807833"/>
            <a:chOff x="3442660" y="1412019"/>
            <a:chExt cx="3264035" cy="3807833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A402EDF1-C94E-FD56-7B8F-E85EFF1F85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008731" y="1412019"/>
              <a:ext cx="2162363" cy="3573338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C042074-C2BB-E55A-6183-F05E73BFB1A1}"/>
                </a:ext>
              </a:extLst>
            </p:cNvPr>
            <p:cNvSpPr txBox="1"/>
            <p:nvPr/>
          </p:nvSpPr>
          <p:spPr>
            <a:xfrm>
              <a:off x="3497161" y="3672176"/>
              <a:ext cx="31550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(B): Cross-sectionally </a:t>
              </a:r>
              <a:r>
                <a:rPr lang="en-US" sz="1100" b="1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Valid</a:t>
              </a:r>
              <a:r>
                <a:rPr lang="en-US" sz="11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Longitudinally </a:t>
              </a:r>
              <a:r>
                <a:rPr lang="en-US" sz="11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Invalid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557A275-E5B4-6D2A-7371-5A5B6A4F6507}"/>
                </a:ext>
              </a:extLst>
            </p:cNvPr>
            <p:cNvSpPr txBox="1"/>
            <p:nvPr/>
          </p:nvSpPr>
          <p:spPr>
            <a:xfrm>
              <a:off x="3566891" y="4958242"/>
              <a:ext cx="301557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(C) Cross-sectionally </a:t>
              </a:r>
              <a:r>
                <a:rPr lang="en-US" sz="1100" b="1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Valid</a:t>
              </a:r>
              <a:r>
                <a:rPr lang="en-US" sz="11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Longitudinally </a:t>
              </a:r>
              <a:r>
                <a:rPr lang="en-US" sz="1100" b="1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Valid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8048CDD-40D6-C21A-7D8C-23F76C64AC11}"/>
                </a:ext>
              </a:extLst>
            </p:cNvPr>
            <p:cNvSpPr txBox="1"/>
            <p:nvPr/>
          </p:nvSpPr>
          <p:spPr>
            <a:xfrm>
              <a:off x="3442660" y="2418068"/>
              <a:ext cx="326403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(A): Cross-sectionally </a:t>
              </a:r>
              <a:r>
                <a:rPr lang="en-US" sz="11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Invalid</a:t>
              </a:r>
              <a:r>
                <a:rPr lang="en-US" sz="11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Longitudinally </a:t>
              </a:r>
              <a:r>
                <a:rPr lang="en-US" sz="11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Invalid</a:t>
              </a:r>
            </a:p>
          </p:txBody>
        </p: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9E5663A-4FD8-DA69-9BDB-51898FFB603F}"/>
              </a:ext>
            </a:extLst>
          </p:cNvPr>
          <p:cNvCxnSpPr>
            <a:cxnSpLocks/>
          </p:cNvCxnSpPr>
          <p:nvPr/>
        </p:nvCxnSpPr>
        <p:spPr>
          <a:xfrm flipV="1">
            <a:off x="3798034" y="2926513"/>
            <a:ext cx="872547" cy="781882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2F8E1BC-6D99-0826-D4DF-88D01F8BCF6C}"/>
              </a:ext>
            </a:extLst>
          </p:cNvPr>
          <p:cNvCxnSpPr>
            <a:cxnSpLocks/>
          </p:cNvCxnSpPr>
          <p:nvPr/>
        </p:nvCxnSpPr>
        <p:spPr>
          <a:xfrm>
            <a:off x="3804988" y="4567294"/>
            <a:ext cx="816768" cy="767985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88CE63C-67D9-E887-6AF6-B7ECC16EA038}"/>
              </a:ext>
            </a:extLst>
          </p:cNvPr>
          <p:cNvCxnSpPr>
            <a:cxnSpLocks/>
          </p:cNvCxnSpPr>
          <p:nvPr/>
        </p:nvCxnSpPr>
        <p:spPr>
          <a:xfrm>
            <a:off x="3804988" y="4101971"/>
            <a:ext cx="816768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FB86C08D-02A6-1919-262F-AD295CEBF818}"/>
              </a:ext>
            </a:extLst>
          </p:cNvPr>
          <p:cNvSpPr/>
          <p:nvPr/>
        </p:nvSpPr>
        <p:spPr>
          <a:xfrm>
            <a:off x="9290995" y="3185732"/>
            <a:ext cx="2693632" cy="509177"/>
          </a:xfrm>
          <a:prstGeom prst="wedgeRectCallout">
            <a:avLst>
              <a:gd name="adj1" fmla="val -142207"/>
              <a:gd name="adj2" fmla="val 4203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Potential issue of split conformal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AA6D737-C05B-2C54-578C-F2DF682B0F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6F5AD1E-15DE-B66F-9744-21875EA18A49}"/>
              </a:ext>
            </a:extLst>
          </p:cNvPr>
          <p:cNvGrpSpPr/>
          <p:nvPr/>
        </p:nvGrpSpPr>
        <p:grpSpPr>
          <a:xfrm>
            <a:off x="175581" y="6288458"/>
            <a:ext cx="10742356" cy="481701"/>
            <a:chOff x="175581" y="6288458"/>
            <a:chExt cx="10742356" cy="481701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512D069-1F6F-ED79-5333-82213153D019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A541C2C-E4DC-4E9F-4CC0-77205E34A02C}"/>
                </a:ext>
              </a:extLst>
            </p:cNvPr>
            <p:cNvSpPr/>
            <p:nvPr/>
          </p:nvSpPr>
          <p:spPr>
            <a:xfrm>
              <a:off x="2030891" y="6288743"/>
              <a:ext cx="5175504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Interval: </a:t>
              </a:r>
            </a:p>
            <a:p>
              <a:pPr algn="ctr"/>
              <a:r>
                <a:rPr lang="en-US" sz="1600">
                  <a:solidFill>
                    <a:schemeClr val="tx1"/>
                  </a:solidFill>
                </a:rPr>
                <a:t>LVD(NeurIPS’21), </a:t>
              </a:r>
              <a:r>
                <a:rPr lang="en-US" sz="1600" b="1">
                  <a:solidFill>
                    <a:schemeClr val="tx1"/>
                  </a:solidFill>
                </a:rPr>
                <a:t>TQA (NeurIPS’22), CPTD (TMLR’22)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F560819-B061-3246-8895-44923A824612}"/>
                </a:ext>
              </a:extLst>
            </p:cNvPr>
            <p:cNvSpPr/>
            <p:nvPr/>
          </p:nvSpPr>
          <p:spPr>
            <a:xfrm>
              <a:off x="7205473" y="6289564"/>
              <a:ext cx="1856232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326DF6C-2FA2-196E-BBF7-74F8C713B7AF}"/>
                </a:ext>
              </a:extLst>
            </p:cNvPr>
            <p:cNvSpPr/>
            <p:nvPr/>
          </p:nvSpPr>
          <p:spPr>
            <a:xfrm>
              <a:off x="9061705" y="6288458"/>
              <a:ext cx="1856232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NLG</a:t>
              </a:r>
            </a:p>
          </p:txBody>
        </p:sp>
      </p:grpSp>
      <p:pic>
        <p:nvPicPr>
          <p:cNvPr id="43" name="Graphic 42" descr="Smiling face outline with solid fill">
            <a:extLst>
              <a:ext uri="{FF2B5EF4-FFF2-40B4-BE49-F238E27FC236}">
                <a16:creationId xmlns:a16="http://schemas.microsoft.com/office/drawing/2014/main" id="{557B1788-AC96-0C8E-29D5-754DB56BF1E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340446" y="4910193"/>
            <a:ext cx="914400" cy="914400"/>
          </a:xfrm>
          <a:prstGeom prst="rect">
            <a:avLst/>
          </a:prstGeom>
        </p:spPr>
      </p:pic>
      <p:pic>
        <p:nvPicPr>
          <p:cNvPr id="44" name="Graphic 43" descr="Sad face outline with solid fill">
            <a:extLst>
              <a:ext uri="{FF2B5EF4-FFF2-40B4-BE49-F238E27FC236}">
                <a16:creationId xmlns:a16="http://schemas.microsoft.com/office/drawing/2014/main" id="{60F40E30-3347-FEE3-7DB4-5AF8E7C3FB3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342370" y="2288782"/>
            <a:ext cx="914400" cy="914400"/>
          </a:xfrm>
          <a:prstGeom prst="rect">
            <a:avLst/>
          </a:prstGeom>
        </p:spPr>
      </p:pic>
      <p:pic>
        <p:nvPicPr>
          <p:cNvPr id="45" name="Graphic 44" descr="Sad face outline with solid fill">
            <a:extLst>
              <a:ext uri="{FF2B5EF4-FFF2-40B4-BE49-F238E27FC236}">
                <a16:creationId xmlns:a16="http://schemas.microsoft.com/office/drawing/2014/main" id="{6E241439-FD09-9FE7-3472-886A6C15D93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320970" y="359219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007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US"/>
              <a:t>Temporal Quantile Adjustments</a:t>
            </a:r>
          </a:p>
          <a:p>
            <a:r>
              <a:rPr lang="en-US" sz="2400"/>
              <a:t>Quantile Budgeting (TQA-B)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15B671-AB3B-E656-A1BC-051BC9E57035}"/>
                  </a:ext>
                </a:extLst>
              </p:cNvPr>
              <p:cNvSpPr>
                <a:spLocks noGrp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10515952" cy="4250131"/>
              </a:xfrm>
            </p:spPr>
            <p:txBody>
              <a:bodyPr>
                <a:noAutofit/>
              </a:bodyPr>
              <a:lstStyle/>
              <a:p>
                <a:r>
                  <a:rPr lang="en-US" altLang="zh-CN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Construct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acc>
                      <m:accPr>
                        <m:chr m:val="̂"/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</m:oMath>
                </a14:m>
                <a:r>
                  <a:rPr lang="en-US" altLang="zh-CN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the     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CN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quantile of the scores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+1,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If we have reasons to believe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+1, 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 is likely quite hard (or easy) to predict, we could change the </a:t>
                </a:r>
                <a:r>
                  <a:rPr lang="en-US" sz="1600" b="1">
                    <a:latin typeface="Arial" panose="020B0604020202020204" pitchFamily="34" charset="0"/>
                    <a:cs typeface="Arial" panose="020B0604020202020204" pitchFamily="34" charset="0"/>
                  </a:rPr>
                  <a:t>quantile to query</a:t>
                </a:r>
                <a:r>
                  <a:rPr lang="en-US" sz="160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1−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16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1: Predict</a:t>
                </a:r>
                <a:r>
                  <a:rPr 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rank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among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2: Using predicted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adjust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1−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1800">
                  <a:latin typeface="Arial" panose="020B0604020202020204" pitchFamily="34" charset="0"/>
                </a:endParaRPr>
              </a:p>
              <a:p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hlinkClick r:id="rId3" action="ppaction://hlinksldjump"/>
                  </a:rPr>
                  <a:t>Theoretical guarantees</a:t>
                </a:r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15B671-AB3B-E656-A1BC-051BC9E570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10515952" cy="4250131"/>
              </a:xfrm>
              <a:blipFill>
                <a:blip r:embed="rId4"/>
                <a:stretch>
                  <a:fillRect l="-348" t="-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584D985-B484-BB98-A1AC-0D5838C944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3460" y="3790337"/>
            <a:ext cx="7494549" cy="23342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241FC91-D26B-D4B6-7607-7CCE250486C4}"/>
                  </a:ext>
                </a:extLst>
              </p:cNvPr>
              <p:cNvSpPr txBox="1"/>
              <p:nvPr/>
            </p:nvSpPr>
            <p:spPr>
              <a:xfrm>
                <a:off x="5412336" y="1467623"/>
                <a:ext cx="1205986" cy="38151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18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241FC91-D26B-D4B6-7607-7CCE25048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336" y="1467623"/>
                <a:ext cx="1205986" cy="3815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14D5737-AD74-BFCD-18B4-4B8408D4EE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2BD414D-7225-AE26-88E6-A95E904D09F9}"/>
              </a:ext>
            </a:extLst>
          </p:cNvPr>
          <p:cNvGrpSpPr/>
          <p:nvPr/>
        </p:nvGrpSpPr>
        <p:grpSpPr>
          <a:xfrm>
            <a:off x="175581" y="6288458"/>
            <a:ext cx="10742356" cy="481701"/>
            <a:chOff x="175581" y="6288458"/>
            <a:chExt cx="10742356" cy="4817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17A8CE4-743E-2813-4170-B94882800F78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A6F0A1A-AEF8-3DE8-FABA-77E56ED61C38}"/>
                </a:ext>
              </a:extLst>
            </p:cNvPr>
            <p:cNvSpPr/>
            <p:nvPr/>
          </p:nvSpPr>
          <p:spPr>
            <a:xfrm>
              <a:off x="2030891" y="6288743"/>
              <a:ext cx="5175504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Interval: </a:t>
              </a:r>
            </a:p>
            <a:p>
              <a:pPr algn="ctr"/>
              <a:r>
                <a:rPr lang="en-US" sz="1600">
                  <a:solidFill>
                    <a:schemeClr val="tx1"/>
                  </a:solidFill>
                </a:rPr>
                <a:t>LVD(NeurIPS’21), </a:t>
              </a:r>
              <a:r>
                <a:rPr lang="en-US" sz="1600" b="1">
                  <a:solidFill>
                    <a:schemeClr val="tx1"/>
                  </a:solidFill>
                </a:rPr>
                <a:t>TQA (NeurIPS’22)</a:t>
              </a:r>
              <a:r>
                <a:rPr lang="en-US" sz="1600">
                  <a:solidFill>
                    <a:schemeClr val="tx1"/>
                  </a:solidFill>
                </a:rPr>
                <a:t>, CPTD (TMLR’22)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C5EB4B6-73B6-4E77-EF77-EA3A8CBE1D4D}"/>
                </a:ext>
              </a:extLst>
            </p:cNvPr>
            <p:cNvSpPr/>
            <p:nvPr/>
          </p:nvSpPr>
          <p:spPr>
            <a:xfrm>
              <a:off x="7205473" y="6289564"/>
              <a:ext cx="1856232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59CE20B-589B-63DD-47B3-BD1F98B00BEE}"/>
                </a:ext>
              </a:extLst>
            </p:cNvPr>
            <p:cNvSpPr/>
            <p:nvPr/>
          </p:nvSpPr>
          <p:spPr>
            <a:xfrm>
              <a:off x="9061705" y="6288458"/>
              <a:ext cx="1856232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NLG</a:t>
              </a: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8E63542-D292-208F-A743-2BA91020F39C}"/>
              </a:ext>
            </a:extLst>
          </p:cNvPr>
          <p:cNvSpPr/>
          <p:nvPr/>
        </p:nvSpPr>
        <p:spPr>
          <a:xfrm>
            <a:off x="7914640" y="3667760"/>
            <a:ext cx="1991360" cy="2532386"/>
          </a:xfrm>
          <a:custGeom>
            <a:avLst/>
            <a:gdLst>
              <a:gd name="connsiteX0" fmla="*/ 0 w 1991360"/>
              <a:gd name="connsiteY0" fmla="*/ 121920 h 2532386"/>
              <a:gd name="connsiteX1" fmla="*/ 0 w 1991360"/>
              <a:gd name="connsiteY1" fmla="*/ 121920 h 2532386"/>
              <a:gd name="connsiteX2" fmla="*/ 20320 w 1991360"/>
              <a:gd name="connsiteY2" fmla="*/ 985520 h 2532386"/>
              <a:gd name="connsiteX3" fmla="*/ 0 w 1991360"/>
              <a:gd name="connsiteY3" fmla="*/ 1717040 h 2532386"/>
              <a:gd name="connsiteX4" fmla="*/ 10160 w 1991360"/>
              <a:gd name="connsiteY4" fmla="*/ 1930400 h 2532386"/>
              <a:gd name="connsiteX5" fmla="*/ 101600 w 1991360"/>
              <a:gd name="connsiteY5" fmla="*/ 2042160 h 2532386"/>
              <a:gd name="connsiteX6" fmla="*/ 152400 w 1991360"/>
              <a:gd name="connsiteY6" fmla="*/ 2103120 h 2532386"/>
              <a:gd name="connsiteX7" fmla="*/ 172720 w 1991360"/>
              <a:gd name="connsiteY7" fmla="*/ 2133600 h 2532386"/>
              <a:gd name="connsiteX8" fmla="*/ 213360 w 1991360"/>
              <a:gd name="connsiteY8" fmla="*/ 2164080 h 2532386"/>
              <a:gd name="connsiteX9" fmla="*/ 274320 w 1991360"/>
              <a:gd name="connsiteY9" fmla="*/ 2204720 h 2532386"/>
              <a:gd name="connsiteX10" fmla="*/ 304800 w 1991360"/>
              <a:gd name="connsiteY10" fmla="*/ 2235200 h 2532386"/>
              <a:gd name="connsiteX11" fmla="*/ 314960 w 1991360"/>
              <a:gd name="connsiteY11" fmla="*/ 2265680 h 2532386"/>
              <a:gd name="connsiteX12" fmla="*/ 345440 w 1991360"/>
              <a:gd name="connsiteY12" fmla="*/ 2306320 h 2532386"/>
              <a:gd name="connsiteX13" fmla="*/ 416560 w 1991360"/>
              <a:gd name="connsiteY13" fmla="*/ 2367280 h 2532386"/>
              <a:gd name="connsiteX14" fmla="*/ 447040 w 1991360"/>
              <a:gd name="connsiteY14" fmla="*/ 2377440 h 2532386"/>
              <a:gd name="connsiteX15" fmla="*/ 477520 w 1991360"/>
              <a:gd name="connsiteY15" fmla="*/ 2397760 h 2532386"/>
              <a:gd name="connsiteX16" fmla="*/ 508000 w 1991360"/>
              <a:gd name="connsiteY16" fmla="*/ 2407920 h 2532386"/>
              <a:gd name="connsiteX17" fmla="*/ 599440 w 1991360"/>
              <a:gd name="connsiteY17" fmla="*/ 2448560 h 2532386"/>
              <a:gd name="connsiteX18" fmla="*/ 955040 w 1991360"/>
              <a:gd name="connsiteY18" fmla="*/ 2489200 h 2532386"/>
              <a:gd name="connsiteX19" fmla="*/ 1625600 w 1991360"/>
              <a:gd name="connsiteY19" fmla="*/ 2499360 h 2532386"/>
              <a:gd name="connsiteX20" fmla="*/ 1656080 w 1991360"/>
              <a:gd name="connsiteY20" fmla="*/ 2479040 h 2532386"/>
              <a:gd name="connsiteX21" fmla="*/ 1696720 w 1991360"/>
              <a:gd name="connsiteY21" fmla="*/ 2458720 h 2532386"/>
              <a:gd name="connsiteX22" fmla="*/ 1757680 w 1991360"/>
              <a:gd name="connsiteY22" fmla="*/ 2418080 h 2532386"/>
              <a:gd name="connsiteX23" fmla="*/ 1838960 w 1991360"/>
              <a:gd name="connsiteY23" fmla="*/ 2367280 h 2532386"/>
              <a:gd name="connsiteX24" fmla="*/ 1869440 w 1991360"/>
              <a:gd name="connsiteY24" fmla="*/ 2336800 h 2532386"/>
              <a:gd name="connsiteX25" fmla="*/ 1899920 w 1991360"/>
              <a:gd name="connsiteY25" fmla="*/ 2316480 h 2532386"/>
              <a:gd name="connsiteX26" fmla="*/ 1950720 w 1991360"/>
              <a:gd name="connsiteY26" fmla="*/ 2255520 h 2532386"/>
              <a:gd name="connsiteX27" fmla="*/ 1960880 w 1991360"/>
              <a:gd name="connsiteY27" fmla="*/ 2204720 h 2532386"/>
              <a:gd name="connsiteX28" fmla="*/ 1971040 w 1991360"/>
              <a:gd name="connsiteY28" fmla="*/ 2164080 h 2532386"/>
              <a:gd name="connsiteX29" fmla="*/ 1981200 w 1991360"/>
              <a:gd name="connsiteY29" fmla="*/ 2103120 h 2532386"/>
              <a:gd name="connsiteX30" fmla="*/ 1991360 w 1991360"/>
              <a:gd name="connsiteY30" fmla="*/ 2052320 h 2532386"/>
              <a:gd name="connsiteX31" fmla="*/ 1981200 w 1991360"/>
              <a:gd name="connsiteY31" fmla="*/ 1910080 h 2532386"/>
              <a:gd name="connsiteX32" fmla="*/ 1920240 w 1991360"/>
              <a:gd name="connsiteY32" fmla="*/ 1828800 h 2532386"/>
              <a:gd name="connsiteX33" fmla="*/ 1910080 w 1991360"/>
              <a:gd name="connsiteY33" fmla="*/ 1798320 h 2532386"/>
              <a:gd name="connsiteX34" fmla="*/ 1889760 w 1991360"/>
              <a:gd name="connsiteY34" fmla="*/ 1574800 h 2532386"/>
              <a:gd name="connsiteX35" fmla="*/ 1869440 w 1991360"/>
              <a:gd name="connsiteY35" fmla="*/ 1493520 h 2532386"/>
              <a:gd name="connsiteX36" fmla="*/ 1879600 w 1991360"/>
              <a:gd name="connsiteY36" fmla="*/ 690880 h 2532386"/>
              <a:gd name="connsiteX37" fmla="*/ 1889760 w 1991360"/>
              <a:gd name="connsiteY37" fmla="*/ 548640 h 2532386"/>
              <a:gd name="connsiteX38" fmla="*/ 1899920 w 1991360"/>
              <a:gd name="connsiteY38" fmla="*/ 508000 h 2532386"/>
              <a:gd name="connsiteX39" fmla="*/ 1930400 w 1991360"/>
              <a:gd name="connsiteY39" fmla="*/ 467360 h 2532386"/>
              <a:gd name="connsiteX40" fmla="*/ 1950720 w 1991360"/>
              <a:gd name="connsiteY40" fmla="*/ 436880 h 2532386"/>
              <a:gd name="connsiteX41" fmla="*/ 1950720 w 1991360"/>
              <a:gd name="connsiteY41" fmla="*/ 71120 h 2532386"/>
              <a:gd name="connsiteX42" fmla="*/ 1930400 w 1991360"/>
              <a:gd name="connsiteY42" fmla="*/ 30480 h 2532386"/>
              <a:gd name="connsiteX43" fmla="*/ 1899920 w 1991360"/>
              <a:gd name="connsiteY43" fmla="*/ 20320 h 2532386"/>
              <a:gd name="connsiteX44" fmla="*/ 1859280 w 1991360"/>
              <a:gd name="connsiteY44" fmla="*/ 0 h 2532386"/>
              <a:gd name="connsiteX45" fmla="*/ 1158240 w 1991360"/>
              <a:gd name="connsiteY45" fmla="*/ 10160 h 2532386"/>
              <a:gd name="connsiteX46" fmla="*/ 1066800 w 1991360"/>
              <a:gd name="connsiteY46" fmla="*/ 30480 h 2532386"/>
              <a:gd name="connsiteX47" fmla="*/ 132080 w 1991360"/>
              <a:gd name="connsiteY47" fmla="*/ 40640 h 2532386"/>
              <a:gd name="connsiteX48" fmla="*/ 111760 w 1991360"/>
              <a:gd name="connsiteY48" fmla="*/ 71120 h 2532386"/>
              <a:gd name="connsiteX49" fmla="*/ 50800 w 1991360"/>
              <a:gd name="connsiteY49" fmla="*/ 101600 h 2532386"/>
              <a:gd name="connsiteX50" fmla="*/ 0 w 1991360"/>
              <a:gd name="connsiteY50" fmla="*/ 121920 h 2532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991360" h="2532386">
                <a:moveTo>
                  <a:pt x="0" y="121920"/>
                </a:moveTo>
                <a:lnTo>
                  <a:pt x="0" y="121920"/>
                </a:lnTo>
                <a:cubicBezTo>
                  <a:pt x="17738" y="458950"/>
                  <a:pt x="23654" y="525461"/>
                  <a:pt x="20320" y="985520"/>
                </a:cubicBezTo>
                <a:cubicBezTo>
                  <a:pt x="18552" y="1229448"/>
                  <a:pt x="6773" y="1473200"/>
                  <a:pt x="0" y="1717040"/>
                </a:cubicBezTo>
                <a:cubicBezTo>
                  <a:pt x="3387" y="1788160"/>
                  <a:pt x="1677" y="1859707"/>
                  <a:pt x="10160" y="1930400"/>
                </a:cubicBezTo>
                <a:cubicBezTo>
                  <a:pt x="15449" y="1974473"/>
                  <a:pt x="86233" y="2019109"/>
                  <a:pt x="101600" y="2042160"/>
                </a:cubicBezTo>
                <a:cubicBezTo>
                  <a:pt x="152051" y="2117836"/>
                  <a:pt x="87209" y="2024891"/>
                  <a:pt x="152400" y="2103120"/>
                </a:cubicBezTo>
                <a:cubicBezTo>
                  <a:pt x="160217" y="2112501"/>
                  <a:pt x="164086" y="2124966"/>
                  <a:pt x="172720" y="2133600"/>
                </a:cubicBezTo>
                <a:cubicBezTo>
                  <a:pt x="184694" y="2145574"/>
                  <a:pt x="199488" y="2154369"/>
                  <a:pt x="213360" y="2164080"/>
                </a:cubicBezTo>
                <a:cubicBezTo>
                  <a:pt x="233367" y="2178085"/>
                  <a:pt x="257051" y="2187451"/>
                  <a:pt x="274320" y="2204720"/>
                </a:cubicBezTo>
                <a:lnTo>
                  <a:pt x="304800" y="2235200"/>
                </a:lnTo>
                <a:cubicBezTo>
                  <a:pt x="308187" y="2245360"/>
                  <a:pt x="309647" y="2256381"/>
                  <a:pt x="314960" y="2265680"/>
                </a:cubicBezTo>
                <a:cubicBezTo>
                  <a:pt x="323361" y="2280382"/>
                  <a:pt x="334289" y="2293576"/>
                  <a:pt x="345440" y="2306320"/>
                </a:cubicBezTo>
                <a:cubicBezTo>
                  <a:pt x="364883" y="2328540"/>
                  <a:pt x="389154" y="2353577"/>
                  <a:pt x="416560" y="2367280"/>
                </a:cubicBezTo>
                <a:cubicBezTo>
                  <a:pt x="426139" y="2372069"/>
                  <a:pt x="437461" y="2372651"/>
                  <a:pt x="447040" y="2377440"/>
                </a:cubicBezTo>
                <a:cubicBezTo>
                  <a:pt x="457962" y="2382901"/>
                  <a:pt x="466598" y="2392299"/>
                  <a:pt x="477520" y="2397760"/>
                </a:cubicBezTo>
                <a:cubicBezTo>
                  <a:pt x="487099" y="2402549"/>
                  <a:pt x="498421" y="2403131"/>
                  <a:pt x="508000" y="2407920"/>
                </a:cubicBezTo>
                <a:cubicBezTo>
                  <a:pt x="553370" y="2430605"/>
                  <a:pt x="532038" y="2441071"/>
                  <a:pt x="599440" y="2448560"/>
                </a:cubicBezTo>
                <a:cubicBezTo>
                  <a:pt x="900897" y="2482055"/>
                  <a:pt x="782468" y="2467628"/>
                  <a:pt x="955040" y="2489200"/>
                </a:cubicBezTo>
                <a:cubicBezTo>
                  <a:pt x="1208799" y="2573786"/>
                  <a:pt x="994584" y="2509877"/>
                  <a:pt x="1625600" y="2499360"/>
                </a:cubicBezTo>
                <a:cubicBezTo>
                  <a:pt x="1635760" y="2492587"/>
                  <a:pt x="1645478" y="2485098"/>
                  <a:pt x="1656080" y="2479040"/>
                </a:cubicBezTo>
                <a:cubicBezTo>
                  <a:pt x="1669230" y="2471526"/>
                  <a:pt x="1684395" y="2467523"/>
                  <a:pt x="1696720" y="2458720"/>
                </a:cubicBezTo>
                <a:cubicBezTo>
                  <a:pt x="1763312" y="2411154"/>
                  <a:pt x="1692297" y="2439874"/>
                  <a:pt x="1757680" y="2418080"/>
                </a:cubicBezTo>
                <a:cubicBezTo>
                  <a:pt x="1831376" y="2344384"/>
                  <a:pt x="1736335" y="2431421"/>
                  <a:pt x="1838960" y="2367280"/>
                </a:cubicBezTo>
                <a:cubicBezTo>
                  <a:pt x="1851144" y="2359665"/>
                  <a:pt x="1858402" y="2345998"/>
                  <a:pt x="1869440" y="2336800"/>
                </a:cubicBezTo>
                <a:cubicBezTo>
                  <a:pt x="1878821" y="2328983"/>
                  <a:pt x="1890539" y="2324297"/>
                  <a:pt x="1899920" y="2316480"/>
                </a:cubicBezTo>
                <a:cubicBezTo>
                  <a:pt x="1929256" y="2292034"/>
                  <a:pt x="1930740" y="2285490"/>
                  <a:pt x="1950720" y="2255520"/>
                </a:cubicBezTo>
                <a:cubicBezTo>
                  <a:pt x="1954107" y="2238587"/>
                  <a:pt x="1957134" y="2221577"/>
                  <a:pt x="1960880" y="2204720"/>
                </a:cubicBezTo>
                <a:cubicBezTo>
                  <a:pt x="1963909" y="2191089"/>
                  <a:pt x="1968302" y="2177772"/>
                  <a:pt x="1971040" y="2164080"/>
                </a:cubicBezTo>
                <a:cubicBezTo>
                  <a:pt x="1975080" y="2143880"/>
                  <a:pt x="1977515" y="2123388"/>
                  <a:pt x="1981200" y="2103120"/>
                </a:cubicBezTo>
                <a:cubicBezTo>
                  <a:pt x="1984289" y="2086130"/>
                  <a:pt x="1987973" y="2069253"/>
                  <a:pt x="1991360" y="2052320"/>
                </a:cubicBezTo>
                <a:cubicBezTo>
                  <a:pt x="1987973" y="2004907"/>
                  <a:pt x="1995613" y="1955376"/>
                  <a:pt x="1981200" y="1910080"/>
                </a:cubicBezTo>
                <a:cubicBezTo>
                  <a:pt x="1970932" y="1877808"/>
                  <a:pt x="1920240" y="1828800"/>
                  <a:pt x="1920240" y="1828800"/>
                </a:cubicBezTo>
                <a:cubicBezTo>
                  <a:pt x="1916853" y="1818640"/>
                  <a:pt x="1912180" y="1808822"/>
                  <a:pt x="1910080" y="1798320"/>
                </a:cubicBezTo>
                <a:cubicBezTo>
                  <a:pt x="1894136" y="1718599"/>
                  <a:pt x="1898503" y="1662226"/>
                  <a:pt x="1889760" y="1574800"/>
                </a:cubicBezTo>
                <a:cubicBezTo>
                  <a:pt x="1886257" y="1539771"/>
                  <a:pt x="1879630" y="1524089"/>
                  <a:pt x="1869440" y="1493520"/>
                </a:cubicBezTo>
                <a:cubicBezTo>
                  <a:pt x="1872827" y="1225973"/>
                  <a:pt x="1873847" y="958386"/>
                  <a:pt x="1879600" y="690880"/>
                </a:cubicBezTo>
                <a:cubicBezTo>
                  <a:pt x="1880622" y="643357"/>
                  <a:pt x="1884511" y="595883"/>
                  <a:pt x="1889760" y="548640"/>
                </a:cubicBezTo>
                <a:cubicBezTo>
                  <a:pt x="1891302" y="534762"/>
                  <a:pt x="1893675" y="520489"/>
                  <a:pt x="1899920" y="508000"/>
                </a:cubicBezTo>
                <a:cubicBezTo>
                  <a:pt x="1907493" y="492854"/>
                  <a:pt x="1920558" y="481139"/>
                  <a:pt x="1930400" y="467360"/>
                </a:cubicBezTo>
                <a:cubicBezTo>
                  <a:pt x="1937497" y="457424"/>
                  <a:pt x="1943947" y="447040"/>
                  <a:pt x="1950720" y="436880"/>
                </a:cubicBezTo>
                <a:cubicBezTo>
                  <a:pt x="1979836" y="262184"/>
                  <a:pt x="1983593" y="301230"/>
                  <a:pt x="1950720" y="71120"/>
                </a:cubicBezTo>
                <a:cubicBezTo>
                  <a:pt x="1948578" y="56127"/>
                  <a:pt x="1941110" y="41190"/>
                  <a:pt x="1930400" y="30480"/>
                </a:cubicBezTo>
                <a:cubicBezTo>
                  <a:pt x="1922827" y="22907"/>
                  <a:pt x="1909764" y="24539"/>
                  <a:pt x="1899920" y="20320"/>
                </a:cubicBezTo>
                <a:cubicBezTo>
                  <a:pt x="1885999" y="14354"/>
                  <a:pt x="1872827" y="6773"/>
                  <a:pt x="1859280" y="0"/>
                </a:cubicBezTo>
                <a:cubicBezTo>
                  <a:pt x="1625600" y="3387"/>
                  <a:pt x="1391772" y="1178"/>
                  <a:pt x="1158240" y="10160"/>
                </a:cubicBezTo>
                <a:cubicBezTo>
                  <a:pt x="1127040" y="11360"/>
                  <a:pt x="1098010" y="29553"/>
                  <a:pt x="1066800" y="30480"/>
                </a:cubicBezTo>
                <a:cubicBezTo>
                  <a:pt x="755346" y="39731"/>
                  <a:pt x="443653" y="37253"/>
                  <a:pt x="132080" y="40640"/>
                </a:cubicBezTo>
                <a:cubicBezTo>
                  <a:pt x="125307" y="50800"/>
                  <a:pt x="122115" y="64648"/>
                  <a:pt x="111760" y="71120"/>
                </a:cubicBezTo>
                <a:cubicBezTo>
                  <a:pt x="47587" y="111228"/>
                  <a:pt x="50800" y="67061"/>
                  <a:pt x="50800" y="101600"/>
                </a:cubicBezTo>
                <a:lnTo>
                  <a:pt x="0" y="12192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596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US"/>
              <a:t>Other Solutions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15B671-AB3B-E656-A1BC-051BC9E57035}"/>
                  </a:ext>
                </a:extLst>
              </p:cNvPr>
              <p:cNvSpPr>
                <a:spLocks noGrp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10515952" cy="425013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CN" sz="2400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  <a:hlinkClick r:id="rId3" action="ppaction://hlinksldjump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TQA-E </a:t>
                </a:r>
                <a:endParaRPr lang="en-US" altLang="zh-CN" sz="240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Error-based Adjustment: decrease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if PI does not cover, and increase if it covers</a:t>
                </a:r>
              </a:p>
              <a:p>
                <a:pPr marL="0" indent="0">
                  <a:buNone/>
                </a:pPr>
                <a:endParaRPr lang="en-US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CPTD: Nonconformity-score with temporal &amp; cross-sectional dependence</a:t>
                </a:r>
              </a:p>
              <a:p>
                <a:r>
                  <a:rPr lang="en-US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Instead of changing the quantile, make the nonconformity score adaptive </a:t>
                </a:r>
              </a:p>
              <a:p>
                <a:r>
                  <a:rPr lang="en-US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Normalize the nonconformity score based on the previous cross-sectional rank of residual</a:t>
                </a:r>
              </a:p>
              <a:p>
                <a:r>
                  <a:rPr lang="en-US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hlinkClick r:id="rId4" action="ppaction://hlinksldjump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Details</a:t>
                </a:r>
                <a:endParaRPr lang="en-US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Combining TQA+CPTD make things better!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15B671-AB3B-E656-A1BC-051BC9E570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10515952" cy="4250131"/>
              </a:xfrm>
              <a:blipFill>
                <a:blip r:embed="rId5"/>
                <a:stretch>
                  <a:fillRect l="-870" t="-1004" r="-1159" b="-5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14D5737-AD74-BFCD-18B4-4B8408D4EE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2BD414D-7225-AE26-88E6-A95E904D09F9}"/>
              </a:ext>
            </a:extLst>
          </p:cNvPr>
          <p:cNvGrpSpPr/>
          <p:nvPr/>
        </p:nvGrpSpPr>
        <p:grpSpPr>
          <a:xfrm>
            <a:off x="175581" y="6288458"/>
            <a:ext cx="10742356" cy="481701"/>
            <a:chOff x="175581" y="6288458"/>
            <a:chExt cx="10742356" cy="4817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17A8CE4-743E-2813-4170-B94882800F78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A6F0A1A-AEF8-3DE8-FABA-77E56ED61C38}"/>
                </a:ext>
              </a:extLst>
            </p:cNvPr>
            <p:cNvSpPr/>
            <p:nvPr/>
          </p:nvSpPr>
          <p:spPr>
            <a:xfrm>
              <a:off x="2030891" y="6288743"/>
              <a:ext cx="5175504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Interval: </a:t>
              </a:r>
            </a:p>
            <a:p>
              <a:pPr algn="ctr"/>
              <a:r>
                <a:rPr lang="en-US" sz="1600">
                  <a:solidFill>
                    <a:schemeClr val="tx1"/>
                  </a:solidFill>
                </a:rPr>
                <a:t>LVD(NeurIPS’21), </a:t>
              </a:r>
              <a:r>
                <a:rPr lang="en-US" sz="1600" b="1">
                  <a:solidFill>
                    <a:schemeClr val="tx1"/>
                  </a:solidFill>
                </a:rPr>
                <a:t>TQA (NeurIPS’22)</a:t>
              </a:r>
              <a:r>
                <a:rPr lang="en-US" sz="1600">
                  <a:solidFill>
                    <a:schemeClr val="tx1"/>
                  </a:solidFill>
                </a:rPr>
                <a:t>, </a:t>
              </a:r>
              <a:r>
                <a:rPr lang="en-US" sz="1600" b="1">
                  <a:solidFill>
                    <a:schemeClr val="tx1"/>
                  </a:solidFill>
                </a:rPr>
                <a:t>CPTD (TMLR’22)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C5EB4B6-73B6-4E77-EF77-EA3A8CBE1D4D}"/>
                </a:ext>
              </a:extLst>
            </p:cNvPr>
            <p:cNvSpPr/>
            <p:nvPr/>
          </p:nvSpPr>
          <p:spPr>
            <a:xfrm>
              <a:off x="7205473" y="6289564"/>
              <a:ext cx="1856232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59CE20B-589B-63DD-47B3-BD1F98B00BEE}"/>
                </a:ext>
              </a:extLst>
            </p:cNvPr>
            <p:cNvSpPr/>
            <p:nvPr/>
          </p:nvSpPr>
          <p:spPr>
            <a:xfrm>
              <a:off x="9061705" y="6288458"/>
              <a:ext cx="1856232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NLG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4831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3000BC0-6A50-5AC2-057B-3516B9AE6A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23970" y="3084634"/>
            <a:ext cx="7294979" cy="1952381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US"/>
              <a:t>Experiment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5B671-AB3B-E656-A1BC-051BC9E5703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4229" y="1467623"/>
            <a:ext cx="10515952" cy="4250131"/>
          </a:xfrm>
        </p:spPr>
        <p:txBody>
          <a:bodyPr>
            <a:noAutofit/>
          </a:bodyPr>
          <a:lstStyle/>
          <a:p>
            <a:endPara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Tail Coverage (Rescaled): Coverage for the 10% least-covered TS, rescaled to the same width</a:t>
            </a:r>
          </a:p>
          <a:p>
            <a:pPr lvl="1"/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Target: 90%</a:t>
            </a:r>
            <a:endParaRPr lang="en-US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6C1BBC-5CF6-C908-6BD4-5DDF0BF2B853}"/>
              </a:ext>
            </a:extLst>
          </p:cNvPr>
          <p:cNvSpPr/>
          <p:nvPr/>
        </p:nvSpPr>
        <p:spPr>
          <a:xfrm>
            <a:off x="4116012" y="3386818"/>
            <a:ext cx="836988" cy="1882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FFBAF4-4506-257F-B389-B5AFFD5A27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EF91FA9-255E-FFE0-08EF-9F71A7097E80}"/>
              </a:ext>
            </a:extLst>
          </p:cNvPr>
          <p:cNvGrpSpPr/>
          <p:nvPr/>
        </p:nvGrpSpPr>
        <p:grpSpPr>
          <a:xfrm>
            <a:off x="175581" y="6288458"/>
            <a:ext cx="10742356" cy="481701"/>
            <a:chOff x="175581" y="6288458"/>
            <a:chExt cx="10742356" cy="48170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655E504-593D-D71D-8104-E10B0ECE1D91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4AD5985-B483-3F8D-DC3D-E0AE825BD664}"/>
                </a:ext>
              </a:extLst>
            </p:cNvPr>
            <p:cNvSpPr/>
            <p:nvPr/>
          </p:nvSpPr>
          <p:spPr>
            <a:xfrm>
              <a:off x="2030891" y="6288743"/>
              <a:ext cx="5175504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Interval: </a:t>
              </a:r>
            </a:p>
            <a:p>
              <a:pPr algn="ctr"/>
              <a:r>
                <a:rPr lang="en-US" sz="1600">
                  <a:solidFill>
                    <a:schemeClr val="tx1"/>
                  </a:solidFill>
                </a:rPr>
                <a:t>LVD(NeurIPS’21), </a:t>
              </a:r>
              <a:r>
                <a:rPr lang="en-US" sz="1600" b="1">
                  <a:solidFill>
                    <a:schemeClr val="tx1"/>
                  </a:solidFill>
                </a:rPr>
                <a:t>TQA (NeurIPS’22), CPTD (TMLR’22)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A7B43E7-71BC-436F-C00F-7490EE96A084}"/>
                </a:ext>
              </a:extLst>
            </p:cNvPr>
            <p:cNvSpPr/>
            <p:nvPr/>
          </p:nvSpPr>
          <p:spPr>
            <a:xfrm>
              <a:off x="7205473" y="6289564"/>
              <a:ext cx="1856232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F6A7AC2-E98B-FDDB-9B02-5D4565F6B053}"/>
                </a:ext>
              </a:extLst>
            </p:cNvPr>
            <p:cNvSpPr/>
            <p:nvPr/>
          </p:nvSpPr>
          <p:spPr>
            <a:xfrm>
              <a:off x="9061705" y="6288458"/>
              <a:ext cx="1856232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NLG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5920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Risk-Controlling Prediction Set</a:t>
            </a: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1CFA3FC7-8A50-DFAB-1FA5-38C6B3E467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3283FC1-7FCA-4F59-9713-DADD429C5EA5}"/>
              </a:ext>
            </a:extLst>
          </p:cNvPr>
          <p:cNvSpPr/>
          <p:nvPr/>
        </p:nvSpPr>
        <p:spPr>
          <a:xfrm>
            <a:off x="175581" y="1509258"/>
            <a:ext cx="8514250" cy="42183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EF8F886-9CED-BC0C-6B8F-1CB54F4E940D}"/>
              </a:ext>
            </a:extLst>
          </p:cNvPr>
          <p:cNvSpPr/>
          <p:nvPr/>
        </p:nvSpPr>
        <p:spPr>
          <a:xfrm>
            <a:off x="521683" y="1805219"/>
            <a:ext cx="6599543" cy="37316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8F5A732-6D3B-C38D-BC43-66A5BF821928}"/>
              </a:ext>
            </a:extLst>
          </p:cNvPr>
          <p:cNvSpPr/>
          <p:nvPr/>
        </p:nvSpPr>
        <p:spPr>
          <a:xfrm>
            <a:off x="2006237" y="2229270"/>
            <a:ext cx="2948399" cy="1898537"/>
          </a:xfrm>
          <a:prstGeom prst="ellipse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>
                <a:solidFill>
                  <a:schemeClr val="tx1">
                    <a:lumMod val="50000"/>
                    <a:lumOff val="50000"/>
                  </a:schemeClr>
                </a:solidFill>
              </a:rPr>
              <a:t>Conformal Prediction</a:t>
            </a:r>
          </a:p>
          <a:p>
            <a:pPr algn="ctr"/>
            <a:endParaRPr 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sz="1400" b="1">
                <a:solidFill>
                  <a:schemeClr val="tx1">
                    <a:lumMod val="50000"/>
                    <a:lumOff val="50000"/>
                  </a:schemeClr>
                </a:solidFill>
              </a:rPr>
              <a:t>LVD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 (NeurIPS’21)</a:t>
            </a:r>
          </a:p>
          <a:p>
            <a:pPr algn="ctr"/>
            <a:r>
              <a:rPr lang="en-US" sz="1400" b="1">
                <a:solidFill>
                  <a:schemeClr val="tx1">
                    <a:lumMod val="50000"/>
                    <a:lumOff val="50000"/>
                  </a:schemeClr>
                </a:solidFill>
              </a:rPr>
              <a:t>TQA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 (NeurIPS’22)</a:t>
            </a:r>
          </a:p>
          <a:p>
            <a:pPr algn="ctr"/>
            <a:r>
              <a:rPr lang="en-US" sz="1400" b="1">
                <a:solidFill>
                  <a:schemeClr val="tx1">
                    <a:lumMod val="50000"/>
                    <a:lumOff val="50000"/>
                  </a:schemeClr>
                </a:solidFill>
              </a:rPr>
              <a:t>CPTD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 (TMLR’22)</a:t>
            </a:r>
          </a:p>
          <a:p>
            <a:pPr algn="ctr"/>
            <a:endParaRPr 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4899600-EF40-4BFA-8CED-55ED59551795}"/>
              </a:ext>
            </a:extLst>
          </p:cNvPr>
          <p:cNvSpPr/>
          <p:nvPr/>
        </p:nvSpPr>
        <p:spPr>
          <a:xfrm>
            <a:off x="4954637" y="2847732"/>
            <a:ext cx="2123634" cy="1541438"/>
          </a:xfrm>
          <a:prstGeom prst="ellipse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>
                <a:solidFill>
                  <a:schemeClr val="tx1">
                    <a:lumMod val="50000"/>
                    <a:lumOff val="50000"/>
                  </a:schemeClr>
                </a:solidFill>
              </a:rPr>
              <a:t>Model Calibration</a:t>
            </a:r>
          </a:p>
          <a:p>
            <a:pPr algn="ctr"/>
            <a:endParaRPr lang="en-US" sz="16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sz="1600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KCal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 (ICLR’23)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5DC86BF-D35B-B4D0-435F-BD6927CEA3DE}"/>
              </a:ext>
            </a:extLst>
          </p:cNvPr>
          <p:cNvSpPr/>
          <p:nvPr/>
        </p:nvSpPr>
        <p:spPr>
          <a:xfrm>
            <a:off x="2329388" y="3663428"/>
            <a:ext cx="2625248" cy="1757319"/>
          </a:xfrm>
          <a:prstGeom prst="ellipse">
            <a:avLst/>
          </a:prstGeom>
          <a:solidFill>
            <a:schemeClr val="accent4">
              <a:lumMod val="25000"/>
              <a:lumOff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>
                <a:solidFill>
                  <a:schemeClr val="tx1"/>
                </a:solidFill>
              </a:rPr>
              <a:t>Risk-Controlling Prediction Set</a:t>
            </a:r>
          </a:p>
          <a:p>
            <a:pPr algn="ctr"/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>
                <a:solidFill>
                  <a:schemeClr val="tx1"/>
                </a:solidFill>
                <a:hlinkClick r:id="rId3" action="ppaction://hlinksldjump"/>
              </a:rPr>
              <a:t>SCRIB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 (AAAI’22)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6BDFF6-85F0-CFDC-C75A-0A5D94611807}"/>
              </a:ext>
            </a:extLst>
          </p:cNvPr>
          <p:cNvSpPr txBox="1"/>
          <p:nvPr/>
        </p:nvSpPr>
        <p:spPr>
          <a:xfrm>
            <a:off x="7056120" y="3279968"/>
            <a:ext cx="1694688" cy="539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>
                <a:solidFill>
                  <a:schemeClr val="bg1"/>
                </a:solidFill>
              </a:rPr>
              <a:t>Uncertainty Quantification (UQ)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F3D3AC-3B56-733F-867C-6CC3C9064CBE}"/>
              </a:ext>
            </a:extLst>
          </p:cNvPr>
          <p:cNvSpPr txBox="1"/>
          <p:nvPr/>
        </p:nvSpPr>
        <p:spPr>
          <a:xfrm>
            <a:off x="3292744" y="1893234"/>
            <a:ext cx="2216064" cy="312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/>
              <a:t>Distribution-Free UQ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3B9754-2E95-CE81-A362-6AE660CED16A}"/>
              </a:ext>
            </a:extLst>
          </p:cNvPr>
          <p:cNvSpPr txBox="1"/>
          <p:nvPr/>
        </p:nvSpPr>
        <p:spPr>
          <a:xfrm>
            <a:off x="2860331" y="3715057"/>
            <a:ext cx="1676083" cy="31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err="1"/>
              <a:t>FavMac</a:t>
            </a:r>
            <a:r>
              <a:rPr lang="en-US" sz="1400"/>
              <a:t> (ICML’23)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7DAC24B-1626-71FC-506B-9E15D3A23B82}"/>
              </a:ext>
            </a:extLst>
          </p:cNvPr>
          <p:cNvSpPr/>
          <p:nvPr/>
        </p:nvSpPr>
        <p:spPr>
          <a:xfrm>
            <a:off x="319152" y="3012181"/>
            <a:ext cx="2625248" cy="1608138"/>
          </a:xfrm>
          <a:prstGeom prst="ellipse">
            <a:avLst/>
          </a:prstGeom>
          <a:solidFill>
            <a:srgbClr val="FF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>
                <a:solidFill>
                  <a:schemeClr val="tx1">
                    <a:lumMod val="50000"/>
                    <a:lumOff val="50000"/>
                  </a:schemeClr>
                </a:solidFill>
              </a:rPr>
              <a:t>UQ for Natural Language Generation (</a:t>
            </a:r>
            <a:r>
              <a:rPr lang="en-US" sz="1400" b="1" i="1">
                <a:solidFill>
                  <a:schemeClr val="tx1">
                    <a:lumMod val="50000"/>
                    <a:lumOff val="50000"/>
                  </a:schemeClr>
                </a:solidFill>
              </a:rPr>
              <a:t>preprint</a:t>
            </a:r>
            <a:r>
              <a:rPr lang="en-US" sz="1400" i="1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2906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5" presetClass="emph" presetSubtype="0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Prediction Set</a:t>
            </a:r>
            <a:br>
              <a:rPr lang="en-US"/>
            </a:br>
            <a:r>
              <a:rPr lang="en-US" sz="2400"/>
              <a:t>Motivated by Diagnoses Prediction</a:t>
            </a:r>
            <a:endParaRPr lang="en-US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2">
                <a:extLst>
                  <a:ext uri="{FF2B5EF4-FFF2-40B4-BE49-F238E27FC236}">
                    <a16:creationId xmlns:a16="http://schemas.microsoft.com/office/drawing/2014/main" id="{913C0C70-83DE-AD34-9B9C-013A919AB3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4228" y="1467623"/>
                <a:ext cx="10370191" cy="4250131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457200" indent="-4572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30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Code assignment to patient health records (prediction set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𝐶</m:t>
                    </m:r>
                  </m:oMath>
                </a14:m>
                <a:r>
                  <a:rPr 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r>
                  <a:rPr lang="en-US" sz="1800" b="1">
                    <a:latin typeface="Arial" panose="020B0604020202020204" pitchFamily="34" charset="0"/>
                    <a:cs typeface="Arial" panose="020B0604020202020204" pitchFamily="34" charset="0"/>
                  </a:rPr>
                  <a:t>maximize</a:t>
                </a:r>
                <a:r>
                  <a:rPr 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 the correct predictions (</a:t>
                </a:r>
                <a:r>
                  <a:rPr lang="en-US" sz="1800" b="1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value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r>
                  <a:rPr lang="en-US" sz="1800" b="1">
                    <a:latin typeface="Arial" panose="020B0604020202020204" pitchFamily="34" charset="0"/>
                    <a:cs typeface="Arial" panose="020B0604020202020204" pitchFamily="34" charset="0"/>
                  </a:rPr>
                  <a:t>control</a:t>
                </a:r>
                <a:r>
                  <a:rPr 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 the errors (</a:t>
                </a:r>
                <a:r>
                  <a:rPr lang="en-US" sz="1800" b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risk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ext Placeholder 2">
                <a:extLst>
                  <a:ext uri="{FF2B5EF4-FFF2-40B4-BE49-F238E27FC236}">
                    <a16:creationId xmlns:a16="http://schemas.microsoft.com/office/drawing/2014/main" id="{913C0C70-83DE-AD34-9B9C-013A919AB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28" y="1467623"/>
                <a:ext cx="10370191" cy="4250131"/>
              </a:xfrm>
              <a:prstGeom prst="rect">
                <a:avLst/>
              </a:prstGeom>
              <a:blipFill>
                <a:blip r:embed="rId2"/>
                <a:stretch>
                  <a:fillRect l="-353" t="-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20C4F26-36AC-81FF-6F3E-B9CCA92FFD3D}"/>
              </a:ext>
            </a:extLst>
          </p:cNvPr>
          <p:cNvSpPr txBox="1"/>
          <p:nvPr/>
        </p:nvSpPr>
        <p:spPr>
          <a:xfrm>
            <a:off x="5846797" y="3544910"/>
            <a:ext cx="55070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Truth: {</a:t>
            </a:r>
            <a:r>
              <a:rPr lang="en-US" sz="1400" b="1">
                <a:solidFill>
                  <a:srgbClr val="00B050"/>
                </a:solidFill>
              </a:rPr>
              <a:t>CHF</a:t>
            </a:r>
            <a:r>
              <a:rPr lang="en-US" sz="1400"/>
              <a:t>, </a:t>
            </a:r>
            <a:r>
              <a:rPr lang="en-US" sz="1400" b="1">
                <a:solidFill>
                  <a:srgbClr val="00B050"/>
                </a:solidFill>
              </a:rPr>
              <a:t>SHA,D</a:t>
            </a:r>
            <a:r>
              <a:rPr lang="en-US" sz="1400"/>
              <a:t>}</a:t>
            </a:r>
          </a:p>
          <a:p>
            <a:r>
              <a:rPr lang="en-US" sz="1400"/>
              <a:t>Incorrect Codes: {</a:t>
            </a:r>
            <a:r>
              <a:rPr lang="en-US" sz="1400" b="1">
                <a:solidFill>
                  <a:srgbClr val="FF0000"/>
                </a:solidFill>
              </a:rPr>
              <a:t>ARF,MCAL,…</a:t>
            </a:r>
            <a:r>
              <a:rPr lang="en-US" sz="1400"/>
              <a:t>}</a:t>
            </a:r>
          </a:p>
        </p:txBody>
      </p:sp>
      <p:graphicFrame>
        <p:nvGraphicFramePr>
          <p:cNvPr id="11" name="Table 31">
            <a:extLst>
              <a:ext uri="{FF2B5EF4-FFF2-40B4-BE49-F238E27FC236}">
                <a16:creationId xmlns:a16="http://schemas.microsoft.com/office/drawing/2014/main" id="{DEE5DBB5-76B4-8F36-DEE8-43EC2E341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446629"/>
              </p:ext>
            </p:extLst>
          </p:nvPr>
        </p:nvGraphicFramePr>
        <p:xfrm>
          <a:off x="5943443" y="4167621"/>
          <a:ext cx="5173157" cy="186825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43879">
                  <a:extLst>
                    <a:ext uri="{9D8B030D-6E8A-4147-A177-3AD203B41FA5}">
                      <a16:colId xmlns:a16="http://schemas.microsoft.com/office/drawing/2014/main" val="358152894"/>
                    </a:ext>
                  </a:extLst>
                </a:gridCol>
                <a:gridCol w="1807285">
                  <a:extLst>
                    <a:ext uri="{9D8B030D-6E8A-4147-A177-3AD203B41FA5}">
                      <a16:colId xmlns:a16="http://schemas.microsoft.com/office/drawing/2014/main" val="1469911263"/>
                    </a:ext>
                  </a:extLst>
                </a:gridCol>
                <a:gridCol w="1821993">
                  <a:extLst>
                    <a:ext uri="{9D8B030D-6E8A-4147-A177-3AD203B41FA5}">
                      <a16:colId xmlns:a16="http://schemas.microsoft.com/office/drawing/2014/main" val="1051487499"/>
                    </a:ext>
                  </a:extLst>
                </a:gridCol>
              </a:tblGrid>
              <a:tr h="495262">
                <a:tc>
                  <a:txBody>
                    <a:bodyPr/>
                    <a:lstStyle/>
                    <a:p>
                      <a:r>
                        <a:rPr lang="en-US" sz="1400"/>
                        <a:t>Example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0000"/>
                          </a:solidFill>
                        </a:rP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0B050"/>
                          </a:solidFill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2538562"/>
                  </a:ext>
                </a:extLst>
              </a:tr>
              <a:tr h="4952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{</a:t>
                      </a:r>
                      <a:r>
                        <a:rPr lang="en-US" sz="1400">
                          <a:solidFill>
                            <a:srgbClr val="00B050"/>
                          </a:solidFill>
                        </a:rPr>
                        <a:t>D</a:t>
                      </a: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sz="1400">
                          <a:solidFill>
                            <a:srgbClr val="FF0000"/>
                          </a:solidFill>
                        </a:rPr>
                        <a:t>ARF</a:t>
                      </a:r>
                      <a:r>
                        <a:rPr lang="en-US" sz="140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0000"/>
                          </a:solidFill>
                        </a:rPr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B050"/>
                          </a:solidFill>
                        </a:rPr>
                        <a:t>0.11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403591"/>
                  </a:ext>
                </a:extLst>
              </a:tr>
              <a:tr h="4274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{</a:t>
                      </a:r>
                      <a:r>
                        <a:rPr lang="en-US" sz="1400">
                          <a:solidFill>
                            <a:srgbClr val="00B050"/>
                          </a:solidFill>
                        </a:rPr>
                        <a:t>CHF,D,</a:t>
                      </a:r>
                      <a:r>
                        <a:rPr lang="en-US" sz="1400">
                          <a:solidFill>
                            <a:srgbClr val="FF0000"/>
                          </a:solidFill>
                        </a:rPr>
                        <a:t>ARF,MCAL</a:t>
                      </a:r>
                      <a:r>
                        <a:rPr lang="en-US" sz="140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0000"/>
                          </a:solidFill>
                        </a:rPr>
                        <a:t>0.48+2.48=</a:t>
                      </a:r>
                      <a:r>
                        <a:rPr lang="en-US" sz="1400" b="1">
                          <a:solidFill>
                            <a:srgbClr val="FF0000"/>
                          </a:solidFill>
                        </a:rPr>
                        <a:t>2.96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0B050"/>
                          </a:solidFill>
                        </a:rPr>
                        <a:t>0.11+0.37=</a:t>
                      </a:r>
                      <a:r>
                        <a:rPr lang="en-US" sz="1400" b="1">
                          <a:solidFill>
                            <a:srgbClr val="00B050"/>
                          </a:solidFill>
                        </a:rPr>
                        <a:t>0.48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240598"/>
                  </a:ext>
                </a:extLst>
              </a:tr>
              <a:tr h="4274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{</a:t>
                      </a:r>
                      <a:r>
                        <a:rPr lang="en-US" sz="1400">
                          <a:solidFill>
                            <a:srgbClr val="00B050"/>
                          </a:solidFill>
                        </a:rPr>
                        <a:t>CHF,D,SHA,</a:t>
                      </a:r>
                      <a:r>
                        <a:rPr lang="en-US" sz="1400">
                          <a:solidFill>
                            <a:srgbClr val="FF0000"/>
                          </a:solidFill>
                        </a:rPr>
                        <a:t>ARF</a:t>
                      </a:r>
                      <a:r>
                        <a:rPr lang="en-US" sz="140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0000"/>
                          </a:solidFill>
                        </a:rPr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0B050"/>
                          </a:solidFill>
                        </a:rPr>
                        <a:t>0.11+0.37+0.30=</a:t>
                      </a:r>
                      <a:r>
                        <a:rPr lang="en-US" sz="1400" b="1">
                          <a:solidFill>
                            <a:srgbClr val="00B050"/>
                          </a:solidFill>
                        </a:rPr>
                        <a:t>0.78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719532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B9F4CEC-BFD9-B259-1A5B-5BE6706DEF73}"/>
              </a:ext>
            </a:extLst>
          </p:cNvPr>
          <p:cNvCxnSpPr>
            <a:cxnSpLocks/>
          </p:cNvCxnSpPr>
          <p:nvPr/>
        </p:nvCxnSpPr>
        <p:spPr>
          <a:xfrm>
            <a:off x="4806629" y="3998412"/>
            <a:ext cx="104016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715159A9-0CF5-08A8-013C-588C23D56E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51611" y="2684955"/>
            <a:ext cx="3124879" cy="536763"/>
          </a:xfrm>
          <a:prstGeom prst="rect">
            <a:avLst/>
          </a:prstGeom>
        </p:spPr>
      </p:pic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311D3189-08A9-C488-DACB-88F445EA6F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7546707"/>
              </p:ext>
            </p:extLst>
          </p:nvPr>
        </p:nvGraphicFramePr>
        <p:xfrm>
          <a:off x="-6123" y="3331845"/>
          <a:ext cx="4590823" cy="29375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27705F-AC78-C580-F0F2-4FF6EC6A00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E6CB542-8314-39D6-4EA4-4DA9481D5F1D}"/>
              </a:ext>
            </a:extLst>
          </p:cNvPr>
          <p:cNvGrpSpPr/>
          <p:nvPr/>
        </p:nvGrpSpPr>
        <p:grpSpPr>
          <a:xfrm>
            <a:off x="175581" y="6288458"/>
            <a:ext cx="10742356" cy="481701"/>
            <a:chOff x="175581" y="6288458"/>
            <a:chExt cx="10742356" cy="4817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E29E930-65D4-6465-BA99-62691BAA0EB8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4F374A1-B8E2-A62C-D3B9-6B6C6131E4F8}"/>
                </a:ext>
              </a:extLst>
            </p:cNvPr>
            <p:cNvSpPr/>
            <p:nvPr/>
          </p:nvSpPr>
          <p:spPr>
            <a:xfrm>
              <a:off x="2030891" y="6288743"/>
              <a:ext cx="1856232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EA33167-247B-82F5-AF05-E81B1DB7062D}"/>
                </a:ext>
              </a:extLst>
            </p:cNvPr>
            <p:cNvSpPr/>
            <p:nvPr/>
          </p:nvSpPr>
          <p:spPr>
            <a:xfrm>
              <a:off x="3886662" y="6290224"/>
              <a:ext cx="5175504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Set:</a:t>
              </a:r>
            </a:p>
            <a:p>
              <a:pPr algn="ctr"/>
              <a:r>
                <a:rPr lang="en-US" sz="1600" b="1" err="1">
                  <a:solidFill>
                    <a:schemeClr val="tx1"/>
                  </a:solidFill>
                </a:rPr>
                <a:t>FavMac</a:t>
              </a:r>
              <a:r>
                <a:rPr lang="en-US" sz="1600" b="1">
                  <a:solidFill>
                    <a:schemeClr val="tx1"/>
                  </a:solidFill>
                </a:rPr>
                <a:t> (ICML’23)</a:t>
              </a:r>
              <a:r>
                <a:rPr lang="en-US" sz="1600">
                  <a:solidFill>
                    <a:schemeClr val="tx1"/>
                  </a:solidFill>
                </a:rPr>
                <a:t>, SCRIB (AAAI’22)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EF36644-54D3-E148-3584-1062AF2C8C71}"/>
                </a:ext>
              </a:extLst>
            </p:cNvPr>
            <p:cNvSpPr/>
            <p:nvPr/>
          </p:nvSpPr>
          <p:spPr>
            <a:xfrm>
              <a:off x="9061705" y="6288458"/>
              <a:ext cx="1856232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NLG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9662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Graphic spid="14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Problem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15B671-AB3B-E656-A1BC-051BC9E57035}"/>
                  </a:ext>
                </a:extLst>
              </p:cNvPr>
              <p:cNvSpPr>
                <a:spLocks noGrp="1"/>
              </p:cNvSpPr>
              <p:nvPr>
                <p:ph type="body" sz="quarter" idx="21"/>
              </p:nvPr>
            </p:nvSpPr>
            <p:spPr>
              <a:xfrm>
                <a:off x="654228" y="1467623"/>
                <a:ext cx="10370191" cy="4250131"/>
              </a:xfrm>
            </p:spPr>
            <p:txBody>
              <a:bodyPr>
                <a:noAutofit/>
              </a:bodyPr>
              <a:lstStyle/>
              <a:p>
                <a:r>
                  <a:rPr lang="en-US" sz="240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Online setting</a:t>
                </a:r>
                <a:endParaRPr lang="en-US" sz="2400" b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2400" b="1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Goal</a:t>
                </a:r>
                <a:r>
                  <a:rPr lang="en-US" sz="240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Find prediction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with high value and risk control </a:t>
                </a:r>
                <a:r>
                  <a:rPr lang="en-US" sz="2400" b="1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guarantee</a:t>
                </a:r>
                <a:endParaRPr lang="en-US" sz="240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240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hlinkClick r:id="rId3" action="ppaction://hlinksldjump"/>
                  </a:rPr>
                  <a:t>Details</a:t>
                </a:r>
                <a:endParaRPr lang="en-US" sz="240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240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15B671-AB3B-E656-A1BC-051BC9E570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1"/>
              </p:nvPr>
            </p:nvSpPr>
            <p:spPr>
              <a:xfrm>
                <a:off x="654228" y="1467623"/>
                <a:ext cx="10370191" cy="4250131"/>
              </a:xfrm>
              <a:blipFill>
                <a:blip r:embed="rId4"/>
                <a:stretch>
                  <a:fillRect l="-764" t="-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0D88F02-DDD0-207E-C6AF-855BBD5519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B612E9A-0158-2F5A-0FCA-65C8769A2FB9}"/>
              </a:ext>
            </a:extLst>
          </p:cNvPr>
          <p:cNvGrpSpPr/>
          <p:nvPr/>
        </p:nvGrpSpPr>
        <p:grpSpPr>
          <a:xfrm>
            <a:off x="175581" y="6288458"/>
            <a:ext cx="10742356" cy="481701"/>
            <a:chOff x="175581" y="6288458"/>
            <a:chExt cx="10742356" cy="48170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1C31474-5460-EA59-BCC1-21D718C98CA9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81F55A8-33C1-FF4F-19E2-E54CF8BD2121}"/>
                </a:ext>
              </a:extLst>
            </p:cNvPr>
            <p:cNvSpPr/>
            <p:nvPr/>
          </p:nvSpPr>
          <p:spPr>
            <a:xfrm>
              <a:off x="2030891" y="6288743"/>
              <a:ext cx="1856232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7A6DCA3-30FF-2045-3B09-B47E71EB7C9F}"/>
                </a:ext>
              </a:extLst>
            </p:cNvPr>
            <p:cNvSpPr/>
            <p:nvPr/>
          </p:nvSpPr>
          <p:spPr>
            <a:xfrm>
              <a:off x="3886662" y="6290224"/>
              <a:ext cx="5175504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Set:</a:t>
              </a:r>
            </a:p>
            <a:p>
              <a:pPr algn="ctr"/>
              <a:r>
                <a:rPr lang="en-US" sz="1600" b="1" err="1">
                  <a:solidFill>
                    <a:schemeClr val="tx1"/>
                  </a:solidFill>
                </a:rPr>
                <a:t>FavMac</a:t>
              </a:r>
              <a:r>
                <a:rPr lang="en-US" sz="1600" b="1">
                  <a:solidFill>
                    <a:schemeClr val="tx1"/>
                  </a:solidFill>
                </a:rPr>
                <a:t> (ICML’23)</a:t>
              </a:r>
              <a:r>
                <a:rPr lang="en-US" sz="1600">
                  <a:solidFill>
                    <a:schemeClr val="tx1"/>
                  </a:solidFill>
                </a:rPr>
                <a:t>, SCRIB (AAAI’22)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4DE5293-5762-B797-2A52-D50BF94D2B48}"/>
                </a:ext>
              </a:extLst>
            </p:cNvPr>
            <p:cNvSpPr/>
            <p:nvPr/>
          </p:nvSpPr>
          <p:spPr>
            <a:xfrm>
              <a:off x="9061705" y="6288458"/>
              <a:ext cx="1856232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NLG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4FB91D15-F11A-7A21-2863-ECDCE65D524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" b="292"/>
          <a:stretch/>
        </p:blipFill>
        <p:spPr>
          <a:xfrm>
            <a:off x="7044231" y="4027205"/>
            <a:ext cx="4243529" cy="5121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92568C-D06B-0175-D159-2567F7AB120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78" b="8778"/>
          <a:stretch/>
        </p:blipFill>
        <p:spPr>
          <a:xfrm>
            <a:off x="125464" y="4112536"/>
            <a:ext cx="4580952" cy="51219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6CC367-5BF2-7A4F-74C8-8EC131D5055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8" b="978"/>
          <a:stretch/>
        </p:blipFill>
        <p:spPr>
          <a:xfrm>
            <a:off x="3415392" y="2816184"/>
            <a:ext cx="3493288" cy="71746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537A76A-EBF8-A79E-3D32-2CBB86E9D60E}"/>
              </a:ext>
            </a:extLst>
          </p:cNvPr>
          <p:cNvSpPr txBox="1"/>
          <p:nvPr/>
        </p:nvSpPr>
        <p:spPr>
          <a:xfrm>
            <a:off x="1518664" y="4651524"/>
            <a:ext cx="103395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/>
              <a:t>Expected Risk Control</a:t>
            </a:r>
            <a:r>
              <a:rPr lang="en-US" b="1"/>
              <a:t>                                                                                                 Violation Control </a:t>
            </a:r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5FB98AD-0D86-EAC4-9CD0-5F3C40FFF29D}"/>
              </a:ext>
            </a:extLst>
          </p:cNvPr>
          <p:cNvCxnSpPr/>
          <p:nvPr/>
        </p:nvCxnSpPr>
        <p:spPr>
          <a:xfrm flipH="1">
            <a:off x="3886662" y="3533648"/>
            <a:ext cx="1061258" cy="457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FD5E220-B106-3994-4187-E8F47B20FAF1}"/>
              </a:ext>
            </a:extLst>
          </p:cNvPr>
          <p:cNvCxnSpPr>
            <a:cxnSpLocks/>
          </p:cNvCxnSpPr>
          <p:nvPr/>
        </p:nvCxnSpPr>
        <p:spPr>
          <a:xfrm>
            <a:off x="6132777" y="3536523"/>
            <a:ext cx="1111305" cy="457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314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err="1"/>
              <a:t>FavMac</a:t>
            </a:r>
            <a:r>
              <a:rPr lang="en-US"/>
              <a:t>: Fast Value-maximizing Prediction Set with Conformal Cost (Risk)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15B671-AB3B-E656-A1BC-051BC9E5703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>
                <p:ph type="body" sz="quarter" idx="21"/>
              </p:nvPr>
            </p:nvSpPr>
            <p:spPr>
              <a:xfrm>
                <a:off x="654228" y="1467623"/>
                <a:ext cx="10370191" cy="4250131"/>
              </a:xfrm>
            </p:spPr>
            <p:txBody>
              <a:bodyPr>
                <a:noAutofit/>
              </a:bodyPr>
              <a:lstStyle/>
              <a:p>
                <a:r>
                  <a:rPr lang="en-US" sz="240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Add classes one-by-one, from higher (estimated)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𝑣𝑎𝑙𝑢𝑒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𝑐𝑜𝑠𝑡</m:t>
                        </m:r>
                      </m:den>
                    </m:f>
                  </m:oMath>
                </a14:m>
                <a:r>
                  <a:rPr lang="en-US" sz="240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ratio to lower</a:t>
                </a:r>
              </a:p>
              <a:p>
                <a:endParaRPr lang="en-US" sz="240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240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Stop when estimated cost level is higher than a threshold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240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picked using preceding calibration data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endParaRPr lang="en-US" b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  <a:p>
                <a:endParaRPr lang="en-US" sz="240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240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Fast: Proposed </a:t>
                </a:r>
                <a:r>
                  <a:rPr lang="en-US" sz="2400" b="1" err="1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hlinkClick r:id="rId3" action="ppaction://hlinksldjump"/>
                  </a:rPr>
                  <a:t>QuantileTree</a:t>
                </a:r>
                <a:r>
                  <a:rPr lang="en-US" sz="240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(data structure) to efficiently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endParaRPr lang="en-US" sz="240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240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hlinkClick r:id="rId4" action="ppaction://hlinksldjump"/>
                  </a:rPr>
                  <a:t>Details</a:t>
                </a:r>
                <a:endParaRPr lang="en-US" sz="240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15B671-AB3B-E656-A1BC-051BC9E570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1"/>
              </p:nvPr>
            </p:nvSpPr>
            <p:spPr>
              <a:xfrm>
                <a:off x="654228" y="1467623"/>
                <a:ext cx="10370191" cy="4250131"/>
              </a:xfrm>
              <a:blipFill>
                <a:blip r:embed="rId5"/>
                <a:stretch>
                  <a:fillRect l="-7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0D88F02-DDD0-207E-C6AF-855BBD5519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B612E9A-0158-2F5A-0FCA-65C8769A2FB9}"/>
              </a:ext>
            </a:extLst>
          </p:cNvPr>
          <p:cNvGrpSpPr/>
          <p:nvPr/>
        </p:nvGrpSpPr>
        <p:grpSpPr>
          <a:xfrm>
            <a:off x="175581" y="6288458"/>
            <a:ext cx="10742356" cy="481701"/>
            <a:chOff x="175581" y="6288458"/>
            <a:chExt cx="10742356" cy="48170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1C31474-5460-EA59-BCC1-21D718C98CA9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81F55A8-33C1-FF4F-19E2-E54CF8BD2121}"/>
                </a:ext>
              </a:extLst>
            </p:cNvPr>
            <p:cNvSpPr/>
            <p:nvPr/>
          </p:nvSpPr>
          <p:spPr>
            <a:xfrm>
              <a:off x="2030891" y="6288743"/>
              <a:ext cx="1856232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7A6DCA3-30FF-2045-3B09-B47E71EB7C9F}"/>
                </a:ext>
              </a:extLst>
            </p:cNvPr>
            <p:cNvSpPr/>
            <p:nvPr/>
          </p:nvSpPr>
          <p:spPr>
            <a:xfrm>
              <a:off x="3886662" y="6290224"/>
              <a:ext cx="5175504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Set:</a:t>
              </a:r>
            </a:p>
            <a:p>
              <a:pPr algn="ctr"/>
              <a:r>
                <a:rPr lang="en-US" sz="1600" b="1" err="1">
                  <a:solidFill>
                    <a:schemeClr val="tx1"/>
                  </a:solidFill>
                </a:rPr>
                <a:t>FavMac</a:t>
              </a:r>
              <a:r>
                <a:rPr lang="en-US" sz="1600" b="1">
                  <a:solidFill>
                    <a:schemeClr val="tx1"/>
                  </a:solidFill>
                </a:rPr>
                <a:t> (ICML’23)</a:t>
              </a:r>
              <a:r>
                <a:rPr lang="en-US" sz="1600">
                  <a:solidFill>
                    <a:schemeClr val="tx1"/>
                  </a:solidFill>
                </a:rPr>
                <a:t>, SCRIB (AAAI’22)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4DE5293-5762-B797-2A52-D50BF94D2B48}"/>
                </a:ext>
              </a:extLst>
            </p:cNvPr>
            <p:cNvSpPr/>
            <p:nvPr/>
          </p:nvSpPr>
          <p:spPr>
            <a:xfrm>
              <a:off x="9061705" y="6288458"/>
              <a:ext cx="1856232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NLG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89E4428-9E9B-AB45-ADC7-3F7B662DED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0746" y="4348287"/>
            <a:ext cx="3515505" cy="189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65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Experiments</a:t>
            </a:r>
          </a:p>
          <a:p>
            <a:r>
              <a:rPr lang="en-US" sz="1800">
                <a:latin typeface="+mj-lt"/>
              </a:rPr>
              <a:t>False Positive Control (Expectation)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5B671-AB3B-E656-A1BC-051BC9E5703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4228" y="1467623"/>
            <a:ext cx="10370191" cy="4250131"/>
          </a:xfrm>
        </p:spPr>
        <p:txBody>
          <a:bodyPr>
            <a:noAutofit/>
          </a:bodyPr>
          <a:lstStyle/>
          <a:p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FavMac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(ours) achieves the highest </a:t>
            </a:r>
            <a:r>
              <a:rPr lang="en-US" sz="2400" b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endParaRPr lang="en-US" sz="24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289819-1976-A441-92FE-73DA80A3B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657" y="2990331"/>
            <a:ext cx="6136845" cy="2361845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679F79F-1F26-3193-AC73-AD8C757823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2D2FEA9-6F8E-286D-505E-CBF5BEACEDFC}"/>
              </a:ext>
            </a:extLst>
          </p:cNvPr>
          <p:cNvGrpSpPr/>
          <p:nvPr/>
        </p:nvGrpSpPr>
        <p:grpSpPr>
          <a:xfrm>
            <a:off x="175581" y="6288458"/>
            <a:ext cx="10742356" cy="481701"/>
            <a:chOff x="175581" y="6288458"/>
            <a:chExt cx="10742356" cy="48170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95DD0A3-298D-5273-F341-8DF942AECC86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40A126C-C273-9FB0-F7C3-238C1AAC18C7}"/>
                </a:ext>
              </a:extLst>
            </p:cNvPr>
            <p:cNvSpPr/>
            <p:nvPr/>
          </p:nvSpPr>
          <p:spPr>
            <a:xfrm>
              <a:off x="2030891" y="6288743"/>
              <a:ext cx="1856232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1AEE73-4533-FE8E-8B3A-36D57825A08D}"/>
                </a:ext>
              </a:extLst>
            </p:cNvPr>
            <p:cNvSpPr/>
            <p:nvPr/>
          </p:nvSpPr>
          <p:spPr>
            <a:xfrm>
              <a:off x="3886662" y="6290224"/>
              <a:ext cx="5175504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Set:</a:t>
              </a:r>
            </a:p>
            <a:p>
              <a:pPr algn="ctr"/>
              <a:r>
                <a:rPr lang="en-US" sz="1600" b="1" err="1">
                  <a:solidFill>
                    <a:schemeClr val="tx1"/>
                  </a:solidFill>
                </a:rPr>
                <a:t>FavMac</a:t>
              </a:r>
              <a:r>
                <a:rPr lang="en-US" sz="1600" b="1">
                  <a:solidFill>
                    <a:schemeClr val="tx1"/>
                  </a:solidFill>
                </a:rPr>
                <a:t> (ICML’23)</a:t>
              </a:r>
              <a:r>
                <a:rPr lang="en-US" sz="1600">
                  <a:solidFill>
                    <a:schemeClr val="tx1"/>
                  </a:solidFill>
                </a:rPr>
                <a:t>, SCRIB (AAAI’22)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1177845-9DBC-07F1-0448-08480FBC612E}"/>
                </a:ext>
              </a:extLst>
            </p:cNvPr>
            <p:cNvSpPr/>
            <p:nvPr/>
          </p:nvSpPr>
          <p:spPr>
            <a:xfrm>
              <a:off x="9061705" y="6288458"/>
              <a:ext cx="1856232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NLG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467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UQ for Natural Language Generation</a:t>
            </a: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1CFA3FC7-8A50-DFAB-1FA5-38C6B3E467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465AD1E-7B89-1171-4C60-F1A04A4486C8}"/>
              </a:ext>
            </a:extLst>
          </p:cNvPr>
          <p:cNvSpPr/>
          <p:nvPr/>
        </p:nvSpPr>
        <p:spPr>
          <a:xfrm>
            <a:off x="175581" y="1509258"/>
            <a:ext cx="8514250" cy="42183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3742E6B-223A-D08F-44EF-F4E285B73552}"/>
              </a:ext>
            </a:extLst>
          </p:cNvPr>
          <p:cNvSpPr/>
          <p:nvPr/>
        </p:nvSpPr>
        <p:spPr>
          <a:xfrm>
            <a:off x="521683" y="1805219"/>
            <a:ext cx="6599543" cy="37316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CAA434D-CAE3-340A-5403-A0BD05F8BA52}"/>
              </a:ext>
            </a:extLst>
          </p:cNvPr>
          <p:cNvSpPr/>
          <p:nvPr/>
        </p:nvSpPr>
        <p:spPr>
          <a:xfrm>
            <a:off x="2006237" y="2229270"/>
            <a:ext cx="2948399" cy="1898537"/>
          </a:xfrm>
          <a:prstGeom prst="ellipse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>
                <a:solidFill>
                  <a:schemeClr val="tx1">
                    <a:lumMod val="50000"/>
                    <a:lumOff val="50000"/>
                  </a:schemeClr>
                </a:solidFill>
              </a:rPr>
              <a:t>Conformal Prediction</a:t>
            </a:r>
          </a:p>
          <a:p>
            <a:pPr algn="ctr"/>
            <a:endParaRPr 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sz="1400" b="1">
                <a:solidFill>
                  <a:schemeClr val="tx1">
                    <a:lumMod val="50000"/>
                    <a:lumOff val="50000"/>
                  </a:schemeClr>
                </a:solidFill>
              </a:rPr>
              <a:t>LVD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 (NeurIPS’21)</a:t>
            </a:r>
          </a:p>
          <a:p>
            <a:pPr algn="ctr"/>
            <a:r>
              <a:rPr lang="en-US" sz="1400" b="1">
                <a:solidFill>
                  <a:schemeClr val="tx1">
                    <a:lumMod val="50000"/>
                    <a:lumOff val="50000"/>
                  </a:schemeClr>
                </a:solidFill>
              </a:rPr>
              <a:t>TQA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 (NeurIPS’22)</a:t>
            </a:r>
          </a:p>
          <a:p>
            <a:pPr algn="ctr"/>
            <a:r>
              <a:rPr lang="en-US" sz="1400" b="1">
                <a:solidFill>
                  <a:schemeClr val="tx1">
                    <a:lumMod val="50000"/>
                    <a:lumOff val="50000"/>
                  </a:schemeClr>
                </a:solidFill>
              </a:rPr>
              <a:t>CPTD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 (TMLR’22)</a:t>
            </a:r>
          </a:p>
          <a:p>
            <a:pPr algn="ctr"/>
            <a:endParaRPr 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C52568-4A8F-9A4D-4081-1D6DC222D5C2}"/>
              </a:ext>
            </a:extLst>
          </p:cNvPr>
          <p:cNvSpPr/>
          <p:nvPr/>
        </p:nvSpPr>
        <p:spPr>
          <a:xfrm>
            <a:off x="4954637" y="2847732"/>
            <a:ext cx="2123634" cy="1541438"/>
          </a:xfrm>
          <a:prstGeom prst="ellipse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>
                <a:solidFill>
                  <a:schemeClr val="tx1">
                    <a:lumMod val="50000"/>
                    <a:lumOff val="50000"/>
                  </a:schemeClr>
                </a:solidFill>
              </a:rPr>
              <a:t>Model Calibration</a:t>
            </a:r>
          </a:p>
          <a:p>
            <a:pPr algn="ctr"/>
            <a:endParaRPr lang="en-US" sz="16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sz="1600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KCal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 (ICLR’23)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98AF8C2-423A-18AE-6B00-63AFC402CB8B}"/>
              </a:ext>
            </a:extLst>
          </p:cNvPr>
          <p:cNvSpPr/>
          <p:nvPr/>
        </p:nvSpPr>
        <p:spPr>
          <a:xfrm>
            <a:off x="2329388" y="3663428"/>
            <a:ext cx="2625248" cy="1757319"/>
          </a:xfrm>
          <a:prstGeom prst="ellipse">
            <a:avLst/>
          </a:prstGeom>
          <a:solidFill>
            <a:schemeClr val="accent4">
              <a:lumMod val="25000"/>
              <a:lumOff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>
                <a:solidFill>
                  <a:schemeClr val="tx1">
                    <a:lumMod val="50000"/>
                    <a:lumOff val="50000"/>
                  </a:schemeClr>
                </a:solidFill>
              </a:rPr>
              <a:t>Risk-Controlling Prediction Set</a:t>
            </a:r>
          </a:p>
          <a:p>
            <a:pPr algn="ctr"/>
            <a:endParaRPr 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sz="1400" b="1">
                <a:solidFill>
                  <a:schemeClr val="tx1">
                    <a:lumMod val="50000"/>
                    <a:lumOff val="50000"/>
                  </a:schemeClr>
                </a:solidFill>
              </a:rPr>
              <a:t>SCRIB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 (AAAI’22)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9E3341-9E41-E630-7889-AEA743EF569F}"/>
              </a:ext>
            </a:extLst>
          </p:cNvPr>
          <p:cNvSpPr txBox="1"/>
          <p:nvPr/>
        </p:nvSpPr>
        <p:spPr>
          <a:xfrm>
            <a:off x="7056120" y="3279968"/>
            <a:ext cx="1694688" cy="539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>
                <a:solidFill>
                  <a:schemeClr val="bg1"/>
                </a:solidFill>
              </a:rPr>
              <a:t>Uncertainty Quantification (UQ)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8E5F95-778B-D915-5A49-C259FB8BE17D}"/>
              </a:ext>
            </a:extLst>
          </p:cNvPr>
          <p:cNvSpPr txBox="1"/>
          <p:nvPr/>
        </p:nvSpPr>
        <p:spPr>
          <a:xfrm>
            <a:off x="3292744" y="1893234"/>
            <a:ext cx="2216064" cy="312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/>
              <a:t>Distribution-Free UQ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11CCD7-B43A-BA8D-7853-2BECC9D15CD0}"/>
              </a:ext>
            </a:extLst>
          </p:cNvPr>
          <p:cNvSpPr txBox="1"/>
          <p:nvPr/>
        </p:nvSpPr>
        <p:spPr>
          <a:xfrm>
            <a:off x="2860331" y="3715057"/>
            <a:ext cx="1676083" cy="31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tx1">
                    <a:lumMod val="50000"/>
                    <a:lumOff val="50000"/>
                  </a:schemeClr>
                </a:solidFill>
              </a:rPr>
              <a:t>FavMac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 (ICML’23)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C80F77D-3306-5EF5-224A-DB1BAE60B035}"/>
              </a:ext>
            </a:extLst>
          </p:cNvPr>
          <p:cNvSpPr/>
          <p:nvPr/>
        </p:nvSpPr>
        <p:spPr>
          <a:xfrm>
            <a:off x="319152" y="3012181"/>
            <a:ext cx="2625248" cy="1608138"/>
          </a:xfrm>
          <a:prstGeom prst="ellipse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>
                <a:solidFill>
                  <a:schemeClr val="tx1"/>
                </a:solidFill>
              </a:rPr>
              <a:t>UQ for Natural Language Generation (</a:t>
            </a:r>
            <a:r>
              <a:rPr lang="en-US" sz="1400" b="1" i="1">
                <a:solidFill>
                  <a:schemeClr val="tx1"/>
                </a:solidFill>
              </a:rPr>
              <a:t>preprint</a:t>
            </a:r>
            <a:r>
              <a:rPr lang="en-US" sz="1400" i="1">
                <a:solidFill>
                  <a:schemeClr val="tx1"/>
                </a:solidFill>
              </a:rPr>
              <a:t>)</a:t>
            </a:r>
            <a:endParaRPr 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122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6687E-1710-2F02-C4B4-7EE3B1442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454A30-A85F-24DD-790D-56D9E0B1770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Uncertainty Estimation in Natural Language Generation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FEB306B-2C91-01EF-E444-49AABEB95C4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Placeholder 2">
                <a:extLst>
                  <a:ext uri="{FF2B5EF4-FFF2-40B4-BE49-F238E27FC236}">
                    <a16:creationId xmlns:a16="http://schemas.microsoft.com/office/drawing/2014/main" id="{1EF3F2F8-5696-FB38-BDDD-2EEBFC1A1D97}"/>
                  </a:ext>
                </a:extLst>
              </p:cNvPr>
              <p:cNvSpPr>
                <a:spLocks noGrp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10515952" cy="4250131"/>
              </a:xfrm>
            </p:spPr>
            <p:txBody>
              <a:bodyPr>
                <a:noAutofit/>
              </a:bodyPr>
              <a:lstStyle/>
              <a:p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Fix the LLM. Given an input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the base LLM generates responses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𝒔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∼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d>
                      <m:d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𝑺</m:t>
                        </m:r>
                      </m:e>
                      <m:e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e>
                    </m:d>
                  </m:oMath>
                </a14:m>
                <a:endParaRPr lang="en-US"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0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Goal: </a:t>
                </a:r>
                <a:r>
                  <a:rPr lang="en-US" sz="2000">
                    <a:latin typeface="Arial" panose="020B0604020202020204" pitchFamily="34" charset="0"/>
                    <a:cs typeface="Arial" panose="020B0604020202020204" pitchFamily="34" charset="0"/>
                  </a:rPr>
                  <a:t>Quantify the uncertainty/confidence of the generation(s)</a:t>
                </a:r>
              </a:p>
              <a:p>
                <a:pPr lvl="1"/>
                <a:endParaRPr lang="en-US"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0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Downstream tasks:</a:t>
                </a:r>
              </a:p>
              <a:p>
                <a:pPr lvl="1"/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Pick the best answer</a:t>
                </a:r>
              </a:p>
              <a:p>
                <a:pPr lvl="1"/>
                <a:r>
                  <a:rPr lang="en-US" sz="2000">
                    <a:latin typeface="Arial" panose="020B0604020202020204" pitchFamily="34" charset="0"/>
                    <a:cs typeface="Arial" panose="020B0604020202020204" pitchFamily="34" charset="0"/>
                  </a:rPr>
                  <a:t>Refuse to answer uncertain questions</a:t>
                </a:r>
                <a:endParaRPr lang="en-US"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ext Placeholder 2">
                <a:extLst>
                  <a:ext uri="{FF2B5EF4-FFF2-40B4-BE49-F238E27FC236}">
                    <a16:creationId xmlns:a16="http://schemas.microsoft.com/office/drawing/2014/main" id="{1EF3F2F8-5696-FB38-BDDD-2EEBFC1A1D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10515952" cy="4250131"/>
              </a:xfrm>
              <a:blipFill>
                <a:blip r:embed="rId3"/>
                <a:stretch>
                  <a:fillRect l="-522" t="-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25D37EA3-8777-9941-A09D-19E4C2FAF7D8}"/>
              </a:ext>
            </a:extLst>
          </p:cNvPr>
          <p:cNvGrpSpPr/>
          <p:nvPr/>
        </p:nvGrpSpPr>
        <p:grpSpPr>
          <a:xfrm>
            <a:off x="175581" y="6288427"/>
            <a:ext cx="10741895" cy="481732"/>
            <a:chOff x="175581" y="6288427"/>
            <a:chExt cx="10741895" cy="48173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08C1900-EDB3-AC4D-78A0-FB79E0E0B6CF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353D2C-B2C8-D041-1AFC-B6CAE6B3B6B0}"/>
                </a:ext>
              </a:extLst>
            </p:cNvPr>
            <p:cNvSpPr/>
            <p:nvPr/>
          </p:nvSpPr>
          <p:spPr>
            <a:xfrm>
              <a:off x="2030891" y="6288743"/>
              <a:ext cx="1856232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C2CEE6A-5B43-B3DF-42D3-DDC26C01C210}"/>
                </a:ext>
              </a:extLst>
            </p:cNvPr>
            <p:cNvSpPr/>
            <p:nvPr/>
          </p:nvSpPr>
          <p:spPr>
            <a:xfrm>
              <a:off x="3886662" y="6290224"/>
              <a:ext cx="1856232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3A1F4AB-D7A8-6F1D-64B4-1810C2C1CE4C}"/>
                </a:ext>
              </a:extLst>
            </p:cNvPr>
            <p:cNvSpPr/>
            <p:nvPr/>
          </p:nvSpPr>
          <p:spPr>
            <a:xfrm>
              <a:off x="5741972" y="6288427"/>
              <a:ext cx="5175504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Natural Language Generation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67B3DDB-E24B-7511-8F3E-0CC804B0F43E}"/>
              </a:ext>
            </a:extLst>
          </p:cNvPr>
          <p:cNvSpPr txBox="1"/>
          <p:nvPr/>
        </p:nvSpPr>
        <p:spPr>
          <a:xfrm>
            <a:off x="2461358" y="4473339"/>
            <a:ext cx="2148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>
                <a:solidFill>
                  <a:srgbClr val="111827"/>
                </a:solidFill>
                <a:effectLst/>
                <a:latin typeface="IBM Plex Mono" panose="020F0502020204030204" pitchFamily="49" charset="0"/>
              </a:rPr>
              <a:t>Why was the plague that struck Athens so devastating?</a:t>
            </a:r>
            <a:endParaRPr lang="en-US" sz="12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5CF9F3-539C-CB20-CF27-B817FCD437D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822" t="20761" r="27608" b="20376"/>
          <a:stretch/>
        </p:blipFill>
        <p:spPr>
          <a:xfrm>
            <a:off x="4609596" y="3804710"/>
            <a:ext cx="1541643" cy="2082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9F20E7-2EC7-7DD0-5FC3-F998D7941BF1}"/>
              </a:ext>
            </a:extLst>
          </p:cNvPr>
          <p:cNvSpPr txBox="1"/>
          <p:nvPr/>
        </p:nvSpPr>
        <p:spPr>
          <a:xfrm>
            <a:off x="6172783" y="3954757"/>
            <a:ext cx="2989582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/>
              <a:t>There’s no cure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47526C-F1B8-CFA6-C79F-7E093E38E607}"/>
              </a:ext>
            </a:extLst>
          </p:cNvPr>
          <p:cNvSpPr txBox="1"/>
          <p:nvPr/>
        </p:nvSpPr>
        <p:spPr>
          <a:xfrm>
            <a:off x="6172785" y="4439505"/>
            <a:ext cx="2989582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/>
              <a:t>A large flock of birds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2F495F-98B1-E841-6F92-5453E44F9A8C}"/>
              </a:ext>
            </a:extLst>
          </p:cNvPr>
          <p:cNvSpPr txBox="1"/>
          <p:nvPr/>
        </p:nvSpPr>
        <p:spPr>
          <a:xfrm>
            <a:off x="6172784" y="4981171"/>
            <a:ext cx="2989581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/>
              <a:t>It was so short and caused so much </a:t>
            </a:r>
            <a:r>
              <a:rPr lang="en-US" sz="1200" err="1"/>
              <a:t>quaratic</a:t>
            </a:r>
            <a:endParaRPr lang="en-US" sz="1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19F4CC-7DA5-D993-2B07-6B35349D136E}"/>
              </a:ext>
            </a:extLst>
          </p:cNvPr>
          <p:cNvSpPr txBox="1"/>
          <p:nvPr/>
        </p:nvSpPr>
        <p:spPr>
          <a:xfrm>
            <a:off x="6172784" y="5525895"/>
            <a:ext cx="2989582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/>
              <a:t>It happened just as farming season began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5348807-2620-7557-9DEE-9D4DAD00E484}"/>
              </a:ext>
            </a:extLst>
          </p:cNvPr>
          <p:cNvCxnSpPr>
            <a:cxnSpLocks/>
          </p:cNvCxnSpPr>
          <p:nvPr/>
        </p:nvCxnSpPr>
        <p:spPr>
          <a:xfrm>
            <a:off x="4609596" y="4846060"/>
            <a:ext cx="162934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7309C50-81A9-3BD8-EDFE-F4B5CFCE842B}"/>
                  </a:ext>
                </a:extLst>
              </p:cNvPr>
              <p:cNvSpPr txBox="1"/>
              <p:nvPr/>
            </p:nvSpPr>
            <p:spPr>
              <a:xfrm>
                <a:off x="2693972" y="5835078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input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/>
                  <a:t>                               Base LLM             </a:t>
                </a:r>
                <a:r>
                  <a:rPr lang="en-US">
                    <a:latin typeface="Arial" panose="020B0604020202020204" pitchFamily="34" charset="0"/>
                    <a:cs typeface="Arial" panose="020B0604020202020204" pitchFamily="34" charset="0"/>
                  </a:rPr>
                  <a:t> response(s)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𝒔</m:t>
                    </m:r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7309C50-81A9-3BD8-EDFE-F4B5CFCE8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972" y="5835078"/>
                <a:ext cx="6096000" cy="369332"/>
              </a:xfrm>
              <a:prstGeom prst="rect">
                <a:avLst/>
              </a:prstGeom>
              <a:blipFill>
                <a:blip r:embed="rId5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8025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Uncertainty vs Confidence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Placeholder 2">
                <a:extLst>
                  <a:ext uri="{FF2B5EF4-FFF2-40B4-BE49-F238E27FC236}">
                    <a16:creationId xmlns:a16="http://schemas.microsoft.com/office/drawing/2014/main" id="{5D8D7E8F-CD98-CD0D-2A47-15D8CB92D125}"/>
                  </a:ext>
                </a:extLst>
              </p:cNvPr>
              <p:cNvSpPr>
                <a:spLocks noGrp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10515952" cy="4250131"/>
              </a:xfrm>
            </p:spPr>
            <p:txBody>
              <a:bodyPr>
                <a:noAutofit/>
              </a:bodyPr>
              <a:lstStyle/>
              <a:p>
                <a:r>
                  <a:rPr lang="en-US" sz="2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Uncertainty measure is a property of the perceived predictive </a:t>
                </a:r>
                <a:r>
                  <a:rPr lang="en-US" sz="2000" b="1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distribution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Takes the form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0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“Dispersion” or “Variance” of the predictive distribution</a:t>
                </a:r>
              </a:p>
              <a:p>
                <a:endPara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ext Placeholder 2">
                <a:extLst>
                  <a:ext uri="{FF2B5EF4-FFF2-40B4-BE49-F238E27FC236}">
                    <a16:creationId xmlns:a16="http://schemas.microsoft.com/office/drawing/2014/main" id="{5D8D7E8F-CD98-CD0D-2A47-15D8CB92D1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10515952" cy="4250131"/>
              </a:xfrm>
              <a:blipFill>
                <a:blip r:embed="rId3"/>
                <a:stretch>
                  <a:fillRect l="-522" t="-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E3A5509D-6910-714F-F76F-B338A877736E}"/>
              </a:ext>
            </a:extLst>
          </p:cNvPr>
          <p:cNvGrpSpPr/>
          <p:nvPr/>
        </p:nvGrpSpPr>
        <p:grpSpPr>
          <a:xfrm>
            <a:off x="175581" y="6288427"/>
            <a:ext cx="10741895" cy="481732"/>
            <a:chOff x="175581" y="6288427"/>
            <a:chExt cx="10741895" cy="48173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E1A992D-6CC3-BB41-562B-55F7F92E885B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9DC3057-ABE2-5FF3-3A86-708DC18B0EE3}"/>
                </a:ext>
              </a:extLst>
            </p:cNvPr>
            <p:cNvSpPr/>
            <p:nvPr/>
          </p:nvSpPr>
          <p:spPr>
            <a:xfrm>
              <a:off x="2030891" y="6288743"/>
              <a:ext cx="1856232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2C56756-9C83-E6AD-7FE9-885191D7E73B}"/>
                </a:ext>
              </a:extLst>
            </p:cNvPr>
            <p:cNvSpPr/>
            <p:nvPr/>
          </p:nvSpPr>
          <p:spPr>
            <a:xfrm>
              <a:off x="3886662" y="6290224"/>
              <a:ext cx="1856232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4122763-B0A4-2FEE-68B2-7736F9626973}"/>
                </a:ext>
              </a:extLst>
            </p:cNvPr>
            <p:cNvSpPr/>
            <p:nvPr/>
          </p:nvSpPr>
          <p:spPr>
            <a:xfrm>
              <a:off x="5741972" y="6288427"/>
              <a:ext cx="5175504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Natural Language Generation</a:t>
              </a:r>
            </a:p>
          </p:txBody>
        </p:sp>
      </p:grpSp>
      <p:pic>
        <p:nvPicPr>
          <p:cNvPr id="17" name="Picture 6">
            <a:extLst>
              <a:ext uri="{FF2B5EF4-FFF2-40B4-BE49-F238E27FC236}">
                <a16:creationId xmlns:a16="http://schemas.microsoft.com/office/drawing/2014/main" id="{54DAB326-E0BF-BF0F-B459-E7DBB3747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232426" y="3368903"/>
            <a:ext cx="3579763" cy="2394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1A5591-1843-8EF6-7AE4-2E2EECB8148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822" t="20761" r="27608" b="20376"/>
          <a:stretch/>
        </p:blipFill>
        <p:spPr>
          <a:xfrm>
            <a:off x="1854832" y="3333750"/>
            <a:ext cx="1436129" cy="2076945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5B1360A8-B139-45D0-C286-E55B98503824}"/>
              </a:ext>
            </a:extLst>
          </p:cNvPr>
          <p:cNvGrpSpPr/>
          <p:nvPr/>
        </p:nvGrpSpPr>
        <p:grpSpPr>
          <a:xfrm>
            <a:off x="298627" y="2685759"/>
            <a:ext cx="5918023" cy="1373855"/>
            <a:chOff x="298627" y="2685759"/>
            <a:chExt cx="5918023" cy="137385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48858FF-613A-D2A0-FB28-5D3D43AFD39B}"/>
                </a:ext>
              </a:extLst>
            </p:cNvPr>
            <p:cNvSpPr/>
            <p:nvPr/>
          </p:nvSpPr>
          <p:spPr>
            <a:xfrm>
              <a:off x="3244850" y="2685759"/>
              <a:ext cx="2971800" cy="1373855"/>
            </a:xfrm>
            <a:prstGeom prst="rect">
              <a:avLst/>
            </a:prstGeom>
            <a:solidFill>
              <a:srgbClr val="468EC1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563DB83-B59E-CD9B-8FA9-8600DA307DFB}"/>
                </a:ext>
              </a:extLst>
            </p:cNvPr>
            <p:cNvSpPr txBox="1"/>
            <p:nvPr/>
          </p:nvSpPr>
          <p:spPr>
            <a:xfrm>
              <a:off x="298627" y="3009923"/>
              <a:ext cx="1556205" cy="769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0" i="0" dirty="0">
                  <a:solidFill>
                    <a:srgbClr val="111827"/>
                  </a:solidFill>
                  <a:effectLst/>
                  <a:latin typeface="IBM Plex Mono" panose="020F0502020204030204" pitchFamily="49" charset="0"/>
                </a:rPr>
                <a:t>Why was the plague that struck Athens so devastating?</a:t>
              </a:r>
              <a:endParaRPr lang="en-US" sz="11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7DE59AA-0D3E-AC11-7579-DE3798375C6F}"/>
                </a:ext>
              </a:extLst>
            </p:cNvPr>
            <p:cNvSpPr txBox="1"/>
            <p:nvPr/>
          </p:nvSpPr>
          <p:spPr>
            <a:xfrm>
              <a:off x="3311031" y="2734084"/>
              <a:ext cx="2784968" cy="27623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/>
                <a:t>There’s no cure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FDDE706-E761-2F6D-1861-EA4C2A79EBCF}"/>
                </a:ext>
              </a:extLst>
            </p:cNvPr>
            <p:cNvSpPr txBox="1"/>
            <p:nvPr/>
          </p:nvSpPr>
          <p:spPr>
            <a:xfrm>
              <a:off x="3311032" y="3071433"/>
              <a:ext cx="2784968" cy="27623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/>
                <a:t>A large flock of birds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70EBA47-E4BA-145F-843C-2DDB0B277C90}"/>
                </a:ext>
              </a:extLst>
            </p:cNvPr>
            <p:cNvSpPr txBox="1"/>
            <p:nvPr/>
          </p:nvSpPr>
          <p:spPr>
            <a:xfrm>
              <a:off x="3311032" y="3408402"/>
              <a:ext cx="2784967" cy="27623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/>
                <a:t>It was so short and caused so much </a:t>
              </a:r>
              <a:r>
                <a:rPr lang="en-US" sz="1100" err="1"/>
                <a:t>quaratic</a:t>
              </a:r>
              <a:endParaRPr lang="en-US" sz="11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7D9FA6F-C948-5207-0B74-890A60498A13}"/>
                </a:ext>
              </a:extLst>
            </p:cNvPr>
            <p:cNvSpPr txBox="1"/>
            <p:nvPr/>
          </p:nvSpPr>
          <p:spPr>
            <a:xfrm>
              <a:off x="3311032" y="3742070"/>
              <a:ext cx="2784968" cy="27623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/>
                <a:t>It happened just as farming season began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DA29951-5CE2-F2F8-233C-660CDE54ACA6}"/>
                </a:ext>
              </a:extLst>
            </p:cNvPr>
            <p:cNvCxnSpPr>
              <a:cxnSpLocks/>
            </p:cNvCxnSpPr>
            <p:nvPr/>
          </p:nvCxnSpPr>
          <p:spPr>
            <a:xfrm>
              <a:off x="1854832" y="3381614"/>
              <a:ext cx="151782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C83066A-99CF-33AC-EE18-CF86C356C21B}"/>
              </a:ext>
            </a:extLst>
          </p:cNvPr>
          <p:cNvGrpSpPr/>
          <p:nvPr/>
        </p:nvGrpSpPr>
        <p:grpSpPr>
          <a:xfrm>
            <a:off x="298627" y="4610100"/>
            <a:ext cx="5918023" cy="1481316"/>
            <a:chOff x="298627" y="4610100"/>
            <a:chExt cx="5918023" cy="148131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B759F9F-09F1-82DB-AA1E-7EBA78B059A1}"/>
                </a:ext>
              </a:extLst>
            </p:cNvPr>
            <p:cNvSpPr/>
            <p:nvPr/>
          </p:nvSpPr>
          <p:spPr>
            <a:xfrm>
              <a:off x="3244850" y="4610100"/>
              <a:ext cx="2971800" cy="1481316"/>
            </a:xfrm>
            <a:prstGeom prst="rect">
              <a:avLst/>
            </a:prstGeom>
            <a:solidFill>
              <a:srgbClr val="FFAF69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7EBBCE4-CC9A-728C-943C-CA9750C5CA57}"/>
                </a:ext>
              </a:extLst>
            </p:cNvPr>
            <p:cNvSpPr txBox="1"/>
            <p:nvPr/>
          </p:nvSpPr>
          <p:spPr>
            <a:xfrm>
              <a:off x="298627" y="5131733"/>
              <a:ext cx="155620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0" i="0">
                  <a:solidFill>
                    <a:srgbClr val="111827"/>
                  </a:solidFill>
                  <a:effectLst/>
                  <a:latin typeface="IBM Plex Mono" panose="020F0502020204030204" pitchFamily="49" charset="0"/>
                </a:rPr>
                <a:t>How was he traveling then?</a:t>
              </a:r>
              <a:endParaRPr lang="en-US" sz="110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8B84183-198D-46E6-EF96-2FA6027CDAF0}"/>
                </a:ext>
              </a:extLst>
            </p:cNvPr>
            <p:cNvSpPr txBox="1"/>
            <p:nvPr/>
          </p:nvSpPr>
          <p:spPr>
            <a:xfrm>
              <a:off x="3311030" y="4699647"/>
              <a:ext cx="2784968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/>
                <a:t>By foot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AD97E0B-AAFE-E795-1AD5-8ABAD0BBC6A5}"/>
                </a:ext>
              </a:extLst>
            </p:cNvPr>
            <p:cNvSpPr txBox="1"/>
            <p:nvPr/>
          </p:nvSpPr>
          <p:spPr>
            <a:xfrm>
              <a:off x="3311031" y="5036996"/>
              <a:ext cx="2784968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/>
                <a:t>Walking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CE58999-25E2-7D4B-14A4-FE34154EBEA6}"/>
                </a:ext>
              </a:extLst>
            </p:cNvPr>
            <p:cNvSpPr txBox="1"/>
            <p:nvPr/>
          </p:nvSpPr>
          <p:spPr>
            <a:xfrm>
              <a:off x="3311031" y="5373965"/>
              <a:ext cx="2784967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/>
                <a:t>Walked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58F245A-BD3B-42C9-A81F-C28C0D2F1E42}"/>
                </a:ext>
              </a:extLst>
            </p:cNvPr>
            <p:cNvSpPr txBox="1"/>
            <p:nvPr/>
          </p:nvSpPr>
          <p:spPr>
            <a:xfrm>
              <a:off x="3311031" y="5707633"/>
              <a:ext cx="2784968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/>
                <a:t>On foot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8D5DB8B-2386-8DA9-1645-6F837517DC3E}"/>
                </a:ext>
              </a:extLst>
            </p:cNvPr>
            <p:cNvCxnSpPr>
              <a:cxnSpLocks/>
            </p:cNvCxnSpPr>
            <p:nvPr/>
          </p:nvCxnSpPr>
          <p:spPr>
            <a:xfrm>
              <a:off x="1854831" y="5347177"/>
              <a:ext cx="151782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8" name="Picture 6">
            <a:extLst>
              <a:ext uri="{FF2B5EF4-FFF2-40B4-BE49-F238E27FC236}">
                <a16:creationId xmlns:a16="http://schemas.microsoft.com/office/drawing/2014/main" id="{F4E1111C-D82D-DCB4-41F7-1040CABF4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91753" y="9367922"/>
            <a:ext cx="3579762" cy="2394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6847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9C04A-8F76-B06A-BF8D-4E30D5EE5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015EE7-5188-A613-83CF-312F7DFC85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Uncertainty vs Confidence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8DE1ACDC-AAE5-E5DE-CA2D-92E8A5DE354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Placeholder 2">
                <a:extLst>
                  <a:ext uri="{FF2B5EF4-FFF2-40B4-BE49-F238E27FC236}">
                    <a16:creationId xmlns:a16="http://schemas.microsoft.com/office/drawing/2014/main" id="{5A38614D-FA27-A578-B860-6DF911C78954}"/>
                  </a:ext>
                </a:extLst>
              </p:cNvPr>
              <p:cNvSpPr>
                <a:spLocks noGrp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10515952" cy="4250131"/>
              </a:xfrm>
            </p:spPr>
            <p:txBody>
              <a:bodyPr>
                <a:noAutofit/>
              </a:bodyPr>
              <a:lstStyle/>
              <a:p>
                <a:r>
                  <a:rPr lang="en-US" sz="2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Confidence measure depends on both the predictive </a:t>
                </a:r>
                <a:r>
                  <a:rPr lang="en-US" sz="2000" b="1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distribution</a:t>
                </a:r>
                <a:r>
                  <a:rPr lang="en-US" sz="2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the</a:t>
                </a:r>
                <a:r>
                  <a:rPr lang="en-US" sz="20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b="1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answer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Takes the form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Should correlate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𝑐𝑜𝑟𝑟𝑒𝑐𝑡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perceived by the model itself</a:t>
                </a:r>
              </a:p>
              <a:p>
                <a:endPara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ext Placeholder 2">
                <a:extLst>
                  <a:ext uri="{FF2B5EF4-FFF2-40B4-BE49-F238E27FC236}">
                    <a16:creationId xmlns:a16="http://schemas.microsoft.com/office/drawing/2014/main" id="{5A38614D-FA27-A578-B860-6DF911C789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10515952" cy="4250131"/>
              </a:xfrm>
              <a:blipFill>
                <a:blip r:embed="rId3"/>
                <a:stretch>
                  <a:fillRect l="-522" t="-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660F2EA0-F99C-AFDF-AE1D-A143F4759820}"/>
              </a:ext>
            </a:extLst>
          </p:cNvPr>
          <p:cNvGrpSpPr/>
          <p:nvPr/>
        </p:nvGrpSpPr>
        <p:grpSpPr>
          <a:xfrm>
            <a:off x="175581" y="6288427"/>
            <a:ext cx="10741895" cy="481732"/>
            <a:chOff x="175581" y="6288427"/>
            <a:chExt cx="10741895" cy="48173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737C347-752A-1DF2-6D30-80DAA2D8AF1A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3A8F93-B95A-9A68-5F63-282B602BA747}"/>
                </a:ext>
              </a:extLst>
            </p:cNvPr>
            <p:cNvSpPr/>
            <p:nvPr/>
          </p:nvSpPr>
          <p:spPr>
            <a:xfrm>
              <a:off x="2030891" y="6288743"/>
              <a:ext cx="1856232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94E0492-DBC2-DB91-6516-5E653565BF91}"/>
                </a:ext>
              </a:extLst>
            </p:cNvPr>
            <p:cNvSpPr/>
            <p:nvPr/>
          </p:nvSpPr>
          <p:spPr>
            <a:xfrm>
              <a:off x="3886662" y="6290224"/>
              <a:ext cx="1856232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7BD8C88-78B9-11E8-5453-42D4CD03B4FF}"/>
                </a:ext>
              </a:extLst>
            </p:cNvPr>
            <p:cNvSpPr/>
            <p:nvPr/>
          </p:nvSpPr>
          <p:spPr>
            <a:xfrm>
              <a:off x="5741972" y="6288427"/>
              <a:ext cx="5175504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Natural Language Generation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194C28E-E03C-BAD9-B9F5-CD2463FFB6D6}"/>
              </a:ext>
            </a:extLst>
          </p:cNvPr>
          <p:cNvGrpSpPr/>
          <p:nvPr/>
        </p:nvGrpSpPr>
        <p:grpSpPr>
          <a:xfrm>
            <a:off x="298627" y="3337560"/>
            <a:ext cx="5797373" cy="2076936"/>
            <a:chOff x="686921" y="3719571"/>
            <a:chExt cx="6223312" cy="208270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4403C5E-D165-F306-2027-0C29379B7541}"/>
                </a:ext>
              </a:extLst>
            </p:cNvPr>
            <p:cNvSpPr txBox="1"/>
            <p:nvPr/>
          </p:nvSpPr>
          <p:spPr>
            <a:xfrm>
              <a:off x="686921" y="4388199"/>
              <a:ext cx="1670541" cy="7715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0" i="0">
                  <a:solidFill>
                    <a:srgbClr val="111827"/>
                  </a:solidFill>
                  <a:effectLst/>
                  <a:latin typeface="IBM Plex Mono" panose="020F0502020204030204" pitchFamily="49" charset="0"/>
                </a:rPr>
                <a:t>Why was the plague that struck Athens so devastating?</a:t>
              </a:r>
              <a:endParaRPr lang="en-US" sz="110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26A07E5-4D31-B2FD-1CBA-11383B9E9E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8822" t="20761" r="27608" b="20376"/>
            <a:stretch/>
          </p:blipFill>
          <p:spPr>
            <a:xfrm>
              <a:off x="2357462" y="3719571"/>
              <a:ext cx="1541643" cy="20827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D216F3F-F1D7-66B2-24DF-91BB68D4947A}"/>
                </a:ext>
              </a:extLst>
            </p:cNvPr>
            <p:cNvSpPr txBox="1"/>
            <p:nvPr/>
          </p:nvSpPr>
          <p:spPr>
            <a:xfrm>
              <a:off x="3920649" y="3869617"/>
              <a:ext cx="2989582" cy="26233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>
                  <a:solidFill>
                    <a:schemeClr val="accent4">
                      <a:lumMod val="90000"/>
                      <a:lumOff val="10000"/>
                    </a:schemeClr>
                  </a:solidFill>
                </a:rPr>
                <a:t>There’s no cure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2F18B0F-E4AC-FB5C-A552-C04EBF2A852F}"/>
                </a:ext>
              </a:extLst>
            </p:cNvPr>
            <p:cNvSpPr txBox="1"/>
            <p:nvPr/>
          </p:nvSpPr>
          <p:spPr>
            <a:xfrm>
              <a:off x="3920651" y="4354365"/>
              <a:ext cx="2989582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/>
                <a:t>A large flock of birds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641BEFB-E802-C448-5976-118586133F39}"/>
                </a:ext>
              </a:extLst>
            </p:cNvPr>
            <p:cNvSpPr txBox="1"/>
            <p:nvPr/>
          </p:nvSpPr>
          <p:spPr>
            <a:xfrm>
              <a:off x="3920651" y="4896031"/>
              <a:ext cx="2989581" cy="26233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>
                  <a:solidFill>
                    <a:srgbClr val="FF0000"/>
                  </a:solidFill>
                </a:rPr>
                <a:t>It was so short and caused so much </a:t>
              </a:r>
              <a:r>
                <a:rPr lang="en-US" sz="1100" err="1">
                  <a:solidFill>
                    <a:srgbClr val="FF0000"/>
                  </a:solidFill>
                </a:rPr>
                <a:t>quaratic</a:t>
              </a:r>
              <a:endParaRPr lang="en-US" sz="1100">
                <a:solidFill>
                  <a:srgbClr val="FF0000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06B9229-E74F-645F-06AA-48200941657D}"/>
                </a:ext>
              </a:extLst>
            </p:cNvPr>
            <p:cNvSpPr txBox="1"/>
            <p:nvPr/>
          </p:nvSpPr>
          <p:spPr>
            <a:xfrm>
              <a:off x="3920650" y="5440755"/>
              <a:ext cx="2989582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/>
                <a:t>It happened just as farming season began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CDA227C-70D4-E43F-EF09-E1EF157342E9}"/>
                </a:ext>
              </a:extLst>
            </p:cNvPr>
            <p:cNvCxnSpPr>
              <a:cxnSpLocks/>
            </p:cNvCxnSpPr>
            <p:nvPr/>
          </p:nvCxnSpPr>
          <p:spPr>
            <a:xfrm>
              <a:off x="2357462" y="4760920"/>
              <a:ext cx="1629341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99873430-A1A5-0222-45A0-FDA4AC047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232905" y="3364992"/>
            <a:ext cx="3581551" cy="2395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2083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6C3E1-8122-DD56-9F0C-93986AEA3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3AEF68B-7845-B293-61A7-B64A4C283E1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Black-box Uncertainty Estimation for LLM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86A19AAA-DB83-A706-C4B0-07CC9663C3E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Placeholder 2">
                <a:extLst>
                  <a:ext uri="{FF2B5EF4-FFF2-40B4-BE49-F238E27FC236}">
                    <a16:creationId xmlns:a16="http://schemas.microsoft.com/office/drawing/2014/main" id="{34C5EE87-0406-189F-6F94-1E5AB8FFF8CD}"/>
                  </a:ext>
                </a:extLst>
              </p:cNvPr>
              <p:cNvSpPr>
                <a:spLocks noGrp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10515952" cy="4250131"/>
              </a:xfrm>
            </p:spPr>
            <p:txBody>
              <a:bodyPr>
                <a:noAutofit/>
              </a:bodyPr>
              <a:lstStyle/>
              <a:p>
                <a:r>
                  <a:rPr lang="en-US" sz="18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Main steps: </a:t>
                </a:r>
              </a:p>
              <a:p>
                <a:pPr lvl="1"/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Sample multiple responses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r>
                  <a:rPr 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Compute similarity matrix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 of the responses</a:t>
                </a:r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Compute </a:t>
                </a:r>
                <a:r>
                  <a:rPr 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uncertainty</a:t>
                </a:r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or confidence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ext Placeholder 2">
                <a:extLst>
                  <a:ext uri="{FF2B5EF4-FFF2-40B4-BE49-F238E27FC236}">
                    <a16:creationId xmlns:a16="http://schemas.microsoft.com/office/drawing/2014/main" id="{34C5EE87-0406-189F-6F94-1E5AB8FFF8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10515952" cy="4250131"/>
              </a:xfrm>
              <a:blipFill>
                <a:blip r:embed="rId3"/>
                <a:stretch>
                  <a:fillRect l="-348" t="-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635B07D9-012D-B289-883B-DA8933D24879}"/>
              </a:ext>
            </a:extLst>
          </p:cNvPr>
          <p:cNvGrpSpPr/>
          <p:nvPr/>
        </p:nvGrpSpPr>
        <p:grpSpPr>
          <a:xfrm>
            <a:off x="175581" y="6288427"/>
            <a:ext cx="10741895" cy="481732"/>
            <a:chOff x="175581" y="6288427"/>
            <a:chExt cx="10741895" cy="48173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0F44C60-C30B-3953-8C8E-1B95DE9A36FE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FC52356-3D38-369C-DFB8-E4417B681825}"/>
                </a:ext>
              </a:extLst>
            </p:cNvPr>
            <p:cNvSpPr/>
            <p:nvPr/>
          </p:nvSpPr>
          <p:spPr>
            <a:xfrm>
              <a:off x="2030891" y="6288743"/>
              <a:ext cx="1856232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4E937AF-A8E2-F0DA-5359-DC6EB8013D86}"/>
                </a:ext>
              </a:extLst>
            </p:cNvPr>
            <p:cNvSpPr/>
            <p:nvPr/>
          </p:nvSpPr>
          <p:spPr>
            <a:xfrm>
              <a:off x="3886662" y="6290224"/>
              <a:ext cx="1856232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984F0C6-27B6-C3C0-03D9-5074D9520F0E}"/>
                </a:ext>
              </a:extLst>
            </p:cNvPr>
            <p:cNvSpPr/>
            <p:nvPr/>
          </p:nvSpPr>
          <p:spPr>
            <a:xfrm>
              <a:off x="5741972" y="6288427"/>
              <a:ext cx="5175504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Natural Language Generation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0738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6C3E1-8122-DD56-9F0C-93986AEA3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3AEF68B-7845-B293-61A7-B64A4C283E1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Similarity Matrix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86A19AAA-DB83-A706-C4B0-07CC9663C3E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Placeholder 2">
                <a:extLst>
                  <a:ext uri="{FF2B5EF4-FFF2-40B4-BE49-F238E27FC236}">
                    <a16:creationId xmlns:a16="http://schemas.microsoft.com/office/drawing/2014/main" id="{34C5EE87-0406-189F-6F94-1E5AB8FFF8CD}"/>
                  </a:ext>
                </a:extLst>
              </p:cNvPr>
              <p:cNvSpPr>
                <a:spLocks noGrp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10515952" cy="4250131"/>
              </a:xfrm>
            </p:spPr>
            <p:txBody>
              <a:bodyPr>
                <a:noAutofit/>
              </a:bodyPr>
              <a:lstStyle/>
              <a:p>
                <a:r>
                  <a:rPr lang="en-US" sz="20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Lexical: </a:t>
                </a:r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Jaccard similarity</a:t>
                </a:r>
              </a:p>
              <a:p>
                <a:endParaRPr lang="en-US"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0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Semantic: </a:t>
                </a:r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Natural Language Inference (NLI) model </a:t>
                </a:r>
              </a:p>
              <a:p>
                <a:pPr lvl="1"/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 NLI model takes two texts and returns a probability vector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lvl="2"/>
                <a:r>
                  <a:rPr lang="en-US" sz="1600" b="1">
                    <a:latin typeface="Arial" panose="020B0604020202020204" pitchFamily="34" charset="0"/>
                    <a:cs typeface="Arial" panose="020B0604020202020204" pitchFamily="34" charset="0"/>
                  </a:rPr>
                  <a:t>Entailment: </a:t>
                </a: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“Hypothesis” is true given the “premise”</a:t>
                </a:r>
              </a:p>
              <a:p>
                <a:pPr lvl="2"/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Neutral: Undetermined</a:t>
                </a:r>
              </a:p>
              <a:p>
                <a:pPr lvl="2"/>
                <a:r>
                  <a:rPr lang="en-US" sz="1600" b="1">
                    <a:latin typeface="Arial" panose="020B0604020202020204" pitchFamily="34" charset="0"/>
                    <a:cs typeface="Arial" panose="020B0604020202020204" pitchFamily="34" charset="0"/>
                  </a:rPr>
                  <a:t>Contradiction: </a:t>
                </a:r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“Hypothesis” is false given the “premise”</a:t>
                </a:r>
                <a:endParaRPr lang="en-US"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ext Placeholder 2">
                <a:extLst>
                  <a:ext uri="{FF2B5EF4-FFF2-40B4-BE49-F238E27FC236}">
                    <a16:creationId xmlns:a16="http://schemas.microsoft.com/office/drawing/2014/main" id="{34C5EE87-0406-189F-6F94-1E5AB8FFF8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10515952" cy="4250131"/>
              </a:xfrm>
              <a:blipFill>
                <a:blip r:embed="rId3"/>
                <a:stretch>
                  <a:fillRect l="-522" t="-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635B07D9-012D-B289-883B-DA8933D24879}"/>
              </a:ext>
            </a:extLst>
          </p:cNvPr>
          <p:cNvGrpSpPr/>
          <p:nvPr/>
        </p:nvGrpSpPr>
        <p:grpSpPr>
          <a:xfrm>
            <a:off x="175581" y="6288427"/>
            <a:ext cx="10741895" cy="481732"/>
            <a:chOff x="175581" y="6288427"/>
            <a:chExt cx="10741895" cy="48173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0F44C60-C30B-3953-8C8E-1B95DE9A36FE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FC52356-3D38-369C-DFB8-E4417B681825}"/>
                </a:ext>
              </a:extLst>
            </p:cNvPr>
            <p:cNvSpPr/>
            <p:nvPr/>
          </p:nvSpPr>
          <p:spPr>
            <a:xfrm>
              <a:off x="2030891" y="6288743"/>
              <a:ext cx="1856232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4E937AF-A8E2-F0DA-5359-DC6EB8013D86}"/>
                </a:ext>
              </a:extLst>
            </p:cNvPr>
            <p:cNvSpPr/>
            <p:nvPr/>
          </p:nvSpPr>
          <p:spPr>
            <a:xfrm>
              <a:off x="3886662" y="6290224"/>
              <a:ext cx="1856232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984F0C6-27B6-C3C0-03D9-5074D9520F0E}"/>
                </a:ext>
              </a:extLst>
            </p:cNvPr>
            <p:cNvSpPr/>
            <p:nvPr/>
          </p:nvSpPr>
          <p:spPr>
            <a:xfrm>
              <a:off x="5741972" y="6288427"/>
              <a:ext cx="5175504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Natural Language Generation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8EC08C7-8A72-F61E-F9AF-53727264A5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10005" y="1917642"/>
            <a:ext cx="3924823" cy="5619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E41A59A-1E14-7B17-142F-A0C7BC64B0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654" y="4601167"/>
            <a:ext cx="3295238" cy="495238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432780D-8747-91C5-F719-9FEDBB7DB7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1210" y="4620215"/>
            <a:ext cx="4038095" cy="4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0808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7224C-58DA-39EF-3038-FA4B71027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02DA7E-7892-3456-7D89-F3883EBA62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Uncertainty/Confidence from Similarities</a:t>
            </a:r>
          </a:p>
          <a:p>
            <a:r>
              <a:rPr lang="en-US" sz="2400"/>
              <a:t>Idea 1: Eigen Value</a:t>
            </a: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4D785746-596A-83C1-9108-6C9936FDA0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933E320-F4FC-C360-D960-F6EF2D07271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Placeholder 2">
                <a:extLst>
                  <a:ext uri="{FF2B5EF4-FFF2-40B4-BE49-F238E27FC236}">
                    <a16:creationId xmlns:a16="http://schemas.microsoft.com/office/drawing/2014/main" id="{236A0068-586B-AC53-F980-EC3902BF61E3}"/>
                  </a:ext>
                </a:extLst>
              </p:cNvPr>
              <p:cNvSpPr>
                <a:spLocks noGrp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10515952" cy="4250131"/>
              </a:xfrm>
            </p:spPr>
            <p:txBody>
              <a:bodyPr>
                <a:noAutofit/>
              </a:bodyPr>
              <a:lstStyle/>
              <a:p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Use the eigen-values</a:t>
                </a:r>
                <a:r>
                  <a:rPr lang="en-US" sz="18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of the graph Laplacian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≤⋯≤</m:t>
                    </m:r>
                    <m:sSub>
                      <m:sSub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≤⋯≤</m:t>
                    </m:r>
                    <m:sSub>
                      <m:sSub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lvl="1"/>
                <a:endParaRPr lang="en-US" sz="12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sz="12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Consider graphs with only {1,0} as edge weights</a:t>
                </a:r>
              </a:p>
            </p:txBody>
          </p:sp>
        </mc:Choice>
        <mc:Fallback xmlns="">
          <p:sp>
            <p:nvSpPr>
              <p:cNvPr id="28" name="Text Placeholder 2">
                <a:extLst>
                  <a:ext uri="{FF2B5EF4-FFF2-40B4-BE49-F238E27FC236}">
                    <a16:creationId xmlns:a16="http://schemas.microsoft.com/office/drawing/2014/main" id="{236A0068-586B-AC53-F980-EC3902BF61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10515952" cy="4250131"/>
              </a:xfrm>
              <a:blipFill>
                <a:blip r:embed="rId2"/>
                <a:stretch>
                  <a:fillRect l="-348" t="-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39C72EC4-8C85-F131-1711-7CFCA7361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776" y="1899120"/>
            <a:ext cx="3340262" cy="1006009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30C774EE-EAC4-11BB-100C-AA5B9E4EA538}"/>
              </a:ext>
            </a:extLst>
          </p:cNvPr>
          <p:cNvGrpSpPr/>
          <p:nvPr/>
        </p:nvGrpSpPr>
        <p:grpSpPr>
          <a:xfrm>
            <a:off x="8088550" y="3778424"/>
            <a:ext cx="1314450" cy="922162"/>
            <a:chOff x="2257425" y="4175511"/>
            <a:chExt cx="1314450" cy="922162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BE19527C-91C8-5387-8BB0-CC05DE9FEBB6}"/>
                </a:ext>
              </a:extLst>
            </p:cNvPr>
            <p:cNvSpPr/>
            <p:nvPr/>
          </p:nvSpPr>
          <p:spPr>
            <a:xfrm>
              <a:off x="2257425" y="4335673"/>
              <a:ext cx="82550" cy="698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23AE959-6B79-E2D3-CB7E-654B89D60ECC}"/>
                </a:ext>
              </a:extLst>
            </p:cNvPr>
            <p:cNvSpPr/>
            <p:nvPr/>
          </p:nvSpPr>
          <p:spPr>
            <a:xfrm>
              <a:off x="2409825" y="4488073"/>
              <a:ext cx="82550" cy="698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14CE9CD-28B9-22C0-42BB-0A203A47462B}"/>
                </a:ext>
              </a:extLst>
            </p:cNvPr>
            <p:cNvSpPr/>
            <p:nvPr/>
          </p:nvSpPr>
          <p:spPr>
            <a:xfrm>
              <a:off x="3324225" y="4175511"/>
              <a:ext cx="82550" cy="6985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2BD68A-1F05-4FEC-FE16-5661A9655A84}"/>
                </a:ext>
              </a:extLst>
            </p:cNvPr>
            <p:cNvSpPr/>
            <p:nvPr/>
          </p:nvSpPr>
          <p:spPr>
            <a:xfrm>
              <a:off x="3406775" y="4488073"/>
              <a:ext cx="82550" cy="6985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AF0F4FD-9D70-09FD-BE85-E6280620E14F}"/>
                </a:ext>
              </a:extLst>
            </p:cNvPr>
            <p:cNvSpPr/>
            <p:nvPr/>
          </p:nvSpPr>
          <p:spPr>
            <a:xfrm>
              <a:off x="3489325" y="4331792"/>
              <a:ext cx="82550" cy="6985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4D65097-8EDB-01CB-101F-FB2EDAD5A6FD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2311400" y="4385065"/>
              <a:ext cx="139700" cy="1030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84D595A-D3A9-59F3-D4F8-7C68012DE028}"/>
                </a:ext>
              </a:extLst>
            </p:cNvPr>
            <p:cNvCxnSpPr>
              <a:cxnSpLocks/>
            </p:cNvCxnSpPr>
            <p:nvPr/>
          </p:nvCxnSpPr>
          <p:spPr>
            <a:xfrm>
              <a:off x="3365500" y="4237073"/>
              <a:ext cx="139700" cy="1030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078E954-0C2D-4049-80E9-34BE10653CD7}"/>
                </a:ext>
              </a:extLst>
            </p:cNvPr>
            <p:cNvCxnSpPr>
              <a:cxnSpLocks/>
              <a:stCxn id="12" idx="4"/>
              <a:endCxn id="11" idx="5"/>
            </p:cNvCxnSpPr>
            <p:nvPr/>
          </p:nvCxnSpPr>
          <p:spPr>
            <a:xfrm flipH="1">
              <a:off x="3477236" y="4401642"/>
              <a:ext cx="53364" cy="14605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9111B0C-01E1-BF96-7B5C-8F3F2382D5F5}"/>
                </a:ext>
              </a:extLst>
            </p:cNvPr>
            <p:cNvSpPr/>
            <p:nvPr/>
          </p:nvSpPr>
          <p:spPr>
            <a:xfrm>
              <a:off x="2606675" y="5027823"/>
              <a:ext cx="82550" cy="69850"/>
            </a:xfrm>
            <a:prstGeom prst="ellipse">
              <a:avLst/>
            </a:prstGeom>
            <a:solidFill>
              <a:schemeClr val="accent4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91E6A9F-FAB0-A359-11F1-102F3EFFFC41}"/>
              </a:ext>
            </a:extLst>
          </p:cNvPr>
          <p:cNvGrpSpPr/>
          <p:nvPr/>
        </p:nvGrpSpPr>
        <p:grpSpPr>
          <a:xfrm>
            <a:off x="1412637" y="3788161"/>
            <a:ext cx="1314450" cy="922162"/>
            <a:chOff x="2257425" y="4175511"/>
            <a:chExt cx="1314450" cy="922162"/>
          </a:xfrm>
          <a:solidFill>
            <a:schemeClr val="bg2"/>
          </a:solidFill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86E9B3-0048-BBC5-38A5-CBEB3BDA0A5C}"/>
                </a:ext>
              </a:extLst>
            </p:cNvPr>
            <p:cNvSpPr/>
            <p:nvPr/>
          </p:nvSpPr>
          <p:spPr>
            <a:xfrm>
              <a:off x="2257425" y="4335673"/>
              <a:ext cx="82550" cy="6985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18A27F8-F857-3043-734A-06DFCFE33BBC}"/>
                </a:ext>
              </a:extLst>
            </p:cNvPr>
            <p:cNvSpPr/>
            <p:nvPr/>
          </p:nvSpPr>
          <p:spPr>
            <a:xfrm>
              <a:off x="2409825" y="4488073"/>
              <a:ext cx="82550" cy="6985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72D6F98-B19E-668E-F3D6-C58C48FC69CF}"/>
                </a:ext>
              </a:extLst>
            </p:cNvPr>
            <p:cNvSpPr/>
            <p:nvPr/>
          </p:nvSpPr>
          <p:spPr>
            <a:xfrm>
              <a:off x="3324225" y="4175511"/>
              <a:ext cx="82550" cy="6985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9190D2E-344B-9B8C-762D-A8252792036C}"/>
                </a:ext>
              </a:extLst>
            </p:cNvPr>
            <p:cNvSpPr/>
            <p:nvPr/>
          </p:nvSpPr>
          <p:spPr>
            <a:xfrm>
              <a:off x="3406775" y="4488073"/>
              <a:ext cx="82550" cy="6985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6007F14-BFBE-6796-7EAF-4675590BECDB}"/>
                </a:ext>
              </a:extLst>
            </p:cNvPr>
            <p:cNvSpPr/>
            <p:nvPr/>
          </p:nvSpPr>
          <p:spPr>
            <a:xfrm>
              <a:off x="3489325" y="4331792"/>
              <a:ext cx="82550" cy="6985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CE08690-6746-6122-7F9B-ED8C8BBFCB84}"/>
                </a:ext>
              </a:extLst>
            </p:cNvPr>
            <p:cNvCxnSpPr>
              <a:cxnSpLocks/>
              <a:endCxn id="29" idx="0"/>
            </p:cNvCxnSpPr>
            <p:nvPr/>
          </p:nvCxnSpPr>
          <p:spPr>
            <a:xfrm>
              <a:off x="2311400" y="4385065"/>
              <a:ext cx="139700" cy="103008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66522F2-3763-72F2-ACE3-8593DB0DF18B}"/>
                </a:ext>
              </a:extLst>
            </p:cNvPr>
            <p:cNvCxnSpPr>
              <a:cxnSpLocks/>
            </p:cNvCxnSpPr>
            <p:nvPr/>
          </p:nvCxnSpPr>
          <p:spPr>
            <a:xfrm>
              <a:off x="3365500" y="4237073"/>
              <a:ext cx="139700" cy="103008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AED8E84-5D97-66B1-DADD-1EF25AE10862}"/>
                </a:ext>
              </a:extLst>
            </p:cNvPr>
            <p:cNvCxnSpPr>
              <a:cxnSpLocks/>
              <a:stCxn id="32" idx="4"/>
              <a:endCxn id="31" idx="5"/>
            </p:cNvCxnSpPr>
            <p:nvPr/>
          </p:nvCxnSpPr>
          <p:spPr>
            <a:xfrm flipH="1">
              <a:off x="3477236" y="4401642"/>
              <a:ext cx="53364" cy="146052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E04BE8B-5B46-48E6-AAA3-8F52CFFB3E79}"/>
                </a:ext>
              </a:extLst>
            </p:cNvPr>
            <p:cNvSpPr/>
            <p:nvPr/>
          </p:nvSpPr>
          <p:spPr>
            <a:xfrm>
              <a:off x="2606675" y="5027823"/>
              <a:ext cx="82550" cy="6985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E1127D9-A5B1-7E00-9BFD-AE798522CF1A}"/>
                  </a:ext>
                </a:extLst>
              </p:cNvPr>
              <p:cNvSpPr txBox="1"/>
              <p:nvPr/>
            </p:nvSpPr>
            <p:spPr>
              <a:xfrm>
                <a:off x="1158934" y="4858315"/>
                <a:ext cx="2108731" cy="6689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&lt;…</m:t>
                      </m:r>
                    </m:oMath>
                  </m:oMathPara>
                </a14:m>
                <a:endParaRPr lang="en-US" sz="1800" b="0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E1127D9-A5B1-7E00-9BFD-AE798522C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934" y="4858315"/>
                <a:ext cx="2108731" cy="6689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34091F2-B9C1-3662-0325-8C8722D4913C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1619012" y="4150115"/>
            <a:ext cx="184150" cy="4903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400EFA1-A7AC-1849-19A2-C20D56FCB1C4}"/>
              </a:ext>
            </a:extLst>
          </p:cNvPr>
          <p:cNvCxnSpPr>
            <a:cxnSpLocks/>
            <a:stCxn id="31" idx="4"/>
            <a:endCxn id="36" idx="6"/>
          </p:cNvCxnSpPr>
          <p:nvPr/>
        </p:nvCxnSpPr>
        <p:spPr>
          <a:xfrm flipH="1">
            <a:off x="1844437" y="4170573"/>
            <a:ext cx="758825" cy="504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B1C98DB-90BF-27E7-23C8-E6944B1B1D9C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9183925" y="3845101"/>
            <a:ext cx="53975" cy="2808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6EBD1C0-9F6F-E0C2-936A-03470A6CE09C}"/>
                  </a:ext>
                </a:extLst>
              </p:cNvPr>
              <p:cNvSpPr txBox="1"/>
              <p:nvPr/>
            </p:nvSpPr>
            <p:spPr>
              <a:xfrm>
                <a:off x="7538744" y="4858315"/>
                <a:ext cx="3116556" cy="6689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=0=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&lt;…</m:t>
                      </m:r>
                    </m:oMath>
                  </m:oMathPara>
                </a14:m>
                <a:endParaRPr lang="en-US" sz="1800" b="0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6EBD1C0-9F6F-E0C2-936A-03470A6CE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8744" y="4858315"/>
                <a:ext cx="3116556" cy="6689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07B9FE84-2C44-2D11-3380-F5C55E1EA9CA}"/>
              </a:ext>
            </a:extLst>
          </p:cNvPr>
          <p:cNvGrpSpPr/>
          <p:nvPr/>
        </p:nvGrpSpPr>
        <p:grpSpPr>
          <a:xfrm>
            <a:off x="175581" y="6288427"/>
            <a:ext cx="10741895" cy="481732"/>
            <a:chOff x="175581" y="6288427"/>
            <a:chExt cx="10741895" cy="481732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4DA9734-543E-2955-4CF8-B4EDD0D01626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96C73F1-69D2-195D-945F-B64376F2A96E}"/>
                </a:ext>
              </a:extLst>
            </p:cNvPr>
            <p:cNvSpPr/>
            <p:nvPr/>
          </p:nvSpPr>
          <p:spPr>
            <a:xfrm>
              <a:off x="2030891" y="6288743"/>
              <a:ext cx="1856232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9CA016A-DF07-1CAA-31B4-47C8AC3C1E44}"/>
                </a:ext>
              </a:extLst>
            </p:cNvPr>
            <p:cNvSpPr/>
            <p:nvPr/>
          </p:nvSpPr>
          <p:spPr>
            <a:xfrm>
              <a:off x="3886662" y="6290224"/>
              <a:ext cx="1856232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E8EAA43-EE37-D533-9A9B-A1870B1A0B44}"/>
                </a:ext>
              </a:extLst>
            </p:cNvPr>
            <p:cNvSpPr/>
            <p:nvPr/>
          </p:nvSpPr>
          <p:spPr>
            <a:xfrm>
              <a:off x="5741972" y="6288427"/>
              <a:ext cx="5175504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Natural Language Generation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59275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7224C-58DA-39EF-3038-FA4B71027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02DA7E-7892-3456-7D89-F3883EBA62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Uncertainty/Confidence from Similarities</a:t>
            </a:r>
          </a:p>
          <a:p>
            <a:r>
              <a:rPr lang="en-US" sz="2400"/>
              <a:t>Idea 1: Eigen Value</a:t>
            </a: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4D785746-596A-83C1-9108-6C9936FDA0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933E320-F4FC-C360-D960-F6EF2D07271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Placeholder 2">
                <a:extLst>
                  <a:ext uri="{FF2B5EF4-FFF2-40B4-BE49-F238E27FC236}">
                    <a16:creationId xmlns:a16="http://schemas.microsoft.com/office/drawing/2014/main" id="{236A0068-586B-AC53-F980-EC3902BF61E3}"/>
                  </a:ext>
                </a:extLst>
              </p:cNvPr>
              <p:cNvSpPr>
                <a:spLocks noGrp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10515952" cy="4250131"/>
              </a:xfrm>
            </p:spPr>
            <p:txBody>
              <a:bodyPr>
                <a:noAutofit/>
              </a:bodyPr>
              <a:lstStyle/>
              <a:p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Use the eigen-values</a:t>
                </a:r>
                <a:r>
                  <a:rPr lang="en-US" sz="18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of the graph Laplacian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≤⋯≤</m:t>
                    </m:r>
                    <m:sSub>
                      <m:sSub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≤⋯≤</m:t>
                    </m:r>
                    <m:sSub>
                      <m:sSub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8" name="Text Placeholder 2">
                <a:extLst>
                  <a:ext uri="{FF2B5EF4-FFF2-40B4-BE49-F238E27FC236}">
                    <a16:creationId xmlns:a16="http://schemas.microsoft.com/office/drawing/2014/main" id="{236A0068-586B-AC53-F980-EC3902BF61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10515952" cy="4250131"/>
              </a:xfrm>
              <a:blipFill>
                <a:blip r:embed="rId2"/>
                <a:stretch>
                  <a:fillRect l="-348" t="-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1118587-5B05-E567-943A-3D4CF903D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94" y="3040721"/>
            <a:ext cx="9457592" cy="21649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A40E68-4117-D603-C874-A6521B0873EE}"/>
              </a:ext>
            </a:extLst>
          </p:cNvPr>
          <p:cNvSpPr txBox="1"/>
          <p:nvPr/>
        </p:nvSpPr>
        <p:spPr>
          <a:xfrm>
            <a:off x="1299063" y="5205711"/>
            <a:ext cx="88560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 of (one minus) the eigen-value of the graph Laplacian. </a:t>
            </a:r>
          </a:p>
          <a:p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Left: </a:t>
            </a:r>
            <a:r>
              <a:rPr lang="en-US" sz="180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Q: Dave Gilmore and Roger Waters were in which rock group? A: Pink Floyd</a:t>
            </a:r>
          </a:p>
          <a:p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Right: </a:t>
            </a:r>
            <a:r>
              <a:rPr lang="en-US" sz="180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Q: What claimed the life of singer Kathleen Ferrier? A: Cancer</a:t>
            </a:r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C72EC4-8C85-F131-1711-7CFCA7361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3776" y="1899120"/>
            <a:ext cx="3340262" cy="100600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E4B331E-AA61-74CA-67C5-B6BC11305FBB}"/>
              </a:ext>
            </a:extLst>
          </p:cNvPr>
          <p:cNvGrpSpPr/>
          <p:nvPr/>
        </p:nvGrpSpPr>
        <p:grpSpPr>
          <a:xfrm>
            <a:off x="175581" y="6288427"/>
            <a:ext cx="10741895" cy="481732"/>
            <a:chOff x="175581" y="6288427"/>
            <a:chExt cx="10741895" cy="48173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245D571-016A-4057-1964-75ACC31AC42B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6DC9665-3BC6-6CF7-D92D-1CCF767A1857}"/>
                </a:ext>
              </a:extLst>
            </p:cNvPr>
            <p:cNvSpPr/>
            <p:nvPr/>
          </p:nvSpPr>
          <p:spPr>
            <a:xfrm>
              <a:off x="2030891" y="6288743"/>
              <a:ext cx="1856232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49C0BC6-004A-D727-6481-64BF86D1428B}"/>
                </a:ext>
              </a:extLst>
            </p:cNvPr>
            <p:cNvSpPr/>
            <p:nvPr/>
          </p:nvSpPr>
          <p:spPr>
            <a:xfrm>
              <a:off x="3886662" y="6290224"/>
              <a:ext cx="1856232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BA18D2-0F6C-5A96-4213-B042E3793ED0}"/>
                </a:ext>
              </a:extLst>
            </p:cNvPr>
            <p:cNvSpPr/>
            <p:nvPr/>
          </p:nvSpPr>
          <p:spPr>
            <a:xfrm>
              <a:off x="5741972" y="6288427"/>
              <a:ext cx="5175504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Natural Language Generation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68403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7224C-58DA-39EF-3038-FA4B71027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02DA7E-7892-3456-7D89-F3883EBA62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Uncertainty/Confidence from Similarities</a:t>
            </a:r>
          </a:p>
          <a:p>
            <a:r>
              <a:rPr lang="en-US" sz="2400"/>
              <a:t>Idea 2: Degree Matrix</a:t>
            </a: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4D785746-596A-83C1-9108-6C9936FDA0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933E320-F4FC-C360-D960-F6EF2D07271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Placeholder 2">
                <a:extLst>
                  <a:ext uri="{FF2B5EF4-FFF2-40B4-BE49-F238E27FC236}">
                    <a16:creationId xmlns:a16="http://schemas.microsoft.com/office/drawing/2014/main" id="{236A0068-586B-AC53-F980-EC3902BF61E3}"/>
                  </a:ext>
                </a:extLst>
              </p:cNvPr>
              <p:cNvSpPr>
                <a:spLocks noGrp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10515952" cy="4250131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𝐸𝑖𝑔𝑉</m:t>
                        </m:r>
                      </m:sub>
                    </m:sSub>
                  </m:oMath>
                </a14:m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cannot tell us confidence.</a:t>
                </a:r>
              </a:p>
              <a:p>
                <a:endParaRPr lang="en-US"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 confidence, use degree matrix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lvl="1"/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Hig</a:t>
                </a:r>
                <a:r>
                  <a:rPr lang="en-US" sz="2000">
                    <a:latin typeface="Arial" panose="020B0604020202020204" pitchFamily="34" charset="0"/>
                    <a:cs typeface="Arial" panose="020B0604020202020204" pitchFamily="34" charset="0"/>
                  </a:rPr>
                  <a:t>h degree -&gt; well-connected node -&gt; similar to many other responses</a:t>
                </a:r>
                <a:endParaRPr lang="en-US"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ext Placeholder 2">
                <a:extLst>
                  <a:ext uri="{FF2B5EF4-FFF2-40B4-BE49-F238E27FC236}">
                    <a16:creationId xmlns:a16="http://schemas.microsoft.com/office/drawing/2014/main" id="{236A0068-586B-AC53-F980-EC3902BF61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10515952" cy="4250131"/>
              </a:xfrm>
              <a:blipFill>
                <a:blip r:embed="rId2"/>
                <a:stretch>
                  <a:fillRect l="-522" t="-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248B5D1D-4A15-FB1F-EFDB-94EEF0B8A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66" y="3429000"/>
            <a:ext cx="10085714" cy="600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AB8D337-ACAE-A677-9BC9-73780F9EF0E5}"/>
              </a:ext>
            </a:extLst>
          </p:cNvPr>
          <p:cNvGrpSpPr/>
          <p:nvPr/>
        </p:nvGrpSpPr>
        <p:grpSpPr>
          <a:xfrm>
            <a:off x="175581" y="6288427"/>
            <a:ext cx="10741895" cy="481732"/>
            <a:chOff x="175581" y="6288427"/>
            <a:chExt cx="10741895" cy="48173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1A07DA6-6A17-8BDB-FEB3-F4B331D028C3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3CA31E1-88E6-B1E4-150D-152E2F5F4450}"/>
                </a:ext>
              </a:extLst>
            </p:cNvPr>
            <p:cNvSpPr/>
            <p:nvPr/>
          </p:nvSpPr>
          <p:spPr>
            <a:xfrm>
              <a:off x="2030891" y="6288743"/>
              <a:ext cx="1856232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B2EFA3-AECC-AAA5-3E39-BCAE24B7B849}"/>
                </a:ext>
              </a:extLst>
            </p:cNvPr>
            <p:cNvSpPr/>
            <p:nvPr/>
          </p:nvSpPr>
          <p:spPr>
            <a:xfrm>
              <a:off x="3886662" y="6290224"/>
              <a:ext cx="1856232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D7D24AE-9C23-256E-8243-94B85779118F}"/>
                </a:ext>
              </a:extLst>
            </p:cNvPr>
            <p:cNvSpPr/>
            <p:nvPr/>
          </p:nvSpPr>
          <p:spPr>
            <a:xfrm>
              <a:off x="5741972" y="6288427"/>
              <a:ext cx="5175504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Natural Language Generation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19677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7224C-58DA-39EF-3038-FA4B71027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02DA7E-7892-3456-7D89-F3883EBA62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US"/>
              <a:t>Uncertainty/Confidence from Similarities</a:t>
            </a:r>
          </a:p>
          <a:p>
            <a:r>
              <a:rPr lang="en-US" sz="2400"/>
              <a:t>Idea 3: Eccentricity</a:t>
            </a:r>
            <a:endParaRPr lang="en-US"/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4D785746-596A-83C1-9108-6C9936FDA0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933E320-F4FC-C360-D960-F6EF2D07271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Placeholder 2">
                <a:extLst>
                  <a:ext uri="{FF2B5EF4-FFF2-40B4-BE49-F238E27FC236}">
                    <a16:creationId xmlns:a16="http://schemas.microsoft.com/office/drawing/2014/main" id="{236A0068-586B-AC53-F980-EC3902BF61E3}"/>
                  </a:ext>
                </a:extLst>
              </p:cNvPr>
              <p:cNvSpPr>
                <a:spLocks noGrp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10515952" cy="4250131"/>
              </a:xfrm>
            </p:spPr>
            <p:txBody>
              <a:bodyPr>
                <a:noAutofit/>
              </a:bodyPr>
              <a:lstStyle/>
              <a:p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Use spectral clustering to generate embedding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for response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denotes the de-</a:t>
                </a:r>
                <a:r>
                  <a:rPr lang="en-US" sz="200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meaned</a:t>
                </a:r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embedding</a:t>
                </a:r>
              </a:p>
            </p:txBody>
          </p:sp>
        </mc:Choice>
        <mc:Fallback xmlns="">
          <p:sp>
            <p:nvSpPr>
              <p:cNvPr id="28" name="Text Placeholder 2">
                <a:extLst>
                  <a:ext uri="{FF2B5EF4-FFF2-40B4-BE49-F238E27FC236}">
                    <a16:creationId xmlns:a16="http://schemas.microsoft.com/office/drawing/2014/main" id="{236A0068-586B-AC53-F980-EC3902BF61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10515952" cy="4250131"/>
              </a:xfrm>
              <a:blipFill>
                <a:blip r:embed="rId3"/>
                <a:stretch>
                  <a:fillRect l="-522" t="-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3638C2B-B4FC-90BC-E8B1-897A4C64D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989" y="2511345"/>
            <a:ext cx="10066667" cy="7619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CC725F-17C6-E06F-08E0-8BE2720540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9141" y="3662193"/>
            <a:ext cx="4364468" cy="2536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148D31-7C8E-7C76-0A86-2F4A6BD80D54}"/>
              </a:ext>
            </a:extLst>
          </p:cNvPr>
          <p:cNvSpPr txBox="1"/>
          <p:nvPr/>
        </p:nvSpPr>
        <p:spPr>
          <a:xfrm>
            <a:off x="6233609" y="4411818"/>
            <a:ext cx="38516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UMAP of th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e embeddings for 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i="1">
                <a:latin typeface="Arial" panose="020B0604020202020204" pitchFamily="34" charset="0"/>
                <a:cs typeface="Arial" panose="020B0604020202020204" pitchFamily="34" charset="0"/>
              </a:rPr>
              <a:t>Q: What is the bakery’s name </a:t>
            </a:r>
          </a:p>
          <a:p>
            <a:r>
              <a:rPr lang="en-US" i="1">
                <a:latin typeface="Arial" panose="020B0604020202020204" pitchFamily="34" charset="0"/>
                <a:cs typeface="Arial" panose="020B0604020202020204" pitchFamily="34" charset="0"/>
              </a:rPr>
              <a:t>A: The Dominique Ansel Bakery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70046B1-ED6A-9410-4D99-EF471CD8944A}"/>
              </a:ext>
            </a:extLst>
          </p:cNvPr>
          <p:cNvGrpSpPr/>
          <p:nvPr/>
        </p:nvGrpSpPr>
        <p:grpSpPr>
          <a:xfrm>
            <a:off x="175581" y="6288427"/>
            <a:ext cx="10741895" cy="481732"/>
            <a:chOff x="175581" y="6288427"/>
            <a:chExt cx="10741895" cy="4817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083FAD6-328C-33EF-6F69-8B856D089637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F97670E-950E-04AF-891D-85C9FC3929D9}"/>
                </a:ext>
              </a:extLst>
            </p:cNvPr>
            <p:cNvSpPr/>
            <p:nvPr/>
          </p:nvSpPr>
          <p:spPr>
            <a:xfrm>
              <a:off x="2030891" y="6288743"/>
              <a:ext cx="1856232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76A64D7-00FF-D6AB-7284-7E599B04DB73}"/>
                </a:ext>
              </a:extLst>
            </p:cNvPr>
            <p:cNvSpPr/>
            <p:nvPr/>
          </p:nvSpPr>
          <p:spPr>
            <a:xfrm>
              <a:off x="3886662" y="6290224"/>
              <a:ext cx="1856232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4354063-9884-C532-A9F2-D14653C9700D}"/>
                </a:ext>
              </a:extLst>
            </p:cNvPr>
            <p:cNvSpPr/>
            <p:nvPr/>
          </p:nvSpPr>
          <p:spPr>
            <a:xfrm>
              <a:off x="5741972" y="6288427"/>
              <a:ext cx="5175504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Natural Language Generation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54440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7224C-58DA-39EF-3038-FA4B71027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35C0F82-695E-843C-4898-8EDEAE6BD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125" y="2961199"/>
            <a:ext cx="6360475" cy="3075853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02DA7E-7892-3456-7D89-F3883EBA62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Experiments</a:t>
            </a: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4D785746-596A-83C1-9108-6C9936FDA0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933E320-F4FC-C360-D960-F6EF2D07271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36A0068-586B-AC53-F980-EC3902BF61E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4229" y="1467623"/>
            <a:ext cx="10515952" cy="4250131"/>
          </a:xfrm>
        </p:spPr>
        <p:txBody>
          <a:bodyPr>
            <a:noAutofit/>
          </a:bodyPr>
          <a:lstStyle/>
          <a:p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Accuracy-Rejection Curve: Use 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uncertainty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predict the expected accuracy </a:t>
            </a:r>
          </a:p>
          <a:p>
            <a:pPr lvl="1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Expected Accuracy: Average accuracy of all (20) responses, </a:t>
            </a:r>
            <a:r>
              <a:rPr 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auto-evaluated by GPT3.5</a:t>
            </a:r>
          </a:p>
          <a:p>
            <a:pPr lvl="1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Oracle: Rejection based on expected accuracy (cheating)</a:t>
            </a:r>
          </a:p>
          <a:p>
            <a:pPr lvl="1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(E) means Entailment similarity from the NLI model (</a:t>
            </a: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deberta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-large-</a:t>
            </a:r>
            <a:r>
              <a:rPr lang="en-US" sz="1400" err="1">
                <a:latin typeface="Arial" panose="020B0604020202020204" pitchFamily="34" charset="0"/>
                <a:cs typeface="Arial" panose="020B0604020202020204" pitchFamily="34" charset="0"/>
              </a:rPr>
              <a:t>mnli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1522C7-E4DD-2520-6D0D-367D048A28AE}"/>
              </a:ext>
            </a:extLst>
          </p:cNvPr>
          <p:cNvSpPr/>
          <p:nvPr/>
        </p:nvSpPr>
        <p:spPr>
          <a:xfrm>
            <a:off x="6921678" y="3842664"/>
            <a:ext cx="1436790" cy="6101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2711106-1221-0BF1-8D0E-7EFF98CBAB30}"/>
              </a:ext>
            </a:extLst>
          </p:cNvPr>
          <p:cNvGrpSpPr/>
          <p:nvPr/>
        </p:nvGrpSpPr>
        <p:grpSpPr>
          <a:xfrm>
            <a:off x="175581" y="6288427"/>
            <a:ext cx="10741895" cy="481732"/>
            <a:chOff x="175581" y="6288427"/>
            <a:chExt cx="10741895" cy="48173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D9FBA0E-035C-E7DF-D305-958AB4ABA776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38ABC5E-3DF1-6BD1-17C1-C8F63B57175D}"/>
                </a:ext>
              </a:extLst>
            </p:cNvPr>
            <p:cNvSpPr/>
            <p:nvPr/>
          </p:nvSpPr>
          <p:spPr>
            <a:xfrm>
              <a:off x="2030891" y="6288743"/>
              <a:ext cx="1856232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0AF502A-AC19-7F26-1C9A-A388DA518223}"/>
                </a:ext>
              </a:extLst>
            </p:cNvPr>
            <p:cNvSpPr/>
            <p:nvPr/>
          </p:nvSpPr>
          <p:spPr>
            <a:xfrm>
              <a:off x="3886662" y="6290224"/>
              <a:ext cx="1856232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376D9E0-B390-04AE-FFE8-10D4C6DF3EEA}"/>
                </a:ext>
              </a:extLst>
            </p:cNvPr>
            <p:cNvSpPr/>
            <p:nvPr/>
          </p:nvSpPr>
          <p:spPr>
            <a:xfrm>
              <a:off x="5741972" y="6288427"/>
              <a:ext cx="5175504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Natural Language Generation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50925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7224C-58DA-39EF-3038-FA4B71027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02DA7E-7892-3456-7D89-F3883EBA62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Experiments</a:t>
            </a: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4D785746-596A-83C1-9108-6C9936FDA0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933E320-F4FC-C360-D960-F6EF2D07271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36A0068-586B-AC53-F980-EC3902BF61E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4229" y="1467623"/>
            <a:ext cx="10515952" cy="4250131"/>
          </a:xfrm>
        </p:spPr>
        <p:txBody>
          <a:bodyPr>
            <a:noAutofit/>
          </a:bodyPr>
          <a:lstStyle/>
          <a:p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AU-ARC: Uncertainty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predict the expected accuracy</a:t>
            </a:r>
          </a:p>
          <a:p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methods perform similarly, consistently outperforming baselines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214D81-62CC-FA5B-59F6-214D71547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09" y="3721436"/>
            <a:ext cx="10037679" cy="191960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91522C7-E4DD-2520-6D0D-367D048A28AE}"/>
              </a:ext>
            </a:extLst>
          </p:cNvPr>
          <p:cNvSpPr/>
          <p:nvPr/>
        </p:nvSpPr>
        <p:spPr>
          <a:xfrm>
            <a:off x="654228" y="4681239"/>
            <a:ext cx="10037678" cy="4824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F8025C-2293-F9DB-F6C6-66D59C0FDBFC}"/>
              </a:ext>
            </a:extLst>
          </p:cNvPr>
          <p:cNvGrpSpPr/>
          <p:nvPr/>
        </p:nvGrpSpPr>
        <p:grpSpPr>
          <a:xfrm>
            <a:off x="175581" y="6288427"/>
            <a:ext cx="10741895" cy="481732"/>
            <a:chOff x="175581" y="6288427"/>
            <a:chExt cx="10741895" cy="48173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5A06DA9-A02E-72F9-ABBF-7D9FDBBAAFDC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41EE15-95B9-7C47-EFAC-314A7B8E30C7}"/>
                </a:ext>
              </a:extLst>
            </p:cNvPr>
            <p:cNvSpPr/>
            <p:nvPr/>
          </p:nvSpPr>
          <p:spPr>
            <a:xfrm>
              <a:off x="2030891" y="6288743"/>
              <a:ext cx="1856232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0FBCF8-C727-CEB4-BBDF-DF229FBEF407}"/>
                </a:ext>
              </a:extLst>
            </p:cNvPr>
            <p:cNvSpPr/>
            <p:nvPr/>
          </p:nvSpPr>
          <p:spPr>
            <a:xfrm>
              <a:off x="3886662" y="6290224"/>
              <a:ext cx="1856232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C5FA3C-3927-52BE-1FB4-E98B6A159AEF}"/>
                </a:ext>
              </a:extLst>
            </p:cNvPr>
            <p:cNvSpPr/>
            <p:nvPr/>
          </p:nvSpPr>
          <p:spPr>
            <a:xfrm>
              <a:off x="5741972" y="6288427"/>
              <a:ext cx="5175504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Natural Language Generation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86228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7224C-58DA-39EF-3038-FA4B71027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02DA7E-7892-3456-7D89-F3883EBA62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Experiments</a:t>
            </a: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4D785746-596A-83C1-9108-6C9936FDA0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933E320-F4FC-C360-D960-F6EF2D07271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36A0068-586B-AC53-F980-EC3902BF61E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4229" y="1467623"/>
            <a:ext cx="10515952" cy="4250131"/>
          </a:xfrm>
        </p:spPr>
        <p:txBody>
          <a:bodyPr>
            <a:noAutofit/>
          </a:bodyPr>
          <a:lstStyle/>
          <a:p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AU-ARC: 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Confidence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predict the accuracy of </a:t>
            </a:r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individual responses</a:t>
            </a:r>
          </a:p>
          <a:p>
            <a:r>
              <a:rPr lang="en-US" sz="20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EigV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uncertainty-only (i.e. same value for all responses), so it usually perform a bit worse than </a:t>
            </a:r>
            <a:r>
              <a:rPr lang="en-US" sz="20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Ecc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Deg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214D81-62CC-FA5B-59F6-214D715470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7609" y="3743255"/>
            <a:ext cx="10037679" cy="179976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91522C7-E4DD-2520-6D0D-367D048A28AE}"/>
              </a:ext>
            </a:extLst>
          </p:cNvPr>
          <p:cNvSpPr/>
          <p:nvPr/>
        </p:nvSpPr>
        <p:spPr>
          <a:xfrm>
            <a:off x="654227" y="4857749"/>
            <a:ext cx="10037679" cy="3059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03E232-DC8A-97FE-E9B7-F9036264BAFD}"/>
              </a:ext>
            </a:extLst>
          </p:cNvPr>
          <p:cNvSpPr txBox="1"/>
          <p:nvPr/>
        </p:nvSpPr>
        <p:spPr>
          <a:xfrm>
            <a:off x="2292350" y="11906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trike="sngStrike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Uncertainty</a:t>
            </a:r>
            <a:r>
              <a:rPr lang="en-US"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</a:t>
            </a:r>
            <a:r>
              <a:rPr lang="en-US" sz="1800" strike="sngStrike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accuracy</a:t>
            </a:r>
            <a:endParaRPr lang="en-US" strike="sngStrike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68FFFAC-596D-A585-748F-C2087CDA6EFF}"/>
              </a:ext>
            </a:extLst>
          </p:cNvPr>
          <p:cNvGrpSpPr/>
          <p:nvPr/>
        </p:nvGrpSpPr>
        <p:grpSpPr>
          <a:xfrm>
            <a:off x="175581" y="6288427"/>
            <a:ext cx="10741895" cy="481732"/>
            <a:chOff x="175581" y="6288427"/>
            <a:chExt cx="10741895" cy="4817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3AF0291-14A9-6759-E24E-476D17027584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42F7FFD-7F31-BABF-4DEB-6409EB2C4995}"/>
                </a:ext>
              </a:extLst>
            </p:cNvPr>
            <p:cNvSpPr/>
            <p:nvPr/>
          </p:nvSpPr>
          <p:spPr>
            <a:xfrm>
              <a:off x="2030891" y="6288743"/>
              <a:ext cx="1856232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6C063E1-19F9-375F-6EDB-13ECB36FFC28}"/>
                </a:ext>
              </a:extLst>
            </p:cNvPr>
            <p:cNvSpPr/>
            <p:nvPr/>
          </p:nvSpPr>
          <p:spPr>
            <a:xfrm>
              <a:off x="3886662" y="6290224"/>
              <a:ext cx="1856232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5DAF7FF-D20F-B219-B1CE-7F848F9C2537}"/>
                </a:ext>
              </a:extLst>
            </p:cNvPr>
            <p:cNvSpPr/>
            <p:nvPr/>
          </p:nvSpPr>
          <p:spPr>
            <a:xfrm>
              <a:off x="5741972" y="6288427"/>
              <a:ext cx="5175504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Natural Language Generation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65115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36EF7-F814-1639-1371-184EE0DC5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F83118-4244-2F7F-F32B-580D629164C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Hallucination?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B50502DA-696A-40DF-F3BC-B3208A6B24B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DB21BC87-A550-612C-823C-802DFD9C90B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4229" y="1467623"/>
            <a:ext cx="10515952" cy="4250131"/>
          </a:xfrm>
        </p:spPr>
        <p:txBody>
          <a:bodyPr>
            <a:noAutofit/>
          </a:bodyPr>
          <a:lstStyle/>
          <a:p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Uncertainty estimation does not solve the problem of hallucination</a:t>
            </a:r>
          </a:p>
          <a:p>
            <a:pPr lvl="1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Not about overconfidence either, which however could easily be calibrated.</a:t>
            </a:r>
            <a:endPara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is it still important?</a:t>
            </a:r>
          </a:p>
          <a:p>
            <a:pPr lvl="1"/>
            <a:endParaRPr 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Uncertainty/Confidence measure requires: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Model’s predictive distribution faithfully reflects reality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We can quantify </a:t>
            </a: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 U/C of this distribution (focus of this paper)</a:t>
            </a:r>
          </a:p>
          <a:p>
            <a:pPr marL="457200" lvl="1" indent="0"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Both 1 and 2 are important</a:t>
            </a:r>
          </a:p>
          <a:p>
            <a:pPr marL="457200" lvl="1" indent="0">
              <a:buNone/>
            </a:pP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7A48503-DDBE-C932-5D1A-98E099BFB82D}"/>
              </a:ext>
            </a:extLst>
          </p:cNvPr>
          <p:cNvGrpSpPr/>
          <p:nvPr/>
        </p:nvGrpSpPr>
        <p:grpSpPr>
          <a:xfrm>
            <a:off x="175581" y="6288427"/>
            <a:ext cx="10741895" cy="481732"/>
            <a:chOff x="175581" y="6288427"/>
            <a:chExt cx="10741895" cy="48173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A28F580-9992-F218-1919-5AC76F5BD311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675BEF-F4CB-8917-FDA7-E3E288417549}"/>
                </a:ext>
              </a:extLst>
            </p:cNvPr>
            <p:cNvSpPr/>
            <p:nvPr/>
          </p:nvSpPr>
          <p:spPr>
            <a:xfrm>
              <a:off x="2030891" y="6288743"/>
              <a:ext cx="1856232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0DDADA4-030A-4C21-7322-0851739288D3}"/>
                </a:ext>
              </a:extLst>
            </p:cNvPr>
            <p:cNvSpPr/>
            <p:nvPr/>
          </p:nvSpPr>
          <p:spPr>
            <a:xfrm>
              <a:off x="3886662" y="6290224"/>
              <a:ext cx="1856232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E64A6F8-5ED8-F1BB-B124-670ECBCE2645}"/>
                </a:ext>
              </a:extLst>
            </p:cNvPr>
            <p:cNvSpPr/>
            <p:nvPr/>
          </p:nvSpPr>
          <p:spPr>
            <a:xfrm>
              <a:off x="5741972" y="6288427"/>
              <a:ext cx="5175504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Natural Language Generation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9958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CAD32-90FD-79F2-B90D-FD49CA046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C93322-54B8-6BAA-341E-5352DD03DE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Future Works</a:t>
            </a: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A3E3BB0D-3AB9-4CC5-2316-4F8057C693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866B5B11-B17D-086F-B81A-4489B4FE10D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46ECDCB6-302F-918C-D8CD-63F0D6880B2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4229" y="1467623"/>
            <a:ext cx="10515952" cy="4250131"/>
          </a:xfrm>
        </p:spPr>
        <p:txBody>
          <a:bodyPr>
            <a:no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UQ with Distribution Shifts</a:t>
            </a:r>
          </a:p>
          <a:p>
            <a:pPr lvl="1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Estimate distribution shift with domain adaptation techniques (e.g. hospitals with many patients’ data)</a:t>
            </a:r>
          </a:p>
          <a:p>
            <a:endParaRPr lang="en-US" sz="20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Uncertainty Estimation for Long Text</a:t>
            </a:r>
          </a:p>
          <a:p>
            <a:pPr lvl="1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Assigning uncertainty to each semantic segment</a:t>
            </a:r>
          </a:p>
          <a:p>
            <a:pPr lvl="1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How to segment the long text</a:t>
            </a:r>
          </a:p>
          <a:p>
            <a:pPr lvl="1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Evaluation (which could be costly)</a:t>
            </a:r>
          </a:p>
          <a:p>
            <a:pPr lvl="1"/>
            <a:endParaRPr lang="en-US" sz="20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Uncertainty Expression in NLG</a:t>
            </a:r>
          </a:p>
          <a:p>
            <a:pPr lvl="1"/>
            <a:r>
              <a:rPr 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Prediction set doesn’t just work for NLG, due to semantic invariance</a:t>
            </a:r>
          </a:p>
          <a:p>
            <a:pPr lvl="1"/>
            <a:r>
              <a:rPr 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does an uncertainty of -0.3 mean? (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Natural language expression like “I’m confident that” or use comparisons)</a:t>
            </a:r>
            <a:endPara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0970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CAD32-90FD-79F2-B90D-FD49CA046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C93322-54B8-6BAA-341E-5352DD03DE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Acknowledgements</a:t>
            </a: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A3E3BB0D-3AB9-4CC5-2316-4F8057C693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866B5B11-B17D-086F-B81A-4489B4FE10D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46ECDCB6-302F-918C-D8CD-63F0D6880B2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4229" y="1467623"/>
            <a:ext cx="10515952" cy="4250131"/>
          </a:xfrm>
        </p:spPr>
        <p:txBody>
          <a:bodyPr>
            <a:noAutofit/>
          </a:bodyPr>
          <a:lstStyle/>
          <a:p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 Committee: Jim Rehg, Yaniv Romano, </a:t>
            </a:r>
            <a:r>
              <a:rPr lang="en-US"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Jimeng Sun</a:t>
            </a:r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Hanghang Tong</a:t>
            </a:r>
          </a:p>
          <a:p>
            <a:endPara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Sunlab</a:t>
            </a:r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Chaoqi Yang, Siddhartha </a:t>
            </a:r>
            <a:r>
              <a:rPr lang="en-US" sz="16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Laghuvarapu</a:t>
            </a:r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Jintai</a:t>
            </a:r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Chen, Zhenbang Wu, Zifeng Wang, Benjamin </a:t>
            </a:r>
            <a:r>
              <a:rPr lang="en-US" sz="16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Danek</a:t>
            </a:r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Patrick Jiang, </a:t>
            </a:r>
            <a:r>
              <a:rPr lang="en-US" sz="16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Junyi</a:t>
            </a:r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Gao, Andy Chufan Gao, </a:t>
            </a:r>
            <a:r>
              <a:rPr lang="en-US" sz="16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Tianfan</a:t>
            </a:r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Fu, Dina </a:t>
            </a:r>
            <a:r>
              <a:rPr lang="en-US" sz="16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Albassam</a:t>
            </a:r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George Heintz, Hanyin Wang, </a:t>
            </a:r>
            <a:r>
              <a:rPr lang="en-US" sz="16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Jathurshan</a:t>
            </a:r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Pradeepkumar</a:t>
            </a:r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Jiacheng</a:t>
            </a:r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Lin, John Wu, Lang Cao, Mitchell Hermon, </a:t>
            </a:r>
            <a:r>
              <a:rPr lang="en-US" sz="16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Namkyeong</a:t>
            </a:r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Lee, Shivam Kumar, Siddharth Biswal, Trisha Das, Xu Cao, Shenda Hong, Brandon Theodorou</a:t>
            </a:r>
          </a:p>
          <a:p>
            <a:endPara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MGH/Harvard: Jin Jing, </a:t>
            </a:r>
            <a:r>
              <a:rPr lang="en-US" sz="16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Wendong</a:t>
            </a:r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Ge, M Brandon Westover</a:t>
            </a:r>
          </a:p>
          <a:p>
            <a:endPara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IQVIA: Cheng Qian, Lucas Glass</a:t>
            </a:r>
          </a:p>
          <a:p>
            <a:endPara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Nuro: Brian Yao, Aleksandr Petiushko, Albert Tseng, Kai-Siang Ang, Wei Liu</a:t>
            </a:r>
          </a:p>
          <a:p>
            <a:endPara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Friends &amp; Coauthors: </a:t>
            </a:r>
            <a:r>
              <a:rPr lang="en-US"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Shubhendu Trivedi</a:t>
            </a:r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Camille Avestruz, Cao (Danica) Xiao, Brian Nord, Mintong Kang, Nicholas Huang, </a:t>
            </a:r>
            <a:r>
              <a:rPr lang="en-US" sz="16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Risi</a:t>
            </a:r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Kondor, João </a:t>
            </a:r>
            <a:r>
              <a:rPr lang="en-US" sz="16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Caldeira</a:t>
            </a:r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W.L. Kimmy Wu, and friends from UChicago, AQR, and UIUC</a:t>
            </a:r>
          </a:p>
          <a:p>
            <a:endPara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 Family</a:t>
            </a:r>
          </a:p>
          <a:p>
            <a:pPr lvl="1"/>
            <a:endPara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4684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US" sz="2800"/>
              <a:t>LVD Experiment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15B671-AB3B-E656-A1BC-051BC9E57035}"/>
                  </a:ext>
                </a:extLst>
              </p:cNvPr>
              <p:cNvSpPr>
                <a:spLocks noGrp="1"/>
              </p:cNvSpPr>
              <p:nvPr>
                <p:ph type="body" sz="quarter" idx="21"/>
              </p:nvPr>
            </p:nvSpPr>
            <p:spPr>
              <a:xfrm>
                <a:off x="654229" y="1467624"/>
                <a:ext cx="10515952" cy="1443136"/>
              </a:xfrm>
            </p:spPr>
            <p:txBody>
              <a:bodyPr>
                <a:noAutofit/>
              </a:bodyPr>
              <a:lstStyle/>
              <a:p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LVD is discriminative:</a:t>
                </a:r>
              </a:p>
              <a:p>
                <a:pPr lvl="1"/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AUROC: </a:t>
                </a:r>
                <a:r>
                  <a:rPr lang="en-US" sz="1800"/>
                  <a:t>Using the width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/>
                  <a:t> to predict whether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dirty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dirty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1800"/>
                  <a:t> (residual) is big or small</a:t>
                </a:r>
              </a:p>
              <a:p>
                <a:pPr lvl="1"/>
                <a:r>
                  <a:rPr lang="en-US" sz="1800"/>
                  <a:t>(big=greater than the median of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dirty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dirty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lvl="1"/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15B671-AB3B-E656-A1BC-051BC9E570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1"/>
              </p:nvPr>
            </p:nvSpPr>
            <p:spPr>
              <a:xfrm>
                <a:off x="654229" y="1467624"/>
                <a:ext cx="10515952" cy="1443136"/>
              </a:xfrm>
              <a:blipFill>
                <a:blip r:embed="rId3"/>
                <a:stretch>
                  <a:fillRect l="-348" t="-2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3BD362-F315-2C10-7CA2-60ECAE527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155" y="3230761"/>
            <a:ext cx="8805328" cy="222612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F51242C-A03D-0E63-980C-AD57D5EB5D6C}"/>
              </a:ext>
            </a:extLst>
          </p:cNvPr>
          <p:cNvSpPr/>
          <p:nvPr/>
        </p:nvSpPr>
        <p:spPr>
          <a:xfrm>
            <a:off x="1871188" y="3090804"/>
            <a:ext cx="996977" cy="24167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F47007-058B-59C4-DCFD-88D79900A2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873D944-316B-77AD-A060-965B162B4436}"/>
              </a:ext>
            </a:extLst>
          </p:cNvPr>
          <p:cNvGrpSpPr/>
          <p:nvPr/>
        </p:nvGrpSpPr>
        <p:grpSpPr>
          <a:xfrm>
            <a:off x="175581" y="6288458"/>
            <a:ext cx="10742356" cy="481701"/>
            <a:chOff x="175581" y="6288458"/>
            <a:chExt cx="10742356" cy="48170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6C6C4B5-E7F8-5D6C-DC86-5AF421174C15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28D9316-198F-CAE2-0F91-474FA34C273F}"/>
                </a:ext>
              </a:extLst>
            </p:cNvPr>
            <p:cNvSpPr/>
            <p:nvPr/>
          </p:nvSpPr>
          <p:spPr>
            <a:xfrm>
              <a:off x="2030891" y="6288743"/>
              <a:ext cx="5175504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Interval: </a:t>
              </a:r>
            </a:p>
            <a:p>
              <a:pPr algn="ctr"/>
              <a:r>
                <a:rPr lang="en-US" sz="1600" b="1">
                  <a:solidFill>
                    <a:schemeClr val="tx1"/>
                  </a:solidFill>
                </a:rPr>
                <a:t>LVD(NeurIPS’21)</a:t>
              </a:r>
              <a:r>
                <a:rPr lang="en-US" sz="1600">
                  <a:solidFill>
                    <a:schemeClr val="tx1"/>
                  </a:solidFill>
                </a:rPr>
                <a:t>, TQA (NeurIPS’22), CPTD (TMLR’22)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42ABBEB-DC2F-5CDE-16D3-19A198560F6E}"/>
                </a:ext>
              </a:extLst>
            </p:cNvPr>
            <p:cNvSpPr/>
            <p:nvPr/>
          </p:nvSpPr>
          <p:spPr>
            <a:xfrm>
              <a:off x="7205473" y="6289564"/>
              <a:ext cx="1856232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FC346A4-3F21-6A99-4C98-984F4B388CBB}"/>
                </a:ext>
              </a:extLst>
            </p:cNvPr>
            <p:cNvSpPr/>
            <p:nvPr/>
          </p:nvSpPr>
          <p:spPr>
            <a:xfrm>
              <a:off x="9061705" y="6288458"/>
              <a:ext cx="1856232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NLG</a:t>
              </a:r>
            </a:p>
          </p:txBody>
        </p:sp>
      </p:grpSp>
      <p:sp>
        <p:nvSpPr>
          <p:cNvPr id="4" name="Arrow: Right 3">
            <a:hlinkClick r:id="rId5" action="ppaction://hlinksldjump"/>
            <a:extLst>
              <a:ext uri="{FF2B5EF4-FFF2-40B4-BE49-F238E27FC236}">
                <a16:creationId xmlns:a16="http://schemas.microsoft.com/office/drawing/2014/main" id="{810DD23D-71B4-BBB4-CF7C-7C941069A30C}"/>
              </a:ext>
            </a:extLst>
          </p:cNvPr>
          <p:cNvSpPr/>
          <p:nvPr/>
        </p:nvSpPr>
        <p:spPr>
          <a:xfrm rot="10800000">
            <a:off x="11446412" y="5831059"/>
            <a:ext cx="351692" cy="2180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6651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TQA&amp;CPTD</a:t>
            </a:r>
          </a:p>
          <a:p>
            <a:r>
              <a:rPr lang="en-US" sz="2400"/>
              <a:t>Cross-sectional and Longitudinal Validity Definitions</a:t>
            </a: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1CFA3FC7-8A50-DFAB-1FA5-38C6B3E467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70000" lnSpcReduction="20000"/>
          </a:bodyPr>
          <a:lstStyle/>
          <a:p>
            <a:pPr>
              <a:spcBef>
                <a:spcPts val="0"/>
              </a:spcBef>
            </a:pPr>
            <a:r>
              <a:rPr lang="en-US" sz="1200" b="1" i="0">
                <a:effectLst/>
                <a:latin typeface="Georgia" panose="02040502050405020303" pitchFamily="18" charset="0"/>
              </a:rPr>
              <a:t>Conformal Prediction with Temporal Quantile Adjustments (NeurIPS 2022)</a:t>
            </a:r>
          </a:p>
          <a:p>
            <a:pPr>
              <a:spcBef>
                <a:spcPts val="0"/>
              </a:spcBef>
            </a:pPr>
            <a:r>
              <a:rPr lang="en-US" sz="1200" b="1" i="0">
                <a:effectLst/>
                <a:latin typeface="Georgia" panose="02040502050405020303" pitchFamily="18" charset="0"/>
              </a:rPr>
              <a:t>Conformal Prediction Intervals with Temporal Dependence (TMLR Aug 2022)</a:t>
            </a:r>
          </a:p>
          <a:p>
            <a:pPr>
              <a:spcBef>
                <a:spcPts val="0"/>
              </a:spcBef>
            </a:pPr>
            <a:r>
              <a:rPr lang="en-US" sz="1200" b="1" i="0">
                <a:effectLst/>
                <a:latin typeface="Georgia" panose="02040502050405020303" pitchFamily="18" charset="0"/>
              </a:rPr>
              <a:t>Zhen Lin</a:t>
            </a:r>
            <a:r>
              <a:rPr lang="en-US" sz="1200" b="0" i="0">
                <a:effectLst/>
                <a:latin typeface="Georgia" panose="02040502050405020303" pitchFamily="18" charset="0"/>
              </a:rPr>
              <a:t>, Shubhendu Trivedi, Jimeng Sun</a:t>
            </a:r>
            <a:endParaRPr lang="en-US" sz="120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AF27BA-F646-0FC5-54C9-6A488600AFEA}"/>
              </a:ext>
            </a:extLst>
          </p:cNvPr>
          <p:cNvSpPr txBox="1">
            <a:spLocks/>
          </p:cNvSpPr>
          <p:nvPr/>
        </p:nvSpPr>
        <p:spPr>
          <a:xfrm>
            <a:off x="838200" y="1512888"/>
            <a:ext cx="10515600" cy="44894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Cross-sectional validity </a:t>
            </a:r>
          </a:p>
          <a:p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r>
              <a:rPr lang="en-US" sz="1800"/>
              <a:t>Longitudinal validity</a:t>
            </a:r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r>
              <a:rPr lang="en-US" sz="1800"/>
              <a:t>Impossibility of longitudinal validity</a:t>
            </a:r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pPr marL="0" indent="0">
              <a:buNone/>
            </a:pPr>
            <a:endParaRPr lang="en-US" sz="1800"/>
          </a:p>
          <a:p>
            <a:endParaRPr lang="en-US" sz="1800"/>
          </a:p>
          <a:p>
            <a:endParaRPr lang="en-US" sz="18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9D632D0-9A44-9F37-2DEE-83022EBC2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28" y="1914979"/>
            <a:ext cx="10515601" cy="9409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EC41F6-AB40-BBFD-CEF2-792B584FF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16" y="3284813"/>
            <a:ext cx="10336067" cy="12543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3BC5AC-6E51-72B8-F45C-19EC64BD8B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396" y="4779623"/>
            <a:ext cx="4913053" cy="1399721"/>
          </a:xfrm>
          <a:prstGeom prst="rect">
            <a:avLst/>
          </a:prstGeom>
        </p:spPr>
      </p:pic>
      <p:sp>
        <p:nvSpPr>
          <p:cNvPr id="3" name="Arrow: Right 2">
            <a:hlinkClick r:id="rId6" action="ppaction://hlinksldjump"/>
            <a:extLst>
              <a:ext uri="{FF2B5EF4-FFF2-40B4-BE49-F238E27FC236}">
                <a16:creationId xmlns:a16="http://schemas.microsoft.com/office/drawing/2014/main" id="{1AAD7FA4-5E2C-1C80-F091-6946134DDC39}"/>
              </a:ext>
            </a:extLst>
          </p:cNvPr>
          <p:cNvSpPr/>
          <p:nvPr/>
        </p:nvSpPr>
        <p:spPr>
          <a:xfrm rot="10800000">
            <a:off x="11446412" y="5831059"/>
            <a:ext cx="351692" cy="2180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3216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TQA</a:t>
            </a:r>
          </a:p>
          <a:p>
            <a:r>
              <a:rPr lang="en-US" sz="2400"/>
              <a:t>Theoretical Guarantees</a:t>
            </a: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1CFA3FC7-8A50-DFAB-1FA5-38C6B3E467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70000" lnSpcReduction="20000"/>
          </a:bodyPr>
          <a:lstStyle/>
          <a:p>
            <a:pPr>
              <a:spcBef>
                <a:spcPts val="0"/>
              </a:spcBef>
            </a:pPr>
            <a:r>
              <a:rPr lang="en-US" sz="1200" b="1" i="0">
                <a:effectLst/>
                <a:latin typeface="Georgia" panose="02040502050405020303" pitchFamily="18" charset="0"/>
              </a:rPr>
              <a:t>Conformal Prediction with Temporal Quantile Adjustments (NeurIPS 2022)</a:t>
            </a:r>
          </a:p>
          <a:p>
            <a:pPr>
              <a:spcBef>
                <a:spcPts val="0"/>
              </a:spcBef>
            </a:pPr>
            <a:r>
              <a:rPr lang="en-US" sz="1200" b="1" i="0">
                <a:effectLst/>
                <a:latin typeface="Georgia" panose="02040502050405020303" pitchFamily="18" charset="0"/>
              </a:rPr>
              <a:t>Conformal Prediction Intervals with Temporal Dependence (TMLR Aug 2022)</a:t>
            </a:r>
          </a:p>
          <a:p>
            <a:pPr>
              <a:spcBef>
                <a:spcPts val="0"/>
              </a:spcBef>
            </a:pPr>
            <a:r>
              <a:rPr lang="en-US" sz="1200" b="1" i="0">
                <a:effectLst/>
                <a:latin typeface="Georgia" panose="02040502050405020303" pitchFamily="18" charset="0"/>
              </a:rPr>
              <a:t>Zhen Lin</a:t>
            </a:r>
            <a:r>
              <a:rPr lang="en-US" sz="1200" b="0" i="0">
                <a:effectLst/>
                <a:latin typeface="Georgia" panose="02040502050405020303" pitchFamily="18" charset="0"/>
              </a:rPr>
              <a:t>, Shubhendu Trivedi, Jimeng Sun</a:t>
            </a:r>
            <a:endParaRPr lang="en-US" sz="120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37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4">
                <a:extLst>
                  <a:ext uri="{FF2B5EF4-FFF2-40B4-BE49-F238E27FC236}">
                    <a16:creationId xmlns:a16="http://schemas.microsoft.com/office/drawing/2014/main" id="{09AF27BA-F646-0FC5-54C9-6A488600AF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512888"/>
                <a:ext cx="10515600" cy="4489450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/>
                  <a:t>If we have reasons to believe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+1, 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800"/>
                  <a:t> is likely quite hard (or easy) to predict, we could change the </a:t>
                </a:r>
                <a:r>
                  <a:rPr lang="en-US" sz="1800" b="1"/>
                  <a:t>quantile to query</a:t>
                </a:r>
                <a:r>
                  <a:rPr lang="en-US" sz="1800"/>
                  <a:t>:</a:t>
                </a:r>
              </a:p>
              <a:p>
                <a:endParaRPr lang="en-US" sz="1800" b="1"/>
              </a:p>
              <a:p>
                <a:endParaRPr lang="en-US" sz="180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≝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acc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400" b="0"/>
              </a:p>
              <a:p>
                <a:r>
                  <a:rPr lang="en-US" sz="1800"/>
                  <a:t>Intuitively, we increase (decrease) the adjustment amount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b="0"/>
                  <a:t> if we suspect the nonconformity score is high (low)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11" name="Text Placeholder 4">
                <a:extLst>
                  <a:ext uri="{FF2B5EF4-FFF2-40B4-BE49-F238E27FC236}">
                    <a16:creationId xmlns:a16="http://schemas.microsoft.com/office/drawing/2014/main" id="{09AF27BA-F646-0FC5-54C9-6A488600A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12888"/>
                <a:ext cx="10515600" cy="4489450"/>
              </a:xfrm>
              <a:prstGeom prst="rect">
                <a:avLst/>
              </a:prstGeom>
              <a:blipFill>
                <a:blip r:embed="rId3"/>
                <a:stretch>
                  <a:fillRect l="-406" t="-1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9D203C1-14E8-53E9-8A74-69C02BD86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131" y="4151107"/>
            <a:ext cx="9827288" cy="7879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925975-61A4-E7DF-4124-48838A2166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5793" y="2192287"/>
            <a:ext cx="10060411" cy="549749"/>
          </a:xfrm>
          <a:prstGeom prst="rect">
            <a:avLst/>
          </a:prstGeom>
        </p:spPr>
      </p:pic>
      <p:sp>
        <p:nvSpPr>
          <p:cNvPr id="7" name="Arrow: Right 6">
            <a:hlinkClick r:id="rId6" action="ppaction://hlinksldjump"/>
            <a:extLst>
              <a:ext uri="{FF2B5EF4-FFF2-40B4-BE49-F238E27FC236}">
                <a16:creationId xmlns:a16="http://schemas.microsoft.com/office/drawing/2014/main" id="{52F62B0A-10DE-0208-8D53-CB7C6F5BF8C0}"/>
              </a:ext>
            </a:extLst>
          </p:cNvPr>
          <p:cNvSpPr/>
          <p:nvPr/>
        </p:nvSpPr>
        <p:spPr>
          <a:xfrm rot="10800000">
            <a:off x="11446412" y="5831059"/>
            <a:ext cx="351692" cy="2180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TQA</a:t>
            </a:r>
          </a:p>
          <a:p>
            <a:r>
              <a:rPr lang="en-US" sz="2400"/>
              <a:t>TQA-B Details</a:t>
            </a: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1CFA3FC7-8A50-DFAB-1FA5-38C6B3E467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70000" lnSpcReduction="20000"/>
          </a:bodyPr>
          <a:lstStyle/>
          <a:p>
            <a:pPr>
              <a:spcBef>
                <a:spcPts val="0"/>
              </a:spcBef>
            </a:pPr>
            <a:r>
              <a:rPr lang="en-US" sz="1200" b="1" i="0">
                <a:effectLst/>
                <a:latin typeface="Georgia" panose="02040502050405020303" pitchFamily="18" charset="0"/>
              </a:rPr>
              <a:t>Conformal Prediction with Temporal Quantile Adjustments (NeurIPS 2022)</a:t>
            </a:r>
          </a:p>
          <a:p>
            <a:pPr>
              <a:spcBef>
                <a:spcPts val="0"/>
              </a:spcBef>
            </a:pPr>
            <a:r>
              <a:rPr lang="en-US" sz="1200" b="1" i="0">
                <a:effectLst/>
                <a:latin typeface="Georgia" panose="02040502050405020303" pitchFamily="18" charset="0"/>
              </a:rPr>
              <a:t>Conformal Prediction Intervals with Temporal Dependence (TMLR Aug 2022)</a:t>
            </a:r>
          </a:p>
          <a:p>
            <a:pPr>
              <a:spcBef>
                <a:spcPts val="0"/>
              </a:spcBef>
            </a:pPr>
            <a:r>
              <a:rPr lang="en-US" sz="1200" b="1" i="0">
                <a:effectLst/>
                <a:latin typeface="Georgia" panose="02040502050405020303" pitchFamily="18" charset="0"/>
              </a:rPr>
              <a:t>Zhen Lin</a:t>
            </a:r>
            <a:r>
              <a:rPr lang="en-US" sz="1200" b="0" i="0">
                <a:effectLst/>
                <a:latin typeface="Georgia" panose="02040502050405020303" pitchFamily="18" charset="0"/>
              </a:rPr>
              <a:t>, Shubhendu Trivedi, Jimeng Sun</a:t>
            </a:r>
            <a:endParaRPr lang="en-US" sz="120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38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806D1B14-9D4F-C3FE-32E8-28C1679F56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1512887"/>
                <a:ext cx="10515600" cy="448945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/>
                  <a:t>In this version of TQA, we perform “budgeting” on the adjustments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acc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800"/>
              </a:p>
              <a:p>
                <a:r>
                  <a:rPr lang="en-US" sz="1800"/>
                  <a:t>We divide the process into 2 steps</a:t>
                </a:r>
              </a:p>
              <a:p>
                <a:r>
                  <a:rPr lang="en-US" sz="1800" b="1"/>
                  <a:t>Quantile Prediction</a:t>
                </a:r>
                <a:r>
                  <a:rPr lang="en-US" sz="1800"/>
                  <a:t>:</a:t>
                </a:r>
              </a:p>
              <a:p>
                <a:pPr lvl="1"/>
                <a:r>
                  <a:rPr lang="en-US" sz="1400"/>
                  <a:t>Try to predict the rank of the nonconformity score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400"/>
                  <a:t>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1400"/>
              </a:p>
              <a:p>
                <a:pPr lvl="1"/>
                <a:r>
                  <a:rPr lang="en-US" sz="1400"/>
                  <a:t>Simply take the rank of the EQMA (exponentially weighted moving average) of the residual up to time t</a:t>
                </a:r>
              </a:p>
              <a:p>
                <a:pPr lvl="1"/>
                <a:endParaRPr lang="en-US" sz="1400"/>
              </a:p>
              <a:p>
                <a:pPr lvl="1"/>
                <a:endParaRPr lang="en-US" sz="1400"/>
              </a:p>
              <a:p>
                <a:pPr marL="457200" lvl="1" indent="0">
                  <a:buNone/>
                </a:pPr>
                <a:endParaRPr lang="en-US" sz="1400"/>
              </a:p>
              <a:p>
                <a:r>
                  <a:rPr lang="en-US" sz="1800" b="1"/>
                  <a:t>Budgeting</a:t>
                </a:r>
                <a:r>
                  <a:rPr lang="en-US" sz="1800"/>
                  <a:t>:</a:t>
                </a: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806D1B14-9D4F-C3FE-32E8-28C1679F5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512887"/>
                <a:ext cx="10515600" cy="4489450"/>
              </a:xfrm>
              <a:prstGeom prst="rect">
                <a:avLst/>
              </a:prstGeom>
              <a:blipFill>
                <a:blip r:embed="rId3"/>
                <a:stretch>
                  <a:fillRect l="-348" t="-1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1921BF1-FF3C-3CEF-2BEA-B62C2F2094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1587" y="3142253"/>
            <a:ext cx="6096000" cy="7584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582641-9761-BFC1-2B8D-0742E205F9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7287" y="4343684"/>
            <a:ext cx="9385644" cy="887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C0D49E-25F4-26E6-3779-8CE2973936E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5777"/>
          <a:stretch/>
        </p:blipFill>
        <p:spPr>
          <a:xfrm>
            <a:off x="1798036" y="5674162"/>
            <a:ext cx="6914639" cy="461820"/>
          </a:xfrm>
          <a:prstGeom prst="rect">
            <a:avLst/>
          </a:prstGeom>
        </p:spPr>
      </p:pic>
      <p:sp>
        <p:nvSpPr>
          <p:cNvPr id="3" name="Arrow: Right 2">
            <a:hlinkClick r:id="rId7" action="ppaction://hlinksldjump"/>
            <a:extLst>
              <a:ext uri="{FF2B5EF4-FFF2-40B4-BE49-F238E27FC236}">
                <a16:creationId xmlns:a16="http://schemas.microsoft.com/office/drawing/2014/main" id="{0E64BF9A-63B6-C45B-04BA-1FE87985B21C}"/>
              </a:ext>
            </a:extLst>
          </p:cNvPr>
          <p:cNvSpPr/>
          <p:nvPr/>
        </p:nvSpPr>
        <p:spPr>
          <a:xfrm rot="10800000">
            <a:off x="11446412" y="5831059"/>
            <a:ext cx="351692" cy="2180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5264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TQA</a:t>
            </a:r>
          </a:p>
          <a:p>
            <a:r>
              <a:rPr lang="en-US" sz="2400"/>
              <a:t>TQA-E Details</a:t>
            </a: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1CFA3FC7-8A50-DFAB-1FA5-38C6B3E467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70000" lnSpcReduction="20000"/>
          </a:bodyPr>
          <a:lstStyle/>
          <a:p>
            <a:pPr>
              <a:spcBef>
                <a:spcPts val="0"/>
              </a:spcBef>
            </a:pPr>
            <a:r>
              <a:rPr lang="en-US" sz="1200" b="1" i="0">
                <a:effectLst/>
                <a:latin typeface="Georgia" panose="02040502050405020303" pitchFamily="18" charset="0"/>
              </a:rPr>
              <a:t>Conformal Prediction with Temporal Quantile Adjustments (NeurIPS 2022)</a:t>
            </a:r>
          </a:p>
          <a:p>
            <a:pPr>
              <a:spcBef>
                <a:spcPts val="0"/>
              </a:spcBef>
            </a:pPr>
            <a:r>
              <a:rPr lang="en-US" sz="1200" b="1" i="0">
                <a:effectLst/>
                <a:latin typeface="Georgia" panose="02040502050405020303" pitchFamily="18" charset="0"/>
              </a:rPr>
              <a:t>Conformal Prediction Intervals with Temporal Dependence (TMLR Aug 2022)</a:t>
            </a:r>
          </a:p>
          <a:p>
            <a:pPr>
              <a:spcBef>
                <a:spcPts val="0"/>
              </a:spcBef>
            </a:pPr>
            <a:r>
              <a:rPr lang="en-US" sz="1200" b="1" i="0">
                <a:effectLst/>
                <a:latin typeface="Georgia" panose="02040502050405020303" pitchFamily="18" charset="0"/>
              </a:rPr>
              <a:t>Zhen Lin</a:t>
            </a:r>
            <a:r>
              <a:rPr lang="en-US" sz="1200" b="0" i="0">
                <a:effectLst/>
                <a:latin typeface="Georgia" panose="02040502050405020303" pitchFamily="18" charset="0"/>
              </a:rPr>
              <a:t>, Shubhendu Trivedi, Jimeng Sun</a:t>
            </a:r>
            <a:endParaRPr lang="en-US" sz="120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39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4">
                <a:extLst>
                  <a:ext uri="{FF2B5EF4-FFF2-40B4-BE49-F238E27FC236}">
                    <a16:creationId xmlns:a16="http://schemas.microsoft.com/office/drawing/2014/main" id="{C9B75ECC-8DDA-BCA3-09E7-E302A47113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1512887"/>
                <a:ext cx="10515600" cy="448945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/>
                  <a:t>In this version of TQA, we adjust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acc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/>
                  <a:t> without considering the cross-section, and allow for infinite PI</a:t>
                </a:r>
              </a:p>
              <a:p>
                <a:pPr lvl="1"/>
                <a:r>
                  <a:rPr lang="en-US" sz="1400"/>
                  <a:t>This is inspired by a recent work [1] on </a:t>
                </a:r>
                <a:r>
                  <a:rPr lang="en-US" sz="1400" i="1"/>
                  <a:t>single </a:t>
                </a:r>
                <a:r>
                  <a:rPr lang="en-US" sz="1400"/>
                  <a:t>time series (without the cross-section) </a:t>
                </a:r>
                <a:endParaRPr lang="en-US" sz="1800"/>
              </a:p>
              <a:p>
                <a:r>
                  <a:rPr lang="en-US" sz="1800"/>
                  <a:t>Define </a:t>
                </a:r>
              </a:p>
              <a:p>
                <a:r>
                  <a:rPr lang="en-US" sz="1800"/>
                  <a:t>Starting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acc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/>
                  <a:t> </a:t>
                </a:r>
              </a:p>
              <a:p>
                <a:endParaRPr lang="en-US" sz="1800"/>
              </a:p>
              <a:p>
                <a:endParaRPr lang="en-US" sz="1800"/>
              </a:p>
              <a:p>
                <a:r>
                  <a:rPr lang="en-US" sz="1800"/>
                  <a:t>Note that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acc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800"/>
                  <a:t>, TQA-E leads to infinitely wide PI</a:t>
                </a:r>
              </a:p>
              <a:p>
                <a:r>
                  <a:rPr lang="en-US" sz="1800"/>
                  <a:t>Cross-sectional validity:</a:t>
                </a:r>
              </a:p>
              <a:p>
                <a:endParaRPr lang="en-US" sz="1800"/>
              </a:p>
              <a:p>
                <a:endParaRPr lang="en-US" sz="1800"/>
              </a:p>
            </p:txBody>
          </p:sp>
        </mc:Choice>
        <mc:Fallback xmlns="">
          <p:sp>
            <p:nvSpPr>
              <p:cNvPr id="3" name="Text Placeholder 4">
                <a:extLst>
                  <a:ext uri="{FF2B5EF4-FFF2-40B4-BE49-F238E27FC236}">
                    <a16:creationId xmlns:a16="http://schemas.microsoft.com/office/drawing/2014/main" id="{C9B75ECC-8DDA-BCA3-09E7-E302A4711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512887"/>
                <a:ext cx="10515600" cy="4489450"/>
              </a:xfrm>
              <a:prstGeom prst="rect">
                <a:avLst/>
              </a:prstGeom>
              <a:blipFill>
                <a:blip r:embed="rId3"/>
                <a:stretch>
                  <a:fillRect l="-348" t="-1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B8F8B10-8B5D-B216-E565-EDFA8B6EF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011" y="2633023"/>
            <a:ext cx="4560630" cy="9674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C63567-0BE0-81E6-D082-9BE0239BEA0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979"/>
          <a:stretch/>
        </p:blipFill>
        <p:spPr>
          <a:xfrm>
            <a:off x="2033097" y="2155908"/>
            <a:ext cx="1948134" cy="30452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2B571D0-03F8-04A2-8BA2-E89A420A24A0}"/>
              </a:ext>
            </a:extLst>
          </p:cNvPr>
          <p:cNvSpPr txBox="1"/>
          <p:nvPr/>
        </p:nvSpPr>
        <p:spPr>
          <a:xfrm>
            <a:off x="360295" y="5872434"/>
            <a:ext cx="70359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[1] Isaac Gibbs and Emmanuel </a:t>
            </a:r>
            <a:r>
              <a:rPr lang="en-US" sz="1200" err="1"/>
              <a:t>Candes</a:t>
            </a:r>
            <a:r>
              <a:rPr lang="en-US" sz="1200"/>
              <a:t>. Adaptive conformal inference under distribution shift. NeurIPS 2021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4043BB0-C542-8A19-A253-E3C1D790AE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2855" y="4387554"/>
            <a:ext cx="9346008" cy="1277963"/>
          </a:xfrm>
          <a:prstGeom prst="rect">
            <a:avLst/>
          </a:prstGeom>
        </p:spPr>
      </p:pic>
      <p:sp>
        <p:nvSpPr>
          <p:cNvPr id="7" name="Arrow: Right 6">
            <a:hlinkClick r:id="rId7" action="ppaction://hlinksldjump"/>
            <a:extLst>
              <a:ext uri="{FF2B5EF4-FFF2-40B4-BE49-F238E27FC236}">
                <a16:creationId xmlns:a16="http://schemas.microsoft.com/office/drawing/2014/main" id="{F540779D-F371-F681-B1D8-EB8308FE8F24}"/>
              </a:ext>
            </a:extLst>
          </p:cNvPr>
          <p:cNvSpPr/>
          <p:nvPr/>
        </p:nvSpPr>
        <p:spPr>
          <a:xfrm rot="10800000">
            <a:off x="11446412" y="5831059"/>
            <a:ext cx="351692" cy="2180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9839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CPTD</a:t>
            </a:r>
          </a:p>
          <a:p>
            <a:r>
              <a:rPr lang="en-US" sz="2400"/>
              <a:t>CPTD Details</a:t>
            </a: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1CFA3FC7-8A50-DFAB-1FA5-38C6B3E467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70000" lnSpcReduction="20000"/>
          </a:bodyPr>
          <a:lstStyle/>
          <a:p>
            <a:pPr>
              <a:spcBef>
                <a:spcPts val="0"/>
              </a:spcBef>
            </a:pPr>
            <a:r>
              <a:rPr lang="en-US" sz="1200" b="1" i="0">
                <a:effectLst/>
                <a:latin typeface="Georgia" panose="02040502050405020303" pitchFamily="18" charset="0"/>
              </a:rPr>
              <a:t>Conformal Prediction with Temporal Quantile Adjustments (NeurIPS 2022)</a:t>
            </a:r>
          </a:p>
          <a:p>
            <a:pPr>
              <a:spcBef>
                <a:spcPts val="0"/>
              </a:spcBef>
            </a:pPr>
            <a:r>
              <a:rPr lang="en-US" sz="1200" b="1" i="0">
                <a:effectLst/>
                <a:latin typeface="Georgia" panose="02040502050405020303" pitchFamily="18" charset="0"/>
              </a:rPr>
              <a:t>Conformal Prediction Intervals with Temporal Dependence (TMLR Aug 2022)</a:t>
            </a:r>
          </a:p>
          <a:p>
            <a:pPr>
              <a:spcBef>
                <a:spcPts val="0"/>
              </a:spcBef>
            </a:pPr>
            <a:r>
              <a:rPr lang="en-US" sz="1200" b="1" i="0">
                <a:effectLst/>
                <a:latin typeface="Georgia" panose="02040502050405020303" pitchFamily="18" charset="0"/>
              </a:rPr>
              <a:t>Zhen Lin</a:t>
            </a:r>
            <a:r>
              <a:rPr lang="en-US" sz="1200" b="0" i="0">
                <a:effectLst/>
                <a:latin typeface="Georgia" panose="02040502050405020303" pitchFamily="18" charset="0"/>
              </a:rPr>
              <a:t>, Shubhendu Trivedi, Jimeng Sun</a:t>
            </a:r>
            <a:endParaRPr lang="en-US" sz="120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40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4">
                <a:extLst>
                  <a:ext uri="{FF2B5EF4-FFF2-40B4-BE49-F238E27FC236}">
                    <a16:creationId xmlns:a16="http://schemas.microsoft.com/office/drawing/2014/main" id="{C9B75ECC-8DDA-BCA3-09E7-E302A47113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1512887"/>
                <a:ext cx="10515600" cy="448945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/>
                  <a:t>To account for temporal dependency, we introduce a normalizing term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+1,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1800"/>
              </a:p>
              <a:p>
                <a:endParaRPr lang="en-US" sz="1800"/>
              </a:p>
              <a:p>
                <a:endParaRPr lang="en-US" sz="1800"/>
              </a:p>
              <a:p>
                <a:endParaRPr lang="en-US" sz="1800"/>
              </a:p>
              <a:p>
                <a:r>
                  <a:rPr lang="en-US" sz="1800"/>
                  <a:t> Denoting the absolute residual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=|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1800"/>
              </a:p>
              <a:p>
                <a:pPr marL="0" indent="0">
                  <a:buNone/>
                </a:pPr>
                <a:endParaRPr lang="en-US" sz="1800"/>
              </a:p>
              <a:p>
                <a:endParaRPr lang="en-US" sz="1800"/>
              </a:p>
              <a:p>
                <a:endParaRPr lang="en-US" sz="1800"/>
              </a:p>
              <a:p>
                <a:r>
                  <a:rPr lang="en-US" sz="1800"/>
                  <a:t>The quantile-to-query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800"/>
                  <a:t> is estimated by (past average rank)</a:t>
                </a:r>
              </a:p>
              <a:p>
                <a:endParaRPr lang="en-US" sz="1800"/>
              </a:p>
              <a:p>
                <a:endParaRPr lang="en-US" sz="1800"/>
              </a:p>
            </p:txBody>
          </p:sp>
        </mc:Choice>
        <mc:Fallback xmlns="">
          <p:sp>
            <p:nvSpPr>
              <p:cNvPr id="3" name="Text Placeholder 4">
                <a:extLst>
                  <a:ext uri="{FF2B5EF4-FFF2-40B4-BE49-F238E27FC236}">
                    <a16:creationId xmlns:a16="http://schemas.microsoft.com/office/drawing/2014/main" id="{C9B75ECC-8DDA-BCA3-09E7-E302A4711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512887"/>
                <a:ext cx="10515600" cy="4489450"/>
              </a:xfrm>
              <a:prstGeom prst="rect">
                <a:avLst/>
              </a:prstGeom>
              <a:blipFill>
                <a:blip r:embed="rId3"/>
                <a:stretch>
                  <a:fillRect l="-348" t="-1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016D7887-6BF9-6EBF-58BB-CE09B55C512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878" t="14178" r="15048" b="9393"/>
          <a:stretch/>
        </p:blipFill>
        <p:spPr>
          <a:xfrm>
            <a:off x="4201257" y="1821636"/>
            <a:ext cx="3789484" cy="8880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88BE88-3CBD-24AB-4DCC-41451F228F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9796"/>
          <a:stretch/>
        </p:blipFill>
        <p:spPr>
          <a:xfrm>
            <a:off x="2448200" y="3446024"/>
            <a:ext cx="8171428" cy="9700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52CC02-EF7D-0655-FE50-54327A54E1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8813" y="4923791"/>
            <a:ext cx="6209524" cy="1123810"/>
          </a:xfrm>
          <a:prstGeom prst="rect">
            <a:avLst/>
          </a:prstGeom>
        </p:spPr>
      </p:pic>
      <p:sp>
        <p:nvSpPr>
          <p:cNvPr id="7" name="Arrow: Right 6">
            <a:hlinkClick r:id="rId7" action="ppaction://hlinksldjump"/>
            <a:extLst>
              <a:ext uri="{FF2B5EF4-FFF2-40B4-BE49-F238E27FC236}">
                <a16:creationId xmlns:a16="http://schemas.microsoft.com/office/drawing/2014/main" id="{4A016ED5-3BB6-630F-2824-5D51CDC4A82D}"/>
              </a:ext>
            </a:extLst>
          </p:cNvPr>
          <p:cNvSpPr/>
          <p:nvPr/>
        </p:nvSpPr>
        <p:spPr>
          <a:xfrm rot="10800000">
            <a:off x="11446412" y="5831059"/>
            <a:ext cx="351692" cy="2180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2921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err="1"/>
              <a:t>FavMac</a:t>
            </a:r>
            <a:r>
              <a:rPr lang="en-US"/>
              <a:t>: Problem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15B671-AB3B-E656-A1BC-051BC9E57035}"/>
                  </a:ext>
                </a:extLst>
              </p:cNvPr>
              <p:cNvSpPr>
                <a:spLocks noGrp="1"/>
              </p:cNvSpPr>
              <p:nvPr>
                <p:ph type="body" sz="quarter" idx="21"/>
              </p:nvPr>
            </p:nvSpPr>
            <p:spPr>
              <a:xfrm>
                <a:off x="654228" y="1467623"/>
                <a:ext cx="10370191" cy="4250131"/>
              </a:xfrm>
            </p:spPr>
            <p:txBody>
              <a:bodyPr>
                <a:noAutofit/>
              </a:bodyPr>
              <a:lstStyle/>
              <a:p>
                <a:r>
                  <a:rPr lang="en-US" sz="200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are given </a:t>
                </a:r>
              </a:p>
              <a:p>
                <a:pPr lvl="1"/>
                <a:r>
                  <a:rPr lang="en-US" sz="200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multilabel classifier</a:t>
                </a:r>
              </a:p>
              <a:p>
                <a:pPr lvl="1"/>
                <a:r>
                  <a:rPr lang="en-US" sz="200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b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online</a:t>
                </a:r>
                <a:r>
                  <a:rPr lang="en-US" sz="20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lang="en-US" sz="200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calibration data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r>
                  <a:rPr lang="en-US" sz="200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and a test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00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(assume they are </a:t>
                </a:r>
                <a:r>
                  <a:rPr lang="en-US" sz="2000" err="1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i.i.d.</a:t>
                </a:r>
                <a:r>
                  <a:rPr lang="en-US" sz="200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pPr lvl="1"/>
                <a:r>
                  <a:rPr lang="en-US" sz="200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 arbitrary value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00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a bounded cost function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r>
                  <a:rPr lang="en-US" sz="2000" b="1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Goal</a:t>
                </a:r>
                <a:r>
                  <a:rPr lang="en-US" sz="200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Find prediction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00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with high value and cost control </a:t>
                </a:r>
                <a:r>
                  <a:rPr lang="en-US" sz="2000" b="1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guarantee</a:t>
                </a:r>
                <a:r>
                  <a:rPr lang="en-US" sz="200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(as specified below)</a:t>
                </a:r>
              </a:p>
              <a:p>
                <a:pPr lvl="1"/>
                <a:endParaRPr lang="en-US" sz="200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200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15B671-AB3B-E656-A1BC-051BC9E570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1"/>
              </p:nvPr>
            </p:nvSpPr>
            <p:spPr>
              <a:xfrm>
                <a:off x="654228" y="1467623"/>
                <a:ext cx="10370191" cy="4250131"/>
              </a:xfrm>
              <a:blipFill>
                <a:blip r:embed="rId2"/>
                <a:stretch>
                  <a:fillRect l="-529" t="-861" r="-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1CFA3FC7-8A50-DFAB-1FA5-38C6B3E467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r>
              <a:rPr lang="en-US" sz="1100" b="1">
                <a:latin typeface="Georgia" panose="02040502050405020303" pitchFamily="18" charset="0"/>
              </a:rPr>
              <a:t>Fast Online Value-Maximizing Prediction Sets with Conformal Cost Control (ICML 2023)</a:t>
            </a:r>
          </a:p>
          <a:p>
            <a:r>
              <a:rPr lang="en-US" sz="1100" b="1">
                <a:latin typeface="Georgia" panose="02040502050405020303" pitchFamily="18" charset="0"/>
              </a:rPr>
              <a:t>Zhen Lin, </a:t>
            </a:r>
            <a:r>
              <a:rPr lang="en-US" sz="1100">
                <a:latin typeface="Georgia" panose="02040502050405020303" pitchFamily="18" charset="0"/>
              </a:rPr>
              <a:t>Shubhendu Trivedi, Cao Xiao, Jimeng Sun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41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796E27-D73C-C7C9-36C3-9E768E46297E}"/>
              </a:ext>
            </a:extLst>
          </p:cNvPr>
          <p:cNvGrpSpPr/>
          <p:nvPr/>
        </p:nvGrpSpPr>
        <p:grpSpPr>
          <a:xfrm>
            <a:off x="755003" y="3429000"/>
            <a:ext cx="10269416" cy="2349806"/>
            <a:chOff x="961292" y="3829538"/>
            <a:chExt cx="10269416" cy="234980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FB91D15-F11A-7A21-2863-ECDCE65D5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5999" y="4293630"/>
              <a:ext cx="5057143" cy="1257143"/>
            </a:xfrm>
            <a:prstGeom prst="rect">
              <a:avLst/>
            </a:prstGeom>
          </p:spPr>
        </p:pic>
        <p:sp>
          <p:nvSpPr>
            <p:cNvPr id="8" name="Text Placeholder 4">
              <a:extLst>
                <a:ext uri="{FF2B5EF4-FFF2-40B4-BE49-F238E27FC236}">
                  <a16:creationId xmlns:a16="http://schemas.microsoft.com/office/drawing/2014/main" id="{13F0540A-2C9B-FE9C-B5BA-A7A66E79B578}"/>
                </a:ext>
              </a:extLst>
            </p:cNvPr>
            <p:cNvSpPr txBox="1">
              <a:spLocks/>
            </p:cNvSpPr>
            <p:nvPr/>
          </p:nvSpPr>
          <p:spPr>
            <a:xfrm>
              <a:off x="1038858" y="3829538"/>
              <a:ext cx="10191850" cy="234980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b="1"/>
                <a:t>Expected Cost Control:                                          Violation Control:</a:t>
              </a:r>
              <a:endParaRPr lang="en-US" sz="180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92024B5-8D79-F8F1-9909-75B6FE8596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941"/>
            <a:stretch/>
          </p:blipFill>
          <p:spPr>
            <a:xfrm>
              <a:off x="961292" y="4293629"/>
              <a:ext cx="4580952" cy="1257143"/>
            </a:xfrm>
            <a:prstGeom prst="rect">
              <a:avLst/>
            </a:prstGeom>
          </p:spPr>
        </p:pic>
      </p:grpSp>
      <p:sp>
        <p:nvSpPr>
          <p:cNvPr id="10" name="Arrow: Right 9">
            <a:hlinkClick r:id="rId5" action="ppaction://hlinksldjump"/>
            <a:extLst>
              <a:ext uri="{FF2B5EF4-FFF2-40B4-BE49-F238E27FC236}">
                <a16:creationId xmlns:a16="http://schemas.microsoft.com/office/drawing/2014/main" id="{71AB91B0-416E-8FBF-1260-5C6FAA28DC90}"/>
              </a:ext>
            </a:extLst>
          </p:cNvPr>
          <p:cNvSpPr/>
          <p:nvPr/>
        </p:nvSpPr>
        <p:spPr>
          <a:xfrm rot="10800000">
            <a:off x="11446412" y="5831059"/>
            <a:ext cx="351692" cy="2180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447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err="1"/>
              <a:t>FavMac</a:t>
            </a:r>
            <a:r>
              <a:rPr lang="en-US"/>
              <a:t>: Violation Control Pipeline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9104AFB-1918-6F5F-4BF5-5F46441182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67"/>
          <a:stretch/>
        </p:blipFill>
        <p:spPr>
          <a:xfrm>
            <a:off x="4346937" y="2159930"/>
            <a:ext cx="7512400" cy="4028128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AD8B6C3-4E96-C3F7-1E2C-CA44BADA99B0}"/>
              </a:ext>
            </a:extLst>
          </p:cNvPr>
          <p:cNvSpPr/>
          <p:nvPr/>
        </p:nvSpPr>
        <p:spPr>
          <a:xfrm>
            <a:off x="4092541" y="5187476"/>
            <a:ext cx="3967874" cy="1044143"/>
          </a:xfrm>
          <a:custGeom>
            <a:avLst/>
            <a:gdLst>
              <a:gd name="connsiteX0" fmla="*/ 1079659 w 3967874"/>
              <a:gd name="connsiteY0" fmla="*/ 8897 h 1044143"/>
              <a:gd name="connsiteX1" fmla="*/ 1079659 w 3967874"/>
              <a:gd name="connsiteY1" fmla="*/ 8897 h 1044143"/>
              <a:gd name="connsiteX2" fmla="*/ 729206 w 3967874"/>
              <a:gd name="connsiteY2" fmla="*/ 8897 h 1044143"/>
              <a:gd name="connsiteX3" fmla="*/ 588219 w 3967874"/>
              <a:gd name="connsiteY3" fmla="*/ 49179 h 1044143"/>
              <a:gd name="connsiteX4" fmla="*/ 451260 w 3967874"/>
              <a:gd name="connsiteY4" fmla="*/ 81405 h 1044143"/>
              <a:gd name="connsiteX5" fmla="*/ 374725 w 3967874"/>
              <a:gd name="connsiteY5" fmla="*/ 121686 h 1044143"/>
              <a:gd name="connsiteX6" fmla="*/ 334443 w 3967874"/>
              <a:gd name="connsiteY6" fmla="*/ 149884 h 1044143"/>
              <a:gd name="connsiteX7" fmla="*/ 257907 w 3967874"/>
              <a:gd name="connsiteY7" fmla="*/ 186138 h 1044143"/>
              <a:gd name="connsiteX8" fmla="*/ 32328 w 3967874"/>
              <a:gd name="connsiteY8" fmla="*/ 331153 h 1044143"/>
              <a:gd name="connsiteX9" fmla="*/ 8159 w 3967874"/>
              <a:gd name="connsiteY9" fmla="*/ 375463 h 1044143"/>
              <a:gd name="connsiteX10" fmla="*/ 8159 w 3967874"/>
              <a:gd name="connsiteY10" fmla="*/ 520478 h 1044143"/>
              <a:gd name="connsiteX11" fmla="*/ 20244 w 3967874"/>
              <a:gd name="connsiteY11" fmla="*/ 552703 h 1044143"/>
              <a:gd name="connsiteX12" fmla="*/ 36357 w 3967874"/>
              <a:gd name="connsiteY12" fmla="*/ 605070 h 1044143"/>
              <a:gd name="connsiteX13" fmla="*/ 84695 w 3967874"/>
              <a:gd name="connsiteY13" fmla="*/ 685634 h 1044143"/>
              <a:gd name="connsiteX14" fmla="*/ 141090 w 3967874"/>
              <a:gd name="connsiteY14" fmla="*/ 762169 h 1044143"/>
              <a:gd name="connsiteX15" fmla="*/ 197484 w 3967874"/>
              <a:gd name="connsiteY15" fmla="*/ 802451 h 1044143"/>
              <a:gd name="connsiteX16" fmla="*/ 354584 w 3967874"/>
              <a:gd name="connsiteY16" fmla="*/ 895100 h 1044143"/>
              <a:gd name="connsiteX17" fmla="*/ 632529 w 3967874"/>
              <a:gd name="connsiteY17" fmla="*/ 983720 h 1044143"/>
              <a:gd name="connsiteX18" fmla="*/ 789629 w 3967874"/>
              <a:gd name="connsiteY18" fmla="*/ 1003861 h 1044143"/>
              <a:gd name="connsiteX19" fmla="*/ 910475 w 3967874"/>
              <a:gd name="connsiteY19" fmla="*/ 1011917 h 1044143"/>
              <a:gd name="connsiteX20" fmla="*/ 1063546 w 3967874"/>
              <a:gd name="connsiteY20" fmla="*/ 1028030 h 1044143"/>
              <a:gd name="connsiteX21" fmla="*/ 1268984 w 3967874"/>
              <a:gd name="connsiteY21" fmla="*/ 1036086 h 1044143"/>
              <a:gd name="connsiteX22" fmla="*/ 1450253 w 3967874"/>
              <a:gd name="connsiteY22" fmla="*/ 1044143 h 1044143"/>
              <a:gd name="connsiteX23" fmla="*/ 1768480 w 3967874"/>
              <a:gd name="connsiteY23" fmla="*/ 1028030 h 1044143"/>
              <a:gd name="connsiteX24" fmla="*/ 2219638 w 3967874"/>
              <a:gd name="connsiteY24" fmla="*/ 1036086 h 1044143"/>
              <a:gd name="connsiteX25" fmla="*/ 2304230 w 3967874"/>
              <a:gd name="connsiteY25" fmla="*/ 1040115 h 1044143"/>
              <a:gd name="connsiteX26" fmla="*/ 2751359 w 3967874"/>
              <a:gd name="connsiteY26" fmla="*/ 1024002 h 1044143"/>
              <a:gd name="connsiteX27" fmla="*/ 2823867 w 3967874"/>
              <a:gd name="connsiteY27" fmla="*/ 1019974 h 1044143"/>
              <a:gd name="connsiteX28" fmla="*/ 3460321 w 3967874"/>
              <a:gd name="connsiteY28" fmla="*/ 963579 h 1044143"/>
              <a:gd name="connsiteX29" fmla="*/ 3504631 w 3967874"/>
              <a:gd name="connsiteY29" fmla="*/ 947466 h 1044143"/>
              <a:gd name="connsiteX30" fmla="*/ 3544913 w 3967874"/>
              <a:gd name="connsiteY30" fmla="*/ 931353 h 1044143"/>
              <a:gd name="connsiteX31" fmla="*/ 3730210 w 3967874"/>
              <a:gd name="connsiteY31" fmla="*/ 883015 h 1044143"/>
              <a:gd name="connsiteX32" fmla="*/ 3855084 w 3967874"/>
              <a:gd name="connsiteY32" fmla="*/ 858846 h 1044143"/>
              <a:gd name="connsiteX33" fmla="*/ 3915507 w 3967874"/>
              <a:gd name="connsiteY33" fmla="*/ 822592 h 1044143"/>
              <a:gd name="connsiteX34" fmla="*/ 3927592 w 3967874"/>
              <a:gd name="connsiteY34" fmla="*/ 798423 h 1044143"/>
              <a:gd name="connsiteX35" fmla="*/ 3943705 w 3967874"/>
              <a:gd name="connsiteY35" fmla="*/ 762169 h 1044143"/>
              <a:gd name="connsiteX36" fmla="*/ 3959817 w 3967874"/>
              <a:gd name="connsiteY36" fmla="*/ 701746 h 1044143"/>
              <a:gd name="connsiteX37" fmla="*/ 3967874 w 3967874"/>
              <a:gd name="connsiteY37" fmla="*/ 673549 h 1044143"/>
              <a:gd name="connsiteX38" fmla="*/ 3951761 w 3967874"/>
              <a:gd name="connsiteY38" fmla="*/ 500337 h 1044143"/>
              <a:gd name="connsiteX39" fmla="*/ 3847028 w 3967874"/>
              <a:gd name="connsiteY39" fmla="*/ 343237 h 1044143"/>
              <a:gd name="connsiteX40" fmla="*/ 3734238 w 3967874"/>
              <a:gd name="connsiteY40" fmla="*/ 278786 h 1044143"/>
              <a:gd name="connsiteX41" fmla="*/ 3706041 w 3967874"/>
              <a:gd name="connsiteY41" fmla="*/ 266701 h 1044143"/>
              <a:gd name="connsiteX42" fmla="*/ 3673816 w 3967874"/>
              <a:gd name="connsiteY42" fmla="*/ 258645 h 1044143"/>
              <a:gd name="connsiteX43" fmla="*/ 3613393 w 3967874"/>
              <a:gd name="connsiteY43" fmla="*/ 238504 h 1044143"/>
              <a:gd name="connsiteX44" fmla="*/ 3536857 w 3967874"/>
              <a:gd name="connsiteY44" fmla="*/ 230448 h 1044143"/>
              <a:gd name="connsiteX45" fmla="*/ 3113897 w 3967874"/>
              <a:gd name="connsiteY45" fmla="*/ 170025 h 1044143"/>
              <a:gd name="connsiteX46" fmla="*/ 2759416 w 3967874"/>
              <a:gd name="connsiteY46" fmla="*/ 125715 h 1044143"/>
              <a:gd name="connsiteX47" fmla="*/ 2537865 w 3967874"/>
              <a:gd name="connsiteY47" fmla="*/ 113630 h 1044143"/>
              <a:gd name="connsiteX48" fmla="*/ 2408963 w 3967874"/>
              <a:gd name="connsiteY48" fmla="*/ 97517 h 1044143"/>
              <a:gd name="connsiteX49" fmla="*/ 2312286 w 3967874"/>
              <a:gd name="connsiteY49" fmla="*/ 89461 h 1044143"/>
              <a:gd name="connsiteX50" fmla="*/ 2276032 w 3967874"/>
              <a:gd name="connsiteY50" fmla="*/ 81405 h 1044143"/>
              <a:gd name="connsiteX51" fmla="*/ 2263948 w 3967874"/>
              <a:gd name="connsiteY51" fmla="*/ 77376 h 1044143"/>
              <a:gd name="connsiteX52" fmla="*/ 2227694 w 3967874"/>
              <a:gd name="connsiteY52" fmla="*/ 73348 h 1044143"/>
              <a:gd name="connsiteX53" fmla="*/ 2155186 w 3967874"/>
              <a:gd name="connsiteY53" fmla="*/ 49179 h 1044143"/>
              <a:gd name="connsiteX54" fmla="*/ 2098792 w 3967874"/>
              <a:gd name="connsiteY54" fmla="*/ 37094 h 1044143"/>
              <a:gd name="connsiteX55" fmla="*/ 2058510 w 3967874"/>
              <a:gd name="connsiteY55" fmla="*/ 29038 h 1044143"/>
              <a:gd name="connsiteX56" fmla="*/ 1857100 w 3967874"/>
              <a:gd name="connsiteY56" fmla="*/ 33066 h 1044143"/>
              <a:gd name="connsiteX57" fmla="*/ 1752367 w 3967874"/>
              <a:gd name="connsiteY57" fmla="*/ 45151 h 1044143"/>
              <a:gd name="connsiteX58" fmla="*/ 1635549 w 3967874"/>
              <a:gd name="connsiteY58" fmla="*/ 53207 h 1044143"/>
              <a:gd name="connsiteX59" fmla="*/ 1522760 w 3967874"/>
              <a:gd name="connsiteY59" fmla="*/ 73348 h 1044143"/>
              <a:gd name="connsiteX60" fmla="*/ 1349548 w 3967874"/>
              <a:gd name="connsiteY60" fmla="*/ 73348 h 1044143"/>
              <a:gd name="connsiteX61" fmla="*/ 1260927 w 3967874"/>
              <a:gd name="connsiteY61" fmla="*/ 49179 h 1044143"/>
              <a:gd name="connsiteX62" fmla="*/ 1228702 w 3967874"/>
              <a:gd name="connsiteY62" fmla="*/ 41123 h 1044143"/>
              <a:gd name="connsiteX63" fmla="*/ 1192448 w 3967874"/>
              <a:gd name="connsiteY63" fmla="*/ 29038 h 1044143"/>
              <a:gd name="connsiteX64" fmla="*/ 1168279 w 3967874"/>
              <a:gd name="connsiteY64" fmla="*/ 20982 h 1044143"/>
              <a:gd name="connsiteX65" fmla="*/ 1144110 w 3967874"/>
              <a:gd name="connsiteY65" fmla="*/ 12925 h 1044143"/>
              <a:gd name="connsiteX66" fmla="*/ 1079659 w 3967874"/>
              <a:gd name="connsiteY66" fmla="*/ 8897 h 104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3967874" h="1044143">
                <a:moveTo>
                  <a:pt x="1079659" y="8897"/>
                </a:moveTo>
                <a:lnTo>
                  <a:pt x="1079659" y="8897"/>
                </a:lnTo>
                <a:cubicBezTo>
                  <a:pt x="964830" y="3156"/>
                  <a:pt x="843775" y="-7869"/>
                  <a:pt x="729206" y="8897"/>
                </a:cubicBezTo>
                <a:cubicBezTo>
                  <a:pt x="680845" y="15974"/>
                  <a:pt x="635391" y="36387"/>
                  <a:pt x="588219" y="49179"/>
                </a:cubicBezTo>
                <a:cubicBezTo>
                  <a:pt x="510994" y="70121"/>
                  <a:pt x="510619" y="69532"/>
                  <a:pt x="451260" y="81405"/>
                </a:cubicBezTo>
                <a:cubicBezTo>
                  <a:pt x="429593" y="92238"/>
                  <a:pt x="395573" y="108518"/>
                  <a:pt x="374725" y="121686"/>
                </a:cubicBezTo>
                <a:cubicBezTo>
                  <a:pt x="360867" y="130438"/>
                  <a:pt x="348794" y="141966"/>
                  <a:pt x="334443" y="149884"/>
                </a:cubicBezTo>
                <a:cubicBezTo>
                  <a:pt x="309726" y="163521"/>
                  <a:pt x="282706" y="172651"/>
                  <a:pt x="257907" y="186138"/>
                </a:cubicBezTo>
                <a:cubicBezTo>
                  <a:pt x="105273" y="269150"/>
                  <a:pt x="137386" y="249441"/>
                  <a:pt x="32328" y="331153"/>
                </a:cubicBezTo>
                <a:cubicBezTo>
                  <a:pt x="24272" y="345923"/>
                  <a:pt x="13479" y="359502"/>
                  <a:pt x="8159" y="375463"/>
                </a:cubicBezTo>
                <a:cubicBezTo>
                  <a:pt x="-6322" y="418907"/>
                  <a:pt x="1578" y="479675"/>
                  <a:pt x="8159" y="520478"/>
                </a:cubicBezTo>
                <a:cubicBezTo>
                  <a:pt x="9986" y="531804"/>
                  <a:pt x="16616" y="541820"/>
                  <a:pt x="20244" y="552703"/>
                </a:cubicBezTo>
                <a:cubicBezTo>
                  <a:pt x="26019" y="570029"/>
                  <a:pt x="28389" y="588636"/>
                  <a:pt x="36357" y="605070"/>
                </a:cubicBezTo>
                <a:cubicBezTo>
                  <a:pt x="50020" y="633250"/>
                  <a:pt x="67323" y="659576"/>
                  <a:pt x="84695" y="685634"/>
                </a:cubicBezTo>
                <a:cubicBezTo>
                  <a:pt x="102273" y="712001"/>
                  <a:pt x="119079" y="739372"/>
                  <a:pt x="141090" y="762169"/>
                </a:cubicBezTo>
                <a:cubicBezTo>
                  <a:pt x="157136" y="778788"/>
                  <a:pt x="177874" y="790241"/>
                  <a:pt x="197484" y="802451"/>
                </a:cubicBezTo>
                <a:cubicBezTo>
                  <a:pt x="249093" y="834585"/>
                  <a:pt x="297741" y="873539"/>
                  <a:pt x="354584" y="895100"/>
                </a:cubicBezTo>
                <a:cubicBezTo>
                  <a:pt x="461793" y="935766"/>
                  <a:pt x="513758" y="959665"/>
                  <a:pt x="632529" y="983720"/>
                </a:cubicBezTo>
                <a:cubicBezTo>
                  <a:pt x="684274" y="994200"/>
                  <a:pt x="737103" y="998532"/>
                  <a:pt x="789629" y="1003861"/>
                </a:cubicBezTo>
                <a:cubicBezTo>
                  <a:pt x="829794" y="1007936"/>
                  <a:pt x="870260" y="1008369"/>
                  <a:pt x="910475" y="1011917"/>
                </a:cubicBezTo>
                <a:cubicBezTo>
                  <a:pt x="961582" y="1016426"/>
                  <a:pt x="1012357" y="1024579"/>
                  <a:pt x="1063546" y="1028030"/>
                </a:cubicBezTo>
                <a:cubicBezTo>
                  <a:pt x="1131923" y="1032640"/>
                  <a:pt x="1200511" y="1033233"/>
                  <a:pt x="1268984" y="1036086"/>
                </a:cubicBezTo>
                <a:lnTo>
                  <a:pt x="1450253" y="1044143"/>
                </a:lnTo>
                <a:cubicBezTo>
                  <a:pt x="1507260" y="1040653"/>
                  <a:pt x="1692182" y="1027493"/>
                  <a:pt x="1768480" y="1028030"/>
                </a:cubicBezTo>
                <a:cubicBezTo>
                  <a:pt x="1918886" y="1029089"/>
                  <a:pt x="2069252" y="1033401"/>
                  <a:pt x="2219638" y="1036086"/>
                </a:cubicBezTo>
                <a:cubicBezTo>
                  <a:pt x="2247835" y="1037429"/>
                  <a:pt x="2276002" y="1040392"/>
                  <a:pt x="2304230" y="1040115"/>
                </a:cubicBezTo>
                <a:cubicBezTo>
                  <a:pt x="2616150" y="1037057"/>
                  <a:pt x="2542266" y="1037070"/>
                  <a:pt x="2751359" y="1024002"/>
                </a:cubicBezTo>
                <a:lnTo>
                  <a:pt x="2823867" y="1019974"/>
                </a:lnTo>
                <a:cubicBezTo>
                  <a:pt x="3036365" y="1004796"/>
                  <a:pt x="3248873" y="990009"/>
                  <a:pt x="3460321" y="963579"/>
                </a:cubicBezTo>
                <a:cubicBezTo>
                  <a:pt x="3494718" y="946381"/>
                  <a:pt x="3455129" y="964938"/>
                  <a:pt x="3504631" y="947466"/>
                </a:cubicBezTo>
                <a:cubicBezTo>
                  <a:pt x="3518268" y="942653"/>
                  <a:pt x="3531145" y="935778"/>
                  <a:pt x="3544913" y="931353"/>
                </a:cubicBezTo>
                <a:cubicBezTo>
                  <a:pt x="3578083" y="920691"/>
                  <a:pt x="3711545" y="886627"/>
                  <a:pt x="3730210" y="883015"/>
                </a:cubicBezTo>
                <a:lnTo>
                  <a:pt x="3855084" y="858846"/>
                </a:lnTo>
                <a:cubicBezTo>
                  <a:pt x="3879277" y="848093"/>
                  <a:pt x="3898342" y="843571"/>
                  <a:pt x="3915507" y="822592"/>
                </a:cubicBezTo>
                <a:cubicBezTo>
                  <a:pt x="3921211" y="815621"/>
                  <a:pt x="3923783" y="806585"/>
                  <a:pt x="3927592" y="798423"/>
                </a:cubicBezTo>
                <a:cubicBezTo>
                  <a:pt x="3933185" y="786439"/>
                  <a:pt x="3939133" y="774578"/>
                  <a:pt x="3943705" y="762169"/>
                </a:cubicBezTo>
                <a:cubicBezTo>
                  <a:pt x="3961787" y="713088"/>
                  <a:pt x="3951071" y="736728"/>
                  <a:pt x="3959817" y="701746"/>
                </a:cubicBezTo>
                <a:cubicBezTo>
                  <a:pt x="3962188" y="692263"/>
                  <a:pt x="3965188" y="682948"/>
                  <a:pt x="3967874" y="673549"/>
                </a:cubicBezTo>
                <a:cubicBezTo>
                  <a:pt x="3962503" y="615812"/>
                  <a:pt x="3965230" y="556738"/>
                  <a:pt x="3951761" y="500337"/>
                </a:cubicBezTo>
                <a:cubicBezTo>
                  <a:pt x="3939803" y="450264"/>
                  <a:pt x="3890766" y="375520"/>
                  <a:pt x="3847028" y="343237"/>
                </a:cubicBezTo>
                <a:cubicBezTo>
                  <a:pt x="3812188" y="317522"/>
                  <a:pt x="3772294" y="299445"/>
                  <a:pt x="3734238" y="278786"/>
                </a:cubicBezTo>
                <a:cubicBezTo>
                  <a:pt x="3725251" y="273907"/>
                  <a:pt x="3715742" y="269935"/>
                  <a:pt x="3706041" y="266701"/>
                </a:cubicBezTo>
                <a:cubicBezTo>
                  <a:pt x="3695537" y="263200"/>
                  <a:pt x="3684409" y="261869"/>
                  <a:pt x="3673816" y="258645"/>
                </a:cubicBezTo>
                <a:cubicBezTo>
                  <a:pt x="3653505" y="252464"/>
                  <a:pt x="3634187" y="242785"/>
                  <a:pt x="3613393" y="238504"/>
                </a:cubicBezTo>
                <a:cubicBezTo>
                  <a:pt x="3588267" y="233331"/>
                  <a:pt x="3562272" y="233932"/>
                  <a:pt x="3536857" y="230448"/>
                </a:cubicBezTo>
                <a:lnTo>
                  <a:pt x="3113897" y="170025"/>
                </a:lnTo>
                <a:cubicBezTo>
                  <a:pt x="3013856" y="155830"/>
                  <a:pt x="2859527" y="133131"/>
                  <a:pt x="2759416" y="125715"/>
                </a:cubicBezTo>
                <a:cubicBezTo>
                  <a:pt x="2613137" y="114879"/>
                  <a:pt x="2686984" y="118955"/>
                  <a:pt x="2537865" y="113630"/>
                </a:cubicBezTo>
                <a:lnTo>
                  <a:pt x="2408963" y="97517"/>
                </a:lnTo>
                <a:cubicBezTo>
                  <a:pt x="2376810" y="94072"/>
                  <a:pt x="2344388" y="93352"/>
                  <a:pt x="2312286" y="89461"/>
                </a:cubicBezTo>
                <a:cubicBezTo>
                  <a:pt x="2299997" y="87971"/>
                  <a:pt x="2288042" y="84408"/>
                  <a:pt x="2276032" y="81405"/>
                </a:cubicBezTo>
                <a:cubicBezTo>
                  <a:pt x="2271913" y="80375"/>
                  <a:pt x="2268136" y="78074"/>
                  <a:pt x="2263948" y="77376"/>
                </a:cubicBezTo>
                <a:cubicBezTo>
                  <a:pt x="2251954" y="75377"/>
                  <a:pt x="2239779" y="74691"/>
                  <a:pt x="2227694" y="73348"/>
                </a:cubicBezTo>
                <a:cubicBezTo>
                  <a:pt x="2196822" y="57913"/>
                  <a:pt x="2208473" y="62501"/>
                  <a:pt x="2155186" y="49179"/>
                </a:cubicBezTo>
                <a:cubicBezTo>
                  <a:pt x="2136535" y="44516"/>
                  <a:pt x="2117443" y="41756"/>
                  <a:pt x="2098792" y="37094"/>
                </a:cubicBezTo>
                <a:cubicBezTo>
                  <a:pt x="2074755" y="31085"/>
                  <a:pt x="2088140" y="33976"/>
                  <a:pt x="2058510" y="29038"/>
                </a:cubicBezTo>
                <a:cubicBezTo>
                  <a:pt x="1991373" y="30381"/>
                  <a:pt x="1924157" y="29537"/>
                  <a:pt x="1857100" y="33066"/>
                </a:cubicBezTo>
                <a:cubicBezTo>
                  <a:pt x="1822006" y="34913"/>
                  <a:pt x="1787365" y="41969"/>
                  <a:pt x="1752367" y="45151"/>
                </a:cubicBezTo>
                <a:cubicBezTo>
                  <a:pt x="1713495" y="48685"/>
                  <a:pt x="1674488" y="50522"/>
                  <a:pt x="1635549" y="53207"/>
                </a:cubicBezTo>
                <a:cubicBezTo>
                  <a:pt x="1597953" y="59921"/>
                  <a:pt x="1560630" y="68408"/>
                  <a:pt x="1522760" y="73348"/>
                </a:cubicBezTo>
                <a:cubicBezTo>
                  <a:pt x="1463304" y="81103"/>
                  <a:pt x="1409773" y="75757"/>
                  <a:pt x="1349548" y="73348"/>
                </a:cubicBezTo>
                <a:cubicBezTo>
                  <a:pt x="1276666" y="55129"/>
                  <a:pt x="1366264" y="77907"/>
                  <a:pt x="1260927" y="49179"/>
                </a:cubicBezTo>
                <a:cubicBezTo>
                  <a:pt x="1250245" y="46266"/>
                  <a:pt x="1239324" y="44247"/>
                  <a:pt x="1228702" y="41123"/>
                </a:cubicBezTo>
                <a:cubicBezTo>
                  <a:pt x="1216481" y="37529"/>
                  <a:pt x="1204533" y="33066"/>
                  <a:pt x="1192448" y="29038"/>
                </a:cubicBezTo>
                <a:lnTo>
                  <a:pt x="1168279" y="20982"/>
                </a:lnTo>
                <a:cubicBezTo>
                  <a:pt x="1168277" y="20981"/>
                  <a:pt x="1144113" y="12925"/>
                  <a:pt x="1144110" y="12925"/>
                </a:cubicBezTo>
                <a:lnTo>
                  <a:pt x="1079659" y="889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8D8FEAC-6925-D8D0-87F1-4A07FAEBF056}"/>
              </a:ext>
            </a:extLst>
          </p:cNvPr>
          <p:cNvSpPr/>
          <p:nvPr/>
        </p:nvSpPr>
        <p:spPr>
          <a:xfrm>
            <a:off x="6727049" y="1937926"/>
            <a:ext cx="5200432" cy="2968779"/>
          </a:xfrm>
          <a:custGeom>
            <a:avLst/>
            <a:gdLst>
              <a:gd name="connsiteX0" fmla="*/ 4062 w 5200432"/>
              <a:gd name="connsiteY0" fmla="*/ 326284 h 2968779"/>
              <a:gd name="connsiteX1" fmla="*/ 4062 w 5200432"/>
              <a:gd name="connsiteY1" fmla="*/ 326284 h 2968779"/>
              <a:gd name="connsiteX2" fmla="*/ 8090 w 5200432"/>
              <a:gd name="connsiteY2" fmla="*/ 801610 h 2968779"/>
              <a:gd name="connsiteX3" fmla="*/ 12118 w 5200432"/>
              <a:gd name="connsiteY3" fmla="*/ 837864 h 2968779"/>
              <a:gd name="connsiteX4" fmla="*/ 24203 w 5200432"/>
              <a:gd name="connsiteY4" fmla="*/ 1015105 h 2968779"/>
              <a:gd name="connsiteX5" fmla="*/ 40316 w 5200432"/>
              <a:gd name="connsiteY5" fmla="*/ 1039274 h 2968779"/>
              <a:gd name="connsiteX6" fmla="*/ 56428 w 5200432"/>
              <a:gd name="connsiteY6" fmla="*/ 1067471 h 2968779"/>
              <a:gd name="connsiteX7" fmla="*/ 124908 w 5200432"/>
              <a:gd name="connsiteY7" fmla="*/ 1156091 h 2968779"/>
              <a:gd name="connsiteX8" fmla="*/ 165190 w 5200432"/>
              <a:gd name="connsiteY8" fmla="*/ 1168176 h 2968779"/>
              <a:gd name="connsiteX9" fmla="*/ 354515 w 5200432"/>
              <a:gd name="connsiteY9" fmla="*/ 1180261 h 2968779"/>
              <a:gd name="connsiteX10" fmla="*/ 620376 w 5200432"/>
              <a:gd name="connsiteY10" fmla="*/ 1184289 h 2968779"/>
              <a:gd name="connsiteX11" fmla="*/ 757334 w 5200432"/>
              <a:gd name="connsiteY11" fmla="*/ 1212486 h 2968779"/>
              <a:gd name="connsiteX12" fmla="*/ 878180 w 5200432"/>
              <a:gd name="connsiteY12" fmla="*/ 1256796 h 2968779"/>
              <a:gd name="connsiteX13" fmla="*/ 886236 w 5200432"/>
              <a:gd name="connsiteY13" fmla="*/ 1264853 h 2968779"/>
              <a:gd name="connsiteX14" fmla="*/ 902349 w 5200432"/>
              <a:gd name="connsiteY14" fmla="*/ 1272909 h 2968779"/>
              <a:gd name="connsiteX15" fmla="*/ 894293 w 5200432"/>
              <a:gd name="connsiteY15" fmla="*/ 1337360 h 2968779"/>
              <a:gd name="connsiteX16" fmla="*/ 862067 w 5200432"/>
              <a:gd name="connsiteY16" fmla="*/ 1393755 h 2968779"/>
              <a:gd name="connsiteX17" fmla="*/ 829842 w 5200432"/>
              <a:gd name="connsiteY17" fmla="*/ 1438065 h 2968779"/>
              <a:gd name="connsiteX18" fmla="*/ 817757 w 5200432"/>
              <a:gd name="connsiteY18" fmla="*/ 1454178 h 2968779"/>
              <a:gd name="connsiteX19" fmla="*/ 809701 w 5200432"/>
              <a:gd name="connsiteY19" fmla="*/ 1470291 h 2968779"/>
              <a:gd name="connsiteX20" fmla="*/ 797616 w 5200432"/>
              <a:gd name="connsiteY20" fmla="*/ 1478347 h 2968779"/>
              <a:gd name="connsiteX21" fmla="*/ 781503 w 5200432"/>
              <a:gd name="connsiteY21" fmla="*/ 1494460 h 2968779"/>
              <a:gd name="connsiteX22" fmla="*/ 745250 w 5200432"/>
              <a:gd name="connsiteY22" fmla="*/ 1514601 h 2968779"/>
              <a:gd name="connsiteX23" fmla="*/ 737193 w 5200432"/>
              <a:gd name="connsiteY23" fmla="*/ 1522657 h 2968779"/>
              <a:gd name="connsiteX24" fmla="*/ 717052 w 5200432"/>
              <a:gd name="connsiteY24" fmla="*/ 1526685 h 2968779"/>
              <a:gd name="connsiteX25" fmla="*/ 700939 w 5200432"/>
              <a:gd name="connsiteY25" fmla="*/ 1534742 h 2968779"/>
              <a:gd name="connsiteX26" fmla="*/ 680798 w 5200432"/>
              <a:gd name="connsiteY26" fmla="*/ 1546826 h 2968779"/>
              <a:gd name="connsiteX27" fmla="*/ 616347 w 5200432"/>
              <a:gd name="connsiteY27" fmla="*/ 1566967 h 2968779"/>
              <a:gd name="connsiteX28" fmla="*/ 507586 w 5200432"/>
              <a:gd name="connsiteY28" fmla="*/ 1579052 h 2968779"/>
              <a:gd name="connsiteX29" fmla="*/ 451191 w 5200432"/>
              <a:gd name="connsiteY29" fmla="*/ 1591136 h 2968779"/>
              <a:gd name="connsiteX30" fmla="*/ 314233 w 5200432"/>
              <a:gd name="connsiteY30" fmla="*/ 1607249 h 2968779"/>
              <a:gd name="connsiteX31" fmla="*/ 322289 w 5200432"/>
              <a:gd name="connsiteY31" fmla="*/ 1623362 h 2968779"/>
              <a:gd name="connsiteX32" fmla="*/ 350487 w 5200432"/>
              <a:gd name="connsiteY32" fmla="*/ 1639475 h 2968779"/>
              <a:gd name="connsiteX33" fmla="*/ 382712 w 5200432"/>
              <a:gd name="connsiteY33" fmla="*/ 1659616 h 2968779"/>
              <a:gd name="connsiteX34" fmla="*/ 402853 w 5200432"/>
              <a:gd name="connsiteY34" fmla="*/ 1671700 h 2968779"/>
              <a:gd name="connsiteX35" fmla="*/ 418966 w 5200432"/>
              <a:gd name="connsiteY35" fmla="*/ 1683785 h 2968779"/>
              <a:gd name="connsiteX36" fmla="*/ 467304 w 5200432"/>
              <a:gd name="connsiteY36" fmla="*/ 1707954 h 2968779"/>
              <a:gd name="connsiteX37" fmla="*/ 491473 w 5200432"/>
              <a:gd name="connsiteY37" fmla="*/ 1720039 h 2968779"/>
              <a:gd name="connsiteX38" fmla="*/ 572037 w 5200432"/>
              <a:gd name="connsiteY38" fmla="*/ 1740180 h 2968779"/>
              <a:gd name="connsiteX39" fmla="*/ 616347 w 5200432"/>
              <a:gd name="connsiteY39" fmla="*/ 1756292 h 2968779"/>
              <a:gd name="connsiteX40" fmla="*/ 704968 w 5200432"/>
              <a:gd name="connsiteY40" fmla="*/ 1780462 h 2968779"/>
              <a:gd name="connsiteX41" fmla="*/ 793588 w 5200432"/>
              <a:gd name="connsiteY41" fmla="*/ 1812687 h 2968779"/>
              <a:gd name="connsiteX42" fmla="*/ 837898 w 5200432"/>
              <a:gd name="connsiteY42" fmla="*/ 1828800 h 2968779"/>
              <a:gd name="connsiteX43" fmla="*/ 930546 w 5200432"/>
              <a:gd name="connsiteY43" fmla="*/ 1856997 h 2968779"/>
              <a:gd name="connsiteX44" fmla="*/ 958744 w 5200432"/>
              <a:gd name="connsiteY44" fmla="*/ 1865054 h 2968779"/>
              <a:gd name="connsiteX45" fmla="*/ 999026 w 5200432"/>
              <a:gd name="connsiteY45" fmla="*/ 1873110 h 2968779"/>
              <a:gd name="connsiteX46" fmla="*/ 1039308 w 5200432"/>
              <a:gd name="connsiteY46" fmla="*/ 1897279 h 2968779"/>
              <a:gd name="connsiteX47" fmla="*/ 1059449 w 5200432"/>
              <a:gd name="connsiteY47" fmla="*/ 1909364 h 2968779"/>
              <a:gd name="connsiteX48" fmla="*/ 1075561 w 5200432"/>
              <a:gd name="connsiteY48" fmla="*/ 1913392 h 2968779"/>
              <a:gd name="connsiteX49" fmla="*/ 1176266 w 5200432"/>
              <a:gd name="connsiteY49" fmla="*/ 1961730 h 2968779"/>
              <a:gd name="connsiteX50" fmla="*/ 1208492 w 5200432"/>
              <a:gd name="connsiteY50" fmla="*/ 1973815 h 2968779"/>
              <a:gd name="connsiteX51" fmla="*/ 1321281 w 5200432"/>
              <a:gd name="connsiteY51" fmla="*/ 2034238 h 2968779"/>
              <a:gd name="connsiteX52" fmla="*/ 1357535 w 5200432"/>
              <a:gd name="connsiteY52" fmla="*/ 2050351 h 2968779"/>
              <a:gd name="connsiteX53" fmla="*/ 1401845 w 5200432"/>
              <a:gd name="connsiteY53" fmla="*/ 2074520 h 2968779"/>
              <a:gd name="connsiteX54" fmla="*/ 1426014 w 5200432"/>
              <a:gd name="connsiteY54" fmla="*/ 2094661 h 2968779"/>
              <a:gd name="connsiteX55" fmla="*/ 1446155 w 5200432"/>
              <a:gd name="connsiteY55" fmla="*/ 2102717 h 2968779"/>
              <a:gd name="connsiteX56" fmla="*/ 1458240 w 5200432"/>
              <a:gd name="connsiteY56" fmla="*/ 2110773 h 2968779"/>
              <a:gd name="connsiteX57" fmla="*/ 1526719 w 5200432"/>
              <a:gd name="connsiteY57" fmla="*/ 2142999 h 2968779"/>
              <a:gd name="connsiteX58" fmla="*/ 1542832 w 5200432"/>
              <a:gd name="connsiteY58" fmla="*/ 2147027 h 2968779"/>
              <a:gd name="connsiteX59" fmla="*/ 1611311 w 5200432"/>
              <a:gd name="connsiteY59" fmla="*/ 2138971 h 2968779"/>
              <a:gd name="connsiteX60" fmla="*/ 1764383 w 5200432"/>
              <a:gd name="connsiteY60" fmla="*/ 2134943 h 2968779"/>
              <a:gd name="connsiteX61" fmla="*/ 1792580 w 5200432"/>
              <a:gd name="connsiteY61" fmla="*/ 2138971 h 2968779"/>
              <a:gd name="connsiteX62" fmla="*/ 1861059 w 5200432"/>
              <a:gd name="connsiteY62" fmla="*/ 2147027 h 2968779"/>
              <a:gd name="connsiteX63" fmla="*/ 1873144 w 5200432"/>
              <a:gd name="connsiteY63" fmla="*/ 2163140 h 2968779"/>
              <a:gd name="connsiteX64" fmla="*/ 1901341 w 5200432"/>
              <a:gd name="connsiteY64" fmla="*/ 2191337 h 2968779"/>
              <a:gd name="connsiteX65" fmla="*/ 1933567 w 5200432"/>
              <a:gd name="connsiteY65" fmla="*/ 2243704 h 2968779"/>
              <a:gd name="connsiteX66" fmla="*/ 1941623 w 5200432"/>
              <a:gd name="connsiteY66" fmla="*/ 2259817 h 2968779"/>
              <a:gd name="connsiteX67" fmla="*/ 1977877 w 5200432"/>
              <a:gd name="connsiteY67" fmla="*/ 2308155 h 2968779"/>
              <a:gd name="connsiteX68" fmla="*/ 1989961 w 5200432"/>
              <a:gd name="connsiteY68" fmla="*/ 2316211 h 2968779"/>
              <a:gd name="connsiteX69" fmla="*/ 2026215 w 5200432"/>
              <a:gd name="connsiteY69" fmla="*/ 2352465 h 2968779"/>
              <a:gd name="connsiteX70" fmla="*/ 2042328 w 5200432"/>
              <a:gd name="connsiteY70" fmla="*/ 2372606 h 2968779"/>
              <a:gd name="connsiteX71" fmla="*/ 2054413 w 5200432"/>
              <a:gd name="connsiteY71" fmla="*/ 2380662 h 2968779"/>
              <a:gd name="connsiteX72" fmla="*/ 2066497 w 5200432"/>
              <a:gd name="connsiteY72" fmla="*/ 2392747 h 2968779"/>
              <a:gd name="connsiteX73" fmla="*/ 2098723 w 5200432"/>
              <a:gd name="connsiteY73" fmla="*/ 2416916 h 2968779"/>
              <a:gd name="connsiteX74" fmla="*/ 2143033 w 5200432"/>
              <a:gd name="connsiteY74" fmla="*/ 2449142 h 2968779"/>
              <a:gd name="connsiteX75" fmla="*/ 2211512 w 5200432"/>
              <a:gd name="connsiteY75" fmla="*/ 2493452 h 2968779"/>
              <a:gd name="connsiteX76" fmla="*/ 2239709 w 5200432"/>
              <a:gd name="connsiteY76" fmla="*/ 2501508 h 2968779"/>
              <a:gd name="connsiteX77" fmla="*/ 2356527 w 5200432"/>
              <a:gd name="connsiteY77" fmla="*/ 2561931 h 2968779"/>
              <a:gd name="connsiteX78" fmla="*/ 2420978 w 5200432"/>
              <a:gd name="connsiteY78" fmla="*/ 2586100 h 2968779"/>
              <a:gd name="connsiteX79" fmla="*/ 2457232 w 5200432"/>
              <a:gd name="connsiteY79" fmla="*/ 2594157 h 2968779"/>
              <a:gd name="connsiteX80" fmla="*/ 2485429 w 5200432"/>
              <a:gd name="connsiteY80" fmla="*/ 2606241 h 2968779"/>
              <a:gd name="connsiteX81" fmla="*/ 2537796 w 5200432"/>
              <a:gd name="connsiteY81" fmla="*/ 2626382 h 2968779"/>
              <a:gd name="connsiteX82" fmla="*/ 2570021 w 5200432"/>
              <a:gd name="connsiteY82" fmla="*/ 2642495 h 2968779"/>
              <a:gd name="connsiteX83" fmla="*/ 2614332 w 5200432"/>
              <a:gd name="connsiteY83" fmla="*/ 2650551 h 2968779"/>
              <a:gd name="connsiteX84" fmla="*/ 2654613 w 5200432"/>
              <a:gd name="connsiteY84" fmla="*/ 2662636 h 2968779"/>
              <a:gd name="connsiteX85" fmla="*/ 2698924 w 5200432"/>
              <a:gd name="connsiteY85" fmla="*/ 2670692 h 2968779"/>
              <a:gd name="connsiteX86" fmla="*/ 2727121 w 5200432"/>
              <a:gd name="connsiteY86" fmla="*/ 2678749 h 2968779"/>
              <a:gd name="connsiteX87" fmla="*/ 2763375 w 5200432"/>
              <a:gd name="connsiteY87" fmla="*/ 2686805 h 2968779"/>
              <a:gd name="connsiteX88" fmla="*/ 2783516 w 5200432"/>
              <a:gd name="connsiteY88" fmla="*/ 2694862 h 2968779"/>
              <a:gd name="connsiteX89" fmla="*/ 2868108 w 5200432"/>
              <a:gd name="connsiteY89" fmla="*/ 2715003 h 2968779"/>
              <a:gd name="connsiteX90" fmla="*/ 2904361 w 5200432"/>
              <a:gd name="connsiteY90" fmla="*/ 2727087 h 2968779"/>
              <a:gd name="connsiteX91" fmla="*/ 2932559 w 5200432"/>
              <a:gd name="connsiteY91" fmla="*/ 2747228 h 2968779"/>
              <a:gd name="connsiteX92" fmla="*/ 2948672 w 5200432"/>
              <a:gd name="connsiteY92" fmla="*/ 2751256 h 2968779"/>
              <a:gd name="connsiteX93" fmla="*/ 2968813 w 5200432"/>
              <a:gd name="connsiteY93" fmla="*/ 2759313 h 2968779"/>
              <a:gd name="connsiteX94" fmla="*/ 3009095 w 5200432"/>
              <a:gd name="connsiteY94" fmla="*/ 2775425 h 2968779"/>
              <a:gd name="connsiteX95" fmla="*/ 3037292 w 5200432"/>
              <a:gd name="connsiteY95" fmla="*/ 2779454 h 2968779"/>
              <a:gd name="connsiteX96" fmla="*/ 3069517 w 5200432"/>
              <a:gd name="connsiteY96" fmla="*/ 2791538 h 2968779"/>
              <a:gd name="connsiteX97" fmla="*/ 3085630 w 5200432"/>
              <a:gd name="connsiteY97" fmla="*/ 2795566 h 2968779"/>
              <a:gd name="connsiteX98" fmla="*/ 3137997 w 5200432"/>
              <a:gd name="connsiteY98" fmla="*/ 2807651 h 2968779"/>
              <a:gd name="connsiteX99" fmla="*/ 3190363 w 5200432"/>
              <a:gd name="connsiteY99" fmla="*/ 2827792 h 2968779"/>
              <a:gd name="connsiteX100" fmla="*/ 3266899 w 5200432"/>
              <a:gd name="connsiteY100" fmla="*/ 2835848 h 2968779"/>
              <a:gd name="connsiteX101" fmla="*/ 3299124 w 5200432"/>
              <a:gd name="connsiteY101" fmla="*/ 2843905 h 2968779"/>
              <a:gd name="connsiteX102" fmla="*/ 3323294 w 5200432"/>
              <a:gd name="connsiteY102" fmla="*/ 2847933 h 2968779"/>
              <a:gd name="connsiteX103" fmla="*/ 3363576 w 5200432"/>
              <a:gd name="connsiteY103" fmla="*/ 2855989 h 2968779"/>
              <a:gd name="connsiteX104" fmla="*/ 3452196 w 5200432"/>
              <a:gd name="connsiteY104" fmla="*/ 2860017 h 2968779"/>
              <a:gd name="connsiteX105" fmla="*/ 3569013 w 5200432"/>
              <a:gd name="connsiteY105" fmla="*/ 2868074 h 2968779"/>
              <a:gd name="connsiteX106" fmla="*/ 3830846 w 5200432"/>
              <a:gd name="connsiteY106" fmla="*/ 2884187 h 2968779"/>
              <a:gd name="connsiteX107" fmla="*/ 3867100 w 5200432"/>
              <a:gd name="connsiteY107" fmla="*/ 2892243 h 2968779"/>
              <a:gd name="connsiteX108" fmla="*/ 3991974 w 5200432"/>
              <a:gd name="connsiteY108" fmla="*/ 2932525 h 2968779"/>
              <a:gd name="connsiteX109" fmla="*/ 4044340 w 5200432"/>
              <a:gd name="connsiteY109" fmla="*/ 2940581 h 2968779"/>
              <a:gd name="connsiteX110" fmla="*/ 4132961 w 5200432"/>
              <a:gd name="connsiteY110" fmla="*/ 2956694 h 2968779"/>
              <a:gd name="connsiteX111" fmla="*/ 4205468 w 5200432"/>
              <a:gd name="connsiteY111" fmla="*/ 2964751 h 2968779"/>
              <a:gd name="connsiteX112" fmla="*/ 4410906 w 5200432"/>
              <a:gd name="connsiteY112" fmla="*/ 2968779 h 2968779"/>
              <a:gd name="connsiteX113" fmla="*/ 4519667 w 5200432"/>
              <a:gd name="connsiteY113" fmla="*/ 2964751 h 2968779"/>
              <a:gd name="connsiteX114" fmla="*/ 4531752 w 5200432"/>
              <a:gd name="connsiteY114" fmla="*/ 2960722 h 2968779"/>
              <a:gd name="connsiteX115" fmla="*/ 4572034 w 5200432"/>
              <a:gd name="connsiteY115" fmla="*/ 2952666 h 2968779"/>
              <a:gd name="connsiteX116" fmla="*/ 4592175 w 5200432"/>
              <a:gd name="connsiteY116" fmla="*/ 2948638 h 2968779"/>
              <a:gd name="connsiteX117" fmla="*/ 4604259 w 5200432"/>
              <a:gd name="connsiteY117" fmla="*/ 2944610 h 2968779"/>
              <a:gd name="connsiteX118" fmla="*/ 4636485 w 5200432"/>
              <a:gd name="connsiteY118" fmla="*/ 2928497 h 2968779"/>
              <a:gd name="connsiteX119" fmla="*/ 4660654 w 5200432"/>
              <a:gd name="connsiteY119" fmla="*/ 2920440 h 2968779"/>
              <a:gd name="connsiteX120" fmla="*/ 4672739 w 5200432"/>
              <a:gd name="connsiteY120" fmla="*/ 2916412 h 2968779"/>
              <a:gd name="connsiteX121" fmla="*/ 4700936 w 5200432"/>
              <a:gd name="connsiteY121" fmla="*/ 2908356 h 2968779"/>
              <a:gd name="connsiteX122" fmla="*/ 4737190 w 5200432"/>
              <a:gd name="connsiteY122" fmla="*/ 2896271 h 2968779"/>
              <a:gd name="connsiteX123" fmla="*/ 4773443 w 5200432"/>
              <a:gd name="connsiteY123" fmla="*/ 2872102 h 2968779"/>
              <a:gd name="connsiteX124" fmla="*/ 4789556 w 5200432"/>
              <a:gd name="connsiteY124" fmla="*/ 2860017 h 2968779"/>
              <a:gd name="connsiteX125" fmla="*/ 4805669 w 5200432"/>
              <a:gd name="connsiteY125" fmla="*/ 2851961 h 2968779"/>
              <a:gd name="connsiteX126" fmla="*/ 4817754 w 5200432"/>
              <a:gd name="connsiteY126" fmla="*/ 2839877 h 2968779"/>
              <a:gd name="connsiteX127" fmla="*/ 4829838 w 5200432"/>
              <a:gd name="connsiteY127" fmla="*/ 2831820 h 2968779"/>
              <a:gd name="connsiteX128" fmla="*/ 4833866 w 5200432"/>
              <a:gd name="connsiteY128" fmla="*/ 2819736 h 2968779"/>
              <a:gd name="connsiteX129" fmla="*/ 4845951 w 5200432"/>
              <a:gd name="connsiteY129" fmla="*/ 2811679 h 2968779"/>
              <a:gd name="connsiteX130" fmla="*/ 4854007 w 5200432"/>
              <a:gd name="connsiteY130" fmla="*/ 2799595 h 2968779"/>
              <a:gd name="connsiteX131" fmla="*/ 4862064 w 5200432"/>
              <a:gd name="connsiteY131" fmla="*/ 2735143 h 2968779"/>
              <a:gd name="connsiteX132" fmla="*/ 4866092 w 5200432"/>
              <a:gd name="connsiteY132" fmla="*/ 2719031 h 2968779"/>
              <a:gd name="connsiteX133" fmla="*/ 4874148 w 5200432"/>
              <a:gd name="connsiteY133" fmla="*/ 2694862 h 2968779"/>
              <a:gd name="connsiteX134" fmla="*/ 4862064 w 5200432"/>
              <a:gd name="connsiteY134" fmla="*/ 2586100 h 2968779"/>
              <a:gd name="connsiteX135" fmla="*/ 4854007 w 5200432"/>
              <a:gd name="connsiteY135" fmla="*/ 2569988 h 2968779"/>
              <a:gd name="connsiteX136" fmla="*/ 4849979 w 5200432"/>
              <a:gd name="connsiteY136" fmla="*/ 2545818 h 2968779"/>
              <a:gd name="connsiteX137" fmla="*/ 4841923 w 5200432"/>
              <a:gd name="connsiteY137" fmla="*/ 2533734 h 2968779"/>
              <a:gd name="connsiteX138" fmla="*/ 4821782 w 5200432"/>
              <a:gd name="connsiteY138" fmla="*/ 2497480 h 2968779"/>
              <a:gd name="connsiteX139" fmla="*/ 4817754 w 5200432"/>
              <a:gd name="connsiteY139" fmla="*/ 2477339 h 2968779"/>
              <a:gd name="connsiteX140" fmla="*/ 4809697 w 5200432"/>
              <a:gd name="connsiteY140" fmla="*/ 2469283 h 2968779"/>
              <a:gd name="connsiteX141" fmla="*/ 4789556 w 5200432"/>
              <a:gd name="connsiteY141" fmla="*/ 2433029 h 2968779"/>
              <a:gd name="connsiteX142" fmla="*/ 4781500 w 5200432"/>
              <a:gd name="connsiteY142" fmla="*/ 2400803 h 2968779"/>
              <a:gd name="connsiteX143" fmla="*/ 4777472 w 5200432"/>
              <a:gd name="connsiteY143" fmla="*/ 2388719 h 2968779"/>
              <a:gd name="connsiteX144" fmla="*/ 4773443 w 5200432"/>
              <a:gd name="connsiteY144" fmla="*/ 2372606 h 2968779"/>
              <a:gd name="connsiteX145" fmla="*/ 4781500 w 5200432"/>
              <a:gd name="connsiteY145" fmla="*/ 2304127 h 2968779"/>
              <a:gd name="connsiteX146" fmla="*/ 4785528 w 5200432"/>
              <a:gd name="connsiteY146" fmla="*/ 2292042 h 2968779"/>
              <a:gd name="connsiteX147" fmla="*/ 4797613 w 5200432"/>
              <a:gd name="connsiteY147" fmla="*/ 2275929 h 2968779"/>
              <a:gd name="connsiteX148" fmla="*/ 4825810 w 5200432"/>
              <a:gd name="connsiteY148" fmla="*/ 2267873 h 2968779"/>
              <a:gd name="connsiteX149" fmla="*/ 4862064 w 5200432"/>
              <a:gd name="connsiteY149" fmla="*/ 2271901 h 2968779"/>
              <a:gd name="connsiteX150" fmla="*/ 4910402 w 5200432"/>
              <a:gd name="connsiteY150" fmla="*/ 2275929 h 2968779"/>
              <a:gd name="connsiteX151" fmla="*/ 4926515 w 5200432"/>
              <a:gd name="connsiteY151" fmla="*/ 2279958 h 2968779"/>
              <a:gd name="connsiteX152" fmla="*/ 4966797 w 5200432"/>
              <a:gd name="connsiteY152" fmla="*/ 2283986 h 2968779"/>
              <a:gd name="connsiteX153" fmla="*/ 5039304 w 5200432"/>
              <a:gd name="connsiteY153" fmla="*/ 2292042 h 2968779"/>
              <a:gd name="connsiteX154" fmla="*/ 5168206 w 5200432"/>
              <a:gd name="connsiteY154" fmla="*/ 2304127 h 2968779"/>
              <a:gd name="connsiteX155" fmla="*/ 5192376 w 5200432"/>
              <a:gd name="connsiteY155" fmla="*/ 2296070 h 2968779"/>
              <a:gd name="connsiteX156" fmla="*/ 5196404 w 5200432"/>
              <a:gd name="connsiteY156" fmla="*/ 2259817 h 2968779"/>
              <a:gd name="connsiteX157" fmla="*/ 5200432 w 5200432"/>
              <a:gd name="connsiteY157" fmla="*/ 2211478 h 2968779"/>
              <a:gd name="connsiteX158" fmla="*/ 5192376 w 5200432"/>
              <a:gd name="connsiteY158" fmla="*/ 2130914 h 2968779"/>
              <a:gd name="connsiteX159" fmla="*/ 5111812 w 5200432"/>
              <a:gd name="connsiteY159" fmla="*/ 1909364 h 2968779"/>
              <a:gd name="connsiteX160" fmla="*/ 5067502 w 5200432"/>
              <a:gd name="connsiteY160" fmla="*/ 1820743 h 2968779"/>
              <a:gd name="connsiteX161" fmla="*/ 4946656 w 5200432"/>
              <a:gd name="connsiteY161" fmla="*/ 1538770 h 2968779"/>
              <a:gd name="connsiteX162" fmla="*/ 4817754 w 5200432"/>
              <a:gd name="connsiteY162" fmla="*/ 1079556 h 2968779"/>
              <a:gd name="connsiteX163" fmla="*/ 4785528 w 5200432"/>
              <a:gd name="connsiteY163" fmla="*/ 946625 h 2968779"/>
              <a:gd name="connsiteX164" fmla="*/ 4757331 w 5200432"/>
              <a:gd name="connsiteY164" fmla="*/ 829808 h 2968779"/>
              <a:gd name="connsiteX165" fmla="*/ 4700936 w 5200432"/>
              <a:gd name="connsiteY165" fmla="*/ 551862 h 2968779"/>
              <a:gd name="connsiteX166" fmla="*/ 4652598 w 5200432"/>
              <a:gd name="connsiteY166" fmla="*/ 447129 h 2968779"/>
              <a:gd name="connsiteX167" fmla="*/ 4499526 w 5200432"/>
              <a:gd name="connsiteY167" fmla="*/ 318227 h 2968779"/>
              <a:gd name="connsiteX168" fmla="*/ 4068509 w 5200432"/>
              <a:gd name="connsiteY168" fmla="*/ 205438 h 2968779"/>
              <a:gd name="connsiteX169" fmla="*/ 3222589 w 5200432"/>
              <a:gd name="connsiteY169" fmla="*/ 116817 h 2968779"/>
              <a:gd name="connsiteX170" fmla="*/ 2888249 w 5200432"/>
              <a:gd name="connsiteY170" fmla="*/ 88620 h 2968779"/>
              <a:gd name="connsiteX171" fmla="*/ 2505570 w 5200432"/>
              <a:gd name="connsiteY171" fmla="*/ 40282 h 2968779"/>
              <a:gd name="connsiteX172" fmla="*/ 1740213 w 5200432"/>
              <a:gd name="connsiteY172" fmla="*/ 0 h 2968779"/>
              <a:gd name="connsiteX173" fmla="*/ 1607283 w 5200432"/>
              <a:gd name="connsiteY173" fmla="*/ 4028 h 2968779"/>
              <a:gd name="connsiteX174" fmla="*/ 1510606 w 5200432"/>
              <a:gd name="connsiteY174" fmla="*/ 32225 h 2968779"/>
              <a:gd name="connsiteX175" fmla="*/ 1405873 w 5200432"/>
              <a:gd name="connsiteY175" fmla="*/ 48338 h 2968779"/>
              <a:gd name="connsiteX176" fmla="*/ 1293084 w 5200432"/>
              <a:gd name="connsiteY176" fmla="*/ 72507 h 2968779"/>
              <a:gd name="connsiteX177" fmla="*/ 1135984 w 5200432"/>
              <a:gd name="connsiteY177" fmla="*/ 96677 h 2968779"/>
              <a:gd name="connsiteX178" fmla="*/ 982913 w 5200432"/>
              <a:gd name="connsiteY178" fmla="*/ 112789 h 2968779"/>
              <a:gd name="connsiteX179" fmla="*/ 781503 w 5200432"/>
              <a:gd name="connsiteY179" fmla="*/ 153071 h 2968779"/>
              <a:gd name="connsiteX180" fmla="*/ 688855 w 5200432"/>
              <a:gd name="connsiteY180" fmla="*/ 169184 h 2968779"/>
              <a:gd name="connsiteX181" fmla="*/ 563981 w 5200432"/>
              <a:gd name="connsiteY181" fmla="*/ 189325 h 2968779"/>
              <a:gd name="connsiteX182" fmla="*/ 439107 w 5200432"/>
              <a:gd name="connsiteY182" fmla="*/ 217522 h 2968779"/>
              <a:gd name="connsiteX183" fmla="*/ 378684 w 5200432"/>
              <a:gd name="connsiteY183" fmla="*/ 229607 h 2968779"/>
              <a:gd name="connsiteX184" fmla="*/ 294092 w 5200432"/>
              <a:gd name="connsiteY184" fmla="*/ 249748 h 2968779"/>
              <a:gd name="connsiteX185" fmla="*/ 229641 w 5200432"/>
              <a:gd name="connsiteY185" fmla="*/ 257804 h 2968779"/>
              <a:gd name="connsiteX186" fmla="*/ 136992 w 5200432"/>
              <a:gd name="connsiteY186" fmla="*/ 269889 h 2968779"/>
              <a:gd name="connsiteX187" fmla="*/ 112823 w 5200432"/>
              <a:gd name="connsiteY187" fmla="*/ 286002 h 2968779"/>
              <a:gd name="connsiteX188" fmla="*/ 92682 w 5200432"/>
              <a:gd name="connsiteY188" fmla="*/ 294058 h 2968779"/>
              <a:gd name="connsiteX189" fmla="*/ 84626 w 5200432"/>
              <a:gd name="connsiteY189" fmla="*/ 306143 h 2968779"/>
              <a:gd name="connsiteX190" fmla="*/ 44344 w 5200432"/>
              <a:gd name="connsiteY190" fmla="*/ 322255 h 2968779"/>
              <a:gd name="connsiteX191" fmla="*/ 4062 w 5200432"/>
              <a:gd name="connsiteY191" fmla="*/ 326284 h 2968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</a:cxnLst>
            <a:rect l="l" t="t" r="r" b="b"/>
            <a:pathLst>
              <a:path w="5200432" h="2968779">
                <a:moveTo>
                  <a:pt x="4062" y="326284"/>
                </a:moveTo>
                <a:lnTo>
                  <a:pt x="4062" y="326284"/>
                </a:lnTo>
                <a:cubicBezTo>
                  <a:pt x="-908" y="579769"/>
                  <a:pt x="-3090" y="518368"/>
                  <a:pt x="8090" y="801610"/>
                </a:cubicBezTo>
                <a:cubicBezTo>
                  <a:pt x="8570" y="813760"/>
                  <a:pt x="10775" y="825779"/>
                  <a:pt x="12118" y="837864"/>
                </a:cubicBezTo>
                <a:cubicBezTo>
                  <a:pt x="12764" y="857254"/>
                  <a:pt x="12337" y="975553"/>
                  <a:pt x="24203" y="1015105"/>
                </a:cubicBezTo>
                <a:cubicBezTo>
                  <a:pt x="26985" y="1024379"/>
                  <a:pt x="35241" y="1031028"/>
                  <a:pt x="40316" y="1039274"/>
                </a:cubicBezTo>
                <a:cubicBezTo>
                  <a:pt x="45989" y="1048493"/>
                  <a:pt x="50528" y="1058395"/>
                  <a:pt x="56428" y="1067471"/>
                </a:cubicBezTo>
                <a:cubicBezTo>
                  <a:pt x="74631" y="1095476"/>
                  <a:pt x="99333" y="1132647"/>
                  <a:pt x="124908" y="1156091"/>
                </a:cubicBezTo>
                <a:cubicBezTo>
                  <a:pt x="134734" y="1165098"/>
                  <a:pt x="153584" y="1166837"/>
                  <a:pt x="165190" y="1168176"/>
                </a:cubicBezTo>
                <a:cubicBezTo>
                  <a:pt x="246020" y="1177502"/>
                  <a:pt x="266950" y="1178378"/>
                  <a:pt x="354515" y="1180261"/>
                </a:cubicBezTo>
                <a:lnTo>
                  <a:pt x="620376" y="1184289"/>
                </a:lnTo>
                <a:cubicBezTo>
                  <a:pt x="666029" y="1193688"/>
                  <a:pt x="712066" y="1201383"/>
                  <a:pt x="757334" y="1212486"/>
                </a:cubicBezTo>
                <a:cubicBezTo>
                  <a:pt x="818343" y="1227450"/>
                  <a:pt x="828313" y="1234129"/>
                  <a:pt x="878180" y="1256796"/>
                </a:cubicBezTo>
                <a:cubicBezTo>
                  <a:pt x="880865" y="1259482"/>
                  <a:pt x="883076" y="1262746"/>
                  <a:pt x="886236" y="1264853"/>
                </a:cubicBezTo>
                <a:cubicBezTo>
                  <a:pt x="891232" y="1268184"/>
                  <a:pt x="901686" y="1266941"/>
                  <a:pt x="902349" y="1272909"/>
                </a:cubicBezTo>
                <a:cubicBezTo>
                  <a:pt x="904740" y="1294427"/>
                  <a:pt x="898709" y="1316164"/>
                  <a:pt x="894293" y="1337360"/>
                </a:cubicBezTo>
                <a:cubicBezTo>
                  <a:pt x="887442" y="1370244"/>
                  <a:pt x="881402" y="1369147"/>
                  <a:pt x="862067" y="1393755"/>
                </a:cubicBezTo>
                <a:cubicBezTo>
                  <a:pt x="814076" y="1454834"/>
                  <a:pt x="852888" y="1405800"/>
                  <a:pt x="829842" y="1438065"/>
                </a:cubicBezTo>
                <a:cubicBezTo>
                  <a:pt x="825940" y="1443528"/>
                  <a:pt x="821315" y="1448485"/>
                  <a:pt x="817757" y="1454178"/>
                </a:cubicBezTo>
                <a:cubicBezTo>
                  <a:pt x="814574" y="1459270"/>
                  <a:pt x="813545" y="1465678"/>
                  <a:pt x="809701" y="1470291"/>
                </a:cubicBezTo>
                <a:cubicBezTo>
                  <a:pt x="806602" y="1474010"/>
                  <a:pt x="801292" y="1475196"/>
                  <a:pt x="797616" y="1478347"/>
                </a:cubicBezTo>
                <a:cubicBezTo>
                  <a:pt x="791849" y="1483290"/>
                  <a:pt x="787270" y="1489517"/>
                  <a:pt x="781503" y="1494460"/>
                </a:cubicBezTo>
                <a:cubicBezTo>
                  <a:pt x="769743" y="1504540"/>
                  <a:pt x="759201" y="1505882"/>
                  <a:pt x="745250" y="1514601"/>
                </a:cubicBezTo>
                <a:cubicBezTo>
                  <a:pt x="742029" y="1516614"/>
                  <a:pt x="740684" y="1521161"/>
                  <a:pt x="737193" y="1522657"/>
                </a:cubicBezTo>
                <a:cubicBezTo>
                  <a:pt x="730900" y="1525354"/>
                  <a:pt x="723766" y="1525342"/>
                  <a:pt x="717052" y="1526685"/>
                </a:cubicBezTo>
                <a:cubicBezTo>
                  <a:pt x="711681" y="1529371"/>
                  <a:pt x="706188" y="1531826"/>
                  <a:pt x="700939" y="1534742"/>
                </a:cubicBezTo>
                <a:cubicBezTo>
                  <a:pt x="694095" y="1538544"/>
                  <a:pt x="688114" y="1544039"/>
                  <a:pt x="680798" y="1546826"/>
                </a:cubicBezTo>
                <a:cubicBezTo>
                  <a:pt x="659764" y="1554839"/>
                  <a:pt x="638718" y="1564481"/>
                  <a:pt x="616347" y="1566967"/>
                </a:cubicBezTo>
                <a:lnTo>
                  <a:pt x="507586" y="1579052"/>
                </a:lnTo>
                <a:cubicBezTo>
                  <a:pt x="482985" y="1587252"/>
                  <a:pt x="493580" y="1584354"/>
                  <a:pt x="451191" y="1591136"/>
                </a:cubicBezTo>
                <a:cubicBezTo>
                  <a:pt x="391808" y="1600637"/>
                  <a:pt x="379967" y="1600676"/>
                  <a:pt x="314233" y="1607249"/>
                </a:cubicBezTo>
                <a:cubicBezTo>
                  <a:pt x="316918" y="1612620"/>
                  <a:pt x="318381" y="1618803"/>
                  <a:pt x="322289" y="1623362"/>
                </a:cubicBezTo>
                <a:cubicBezTo>
                  <a:pt x="332044" y="1634743"/>
                  <a:pt x="338202" y="1635380"/>
                  <a:pt x="350487" y="1639475"/>
                </a:cubicBezTo>
                <a:lnTo>
                  <a:pt x="382712" y="1659616"/>
                </a:lnTo>
                <a:cubicBezTo>
                  <a:pt x="389380" y="1663719"/>
                  <a:pt x="396590" y="1667002"/>
                  <a:pt x="402853" y="1671700"/>
                </a:cubicBezTo>
                <a:cubicBezTo>
                  <a:pt x="408224" y="1675728"/>
                  <a:pt x="413114" y="1680493"/>
                  <a:pt x="418966" y="1683785"/>
                </a:cubicBezTo>
                <a:cubicBezTo>
                  <a:pt x="434667" y="1692617"/>
                  <a:pt x="451191" y="1699898"/>
                  <a:pt x="467304" y="1707954"/>
                </a:cubicBezTo>
                <a:cubicBezTo>
                  <a:pt x="475360" y="1711982"/>
                  <a:pt x="482641" y="1718273"/>
                  <a:pt x="491473" y="1720039"/>
                </a:cubicBezTo>
                <a:cubicBezTo>
                  <a:pt x="532468" y="1728238"/>
                  <a:pt x="531983" y="1726829"/>
                  <a:pt x="572037" y="1740180"/>
                </a:cubicBezTo>
                <a:cubicBezTo>
                  <a:pt x="586947" y="1745150"/>
                  <a:pt x="601312" y="1751716"/>
                  <a:pt x="616347" y="1756292"/>
                </a:cubicBezTo>
                <a:cubicBezTo>
                  <a:pt x="689799" y="1778647"/>
                  <a:pt x="639060" y="1757806"/>
                  <a:pt x="704968" y="1780462"/>
                </a:cubicBezTo>
                <a:cubicBezTo>
                  <a:pt x="734693" y="1790680"/>
                  <a:pt x="764048" y="1801945"/>
                  <a:pt x="793588" y="1812687"/>
                </a:cubicBezTo>
                <a:cubicBezTo>
                  <a:pt x="808358" y="1818058"/>
                  <a:pt x="823452" y="1822609"/>
                  <a:pt x="837898" y="1828800"/>
                </a:cubicBezTo>
                <a:cubicBezTo>
                  <a:pt x="905469" y="1857758"/>
                  <a:pt x="873966" y="1850711"/>
                  <a:pt x="930546" y="1856997"/>
                </a:cubicBezTo>
                <a:cubicBezTo>
                  <a:pt x="939945" y="1859683"/>
                  <a:pt x="949228" y="1862815"/>
                  <a:pt x="958744" y="1865054"/>
                </a:cubicBezTo>
                <a:cubicBezTo>
                  <a:pt x="972073" y="1868190"/>
                  <a:pt x="986312" y="1868025"/>
                  <a:pt x="999026" y="1873110"/>
                </a:cubicBezTo>
                <a:cubicBezTo>
                  <a:pt x="1013565" y="1878925"/>
                  <a:pt x="1025881" y="1889223"/>
                  <a:pt x="1039308" y="1897279"/>
                </a:cubicBezTo>
                <a:cubicBezTo>
                  <a:pt x="1046022" y="1901307"/>
                  <a:pt x="1051853" y="1907465"/>
                  <a:pt x="1059449" y="1909364"/>
                </a:cubicBezTo>
                <a:cubicBezTo>
                  <a:pt x="1064820" y="1910707"/>
                  <a:pt x="1070421" y="1911336"/>
                  <a:pt x="1075561" y="1913392"/>
                </a:cubicBezTo>
                <a:cubicBezTo>
                  <a:pt x="1121181" y="1931640"/>
                  <a:pt x="1128449" y="1939995"/>
                  <a:pt x="1176266" y="1961730"/>
                </a:cubicBezTo>
                <a:cubicBezTo>
                  <a:pt x="1186710" y="1966477"/>
                  <a:pt x="1198231" y="1968684"/>
                  <a:pt x="1208492" y="1973815"/>
                </a:cubicBezTo>
                <a:cubicBezTo>
                  <a:pt x="1246641" y="1992889"/>
                  <a:pt x="1282306" y="2016916"/>
                  <a:pt x="1321281" y="2034238"/>
                </a:cubicBezTo>
                <a:cubicBezTo>
                  <a:pt x="1333366" y="2039609"/>
                  <a:pt x="1345847" y="2044164"/>
                  <a:pt x="1357535" y="2050351"/>
                </a:cubicBezTo>
                <a:cubicBezTo>
                  <a:pt x="1410832" y="2078566"/>
                  <a:pt x="1371888" y="2064532"/>
                  <a:pt x="1401845" y="2074520"/>
                </a:cubicBezTo>
                <a:cubicBezTo>
                  <a:pt x="1410751" y="2083425"/>
                  <a:pt x="1414802" y="2089055"/>
                  <a:pt x="1426014" y="2094661"/>
                </a:cubicBezTo>
                <a:cubicBezTo>
                  <a:pt x="1432481" y="2097895"/>
                  <a:pt x="1439688" y="2099483"/>
                  <a:pt x="1446155" y="2102717"/>
                </a:cubicBezTo>
                <a:cubicBezTo>
                  <a:pt x="1450485" y="2104882"/>
                  <a:pt x="1453977" y="2108478"/>
                  <a:pt x="1458240" y="2110773"/>
                </a:cubicBezTo>
                <a:cubicBezTo>
                  <a:pt x="1473890" y="2119200"/>
                  <a:pt x="1507733" y="2136095"/>
                  <a:pt x="1526719" y="2142999"/>
                </a:cubicBezTo>
                <a:cubicBezTo>
                  <a:pt x="1531922" y="2144891"/>
                  <a:pt x="1537461" y="2145684"/>
                  <a:pt x="1542832" y="2147027"/>
                </a:cubicBezTo>
                <a:cubicBezTo>
                  <a:pt x="1564218" y="2143972"/>
                  <a:pt x="1590249" y="2139849"/>
                  <a:pt x="1611311" y="2138971"/>
                </a:cubicBezTo>
                <a:cubicBezTo>
                  <a:pt x="1662308" y="2136846"/>
                  <a:pt x="1713359" y="2136286"/>
                  <a:pt x="1764383" y="2134943"/>
                </a:cubicBezTo>
                <a:cubicBezTo>
                  <a:pt x="1773782" y="2136286"/>
                  <a:pt x="1783138" y="2137977"/>
                  <a:pt x="1792580" y="2138971"/>
                </a:cubicBezTo>
                <a:cubicBezTo>
                  <a:pt x="1860510" y="2146121"/>
                  <a:pt x="1819656" y="2138747"/>
                  <a:pt x="1861059" y="2147027"/>
                </a:cubicBezTo>
                <a:cubicBezTo>
                  <a:pt x="1865087" y="2152398"/>
                  <a:pt x="1868628" y="2158172"/>
                  <a:pt x="1873144" y="2163140"/>
                </a:cubicBezTo>
                <a:cubicBezTo>
                  <a:pt x="1882085" y="2172975"/>
                  <a:pt x="1895396" y="2179448"/>
                  <a:pt x="1901341" y="2191337"/>
                </a:cubicBezTo>
                <a:cubicBezTo>
                  <a:pt x="1926511" y="2241674"/>
                  <a:pt x="1898036" y="2187867"/>
                  <a:pt x="1933567" y="2243704"/>
                </a:cubicBezTo>
                <a:cubicBezTo>
                  <a:pt x="1936791" y="2248770"/>
                  <a:pt x="1938399" y="2254751"/>
                  <a:pt x="1941623" y="2259817"/>
                </a:cubicBezTo>
                <a:cubicBezTo>
                  <a:pt x="1945508" y="2265922"/>
                  <a:pt x="1970368" y="2300646"/>
                  <a:pt x="1977877" y="2308155"/>
                </a:cubicBezTo>
                <a:cubicBezTo>
                  <a:pt x="1981300" y="2311578"/>
                  <a:pt x="1985933" y="2313526"/>
                  <a:pt x="1989961" y="2316211"/>
                </a:cubicBezTo>
                <a:cubicBezTo>
                  <a:pt x="2014579" y="2357240"/>
                  <a:pt x="1986193" y="2316445"/>
                  <a:pt x="2026215" y="2352465"/>
                </a:cubicBezTo>
                <a:cubicBezTo>
                  <a:pt x="2032606" y="2358217"/>
                  <a:pt x="2036248" y="2366527"/>
                  <a:pt x="2042328" y="2372606"/>
                </a:cubicBezTo>
                <a:cubicBezTo>
                  <a:pt x="2045751" y="2376029"/>
                  <a:pt x="2050694" y="2377563"/>
                  <a:pt x="2054413" y="2380662"/>
                </a:cubicBezTo>
                <a:cubicBezTo>
                  <a:pt x="2058789" y="2384309"/>
                  <a:pt x="2062088" y="2389140"/>
                  <a:pt x="2066497" y="2392747"/>
                </a:cubicBezTo>
                <a:cubicBezTo>
                  <a:pt x="2076889" y="2401250"/>
                  <a:pt x="2088302" y="2408449"/>
                  <a:pt x="2098723" y="2416916"/>
                </a:cubicBezTo>
                <a:cubicBezTo>
                  <a:pt x="2138765" y="2449451"/>
                  <a:pt x="2116032" y="2440142"/>
                  <a:pt x="2143033" y="2449142"/>
                </a:cubicBezTo>
                <a:cubicBezTo>
                  <a:pt x="2168709" y="2468399"/>
                  <a:pt x="2181650" y="2480388"/>
                  <a:pt x="2211512" y="2493452"/>
                </a:cubicBezTo>
                <a:cubicBezTo>
                  <a:pt x="2220468" y="2497370"/>
                  <a:pt x="2230823" y="2497435"/>
                  <a:pt x="2239709" y="2501508"/>
                </a:cubicBezTo>
                <a:cubicBezTo>
                  <a:pt x="2251365" y="2506850"/>
                  <a:pt x="2335825" y="2553650"/>
                  <a:pt x="2356527" y="2561931"/>
                </a:cubicBezTo>
                <a:cubicBezTo>
                  <a:pt x="2383200" y="2572600"/>
                  <a:pt x="2395711" y="2578520"/>
                  <a:pt x="2420978" y="2586100"/>
                </a:cubicBezTo>
                <a:cubicBezTo>
                  <a:pt x="2432366" y="2589517"/>
                  <a:pt x="2445719" y="2591855"/>
                  <a:pt x="2457232" y="2594157"/>
                </a:cubicBezTo>
                <a:cubicBezTo>
                  <a:pt x="2466631" y="2598185"/>
                  <a:pt x="2475935" y="2602443"/>
                  <a:pt x="2485429" y="2606241"/>
                </a:cubicBezTo>
                <a:cubicBezTo>
                  <a:pt x="2502794" y="2613187"/>
                  <a:pt x="2520606" y="2619015"/>
                  <a:pt x="2537796" y="2626382"/>
                </a:cubicBezTo>
                <a:cubicBezTo>
                  <a:pt x="2548835" y="2631113"/>
                  <a:pt x="2558569" y="2638879"/>
                  <a:pt x="2570021" y="2642495"/>
                </a:cubicBezTo>
                <a:cubicBezTo>
                  <a:pt x="2584337" y="2647016"/>
                  <a:pt x="2599728" y="2647074"/>
                  <a:pt x="2614332" y="2650551"/>
                </a:cubicBezTo>
                <a:cubicBezTo>
                  <a:pt x="2627969" y="2653798"/>
                  <a:pt x="2640976" y="2659389"/>
                  <a:pt x="2654613" y="2662636"/>
                </a:cubicBezTo>
                <a:cubicBezTo>
                  <a:pt x="2669217" y="2666113"/>
                  <a:pt x="2684269" y="2667435"/>
                  <a:pt x="2698924" y="2670692"/>
                </a:cubicBezTo>
                <a:cubicBezTo>
                  <a:pt x="2708466" y="2672813"/>
                  <a:pt x="2717638" y="2676378"/>
                  <a:pt x="2727121" y="2678749"/>
                </a:cubicBezTo>
                <a:cubicBezTo>
                  <a:pt x="2739131" y="2681751"/>
                  <a:pt x="2751472" y="2683404"/>
                  <a:pt x="2763375" y="2686805"/>
                </a:cubicBezTo>
                <a:cubicBezTo>
                  <a:pt x="2770328" y="2688792"/>
                  <a:pt x="2776523" y="2693022"/>
                  <a:pt x="2783516" y="2694862"/>
                </a:cubicBezTo>
                <a:cubicBezTo>
                  <a:pt x="2810370" y="2701929"/>
                  <a:pt x="2841306" y="2705257"/>
                  <a:pt x="2868108" y="2715003"/>
                </a:cubicBezTo>
                <a:cubicBezTo>
                  <a:pt x="2908871" y="2729826"/>
                  <a:pt x="2857210" y="2717657"/>
                  <a:pt x="2904361" y="2727087"/>
                </a:cubicBezTo>
                <a:cubicBezTo>
                  <a:pt x="2906199" y="2728465"/>
                  <a:pt x="2927974" y="2745263"/>
                  <a:pt x="2932559" y="2747228"/>
                </a:cubicBezTo>
                <a:cubicBezTo>
                  <a:pt x="2937648" y="2749409"/>
                  <a:pt x="2943420" y="2749505"/>
                  <a:pt x="2948672" y="2751256"/>
                </a:cubicBezTo>
                <a:cubicBezTo>
                  <a:pt x="2955532" y="2753543"/>
                  <a:pt x="2962205" y="2756376"/>
                  <a:pt x="2968813" y="2759313"/>
                </a:cubicBezTo>
                <a:cubicBezTo>
                  <a:pt x="2988550" y="2768085"/>
                  <a:pt x="2984844" y="2769828"/>
                  <a:pt x="3009095" y="2775425"/>
                </a:cubicBezTo>
                <a:cubicBezTo>
                  <a:pt x="3018346" y="2777560"/>
                  <a:pt x="3027893" y="2778111"/>
                  <a:pt x="3037292" y="2779454"/>
                </a:cubicBezTo>
                <a:cubicBezTo>
                  <a:pt x="3048034" y="2783482"/>
                  <a:pt x="3058634" y="2787910"/>
                  <a:pt x="3069517" y="2791538"/>
                </a:cubicBezTo>
                <a:cubicBezTo>
                  <a:pt x="3074769" y="2793289"/>
                  <a:pt x="3080289" y="2794109"/>
                  <a:pt x="3085630" y="2795566"/>
                </a:cubicBezTo>
                <a:cubicBezTo>
                  <a:pt x="3126099" y="2806603"/>
                  <a:pt x="3100494" y="2801401"/>
                  <a:pt x="3137997" y="2807651"/>
                </a:cubicBezTo>
                <a:cubicBezTo>
                  <a:pt x="3155452" y="2814365"/>
                  <a:pt x="3171726" y="2826239"/>
                  <a:pt x="3190363" y="2827792"/>
                </a:cubicBezTo>
                <a:cubicBezTo>
                  <a:pt x="3211288" y="2829536"/>
                  <a:pt x="3244349" y="2831338"/>
                  <a:pt x="3266899" y="2835848"/>
                </a:cubicBezTo>
                <a:cubicBezTo>
                  <a:pt x="3277756" y="2838020"/>
                  <a:pt x="3288297" y="2841585"/>
                  <a:pt x="3299124" y="2843905"/>
                </a:cubicBezTo>
                <a:cubicBezTo>
                  <a:pt x="3307110" y="2845616"/>
                  <a:pt x="3315285" y="2846331"/>
                  <a:pt x="3323294" y="2847933"/>
                </a:cubicBezTo>
                <a:cubicBezTo>
                  <a:pt x="3341804" y="2851635"/>
                  <a:pt x="3342098" y="2854455"/>
                  <a:pt x="3363576" y="2855989"/>
                </a:cubicBezTo>
                <a:cubicBezTo>
                  <a:pt x="3393071" y="2858096"/>
                  <a:pt x="3422677" y="2858280"/>
                  <a:pt x="3452196" y="2860017"/>
                </a:cubicBezTo>
                <a:cubicBezTo>
                  <a:pt x="3491160" y="2862309"/>
                  <a:pt x="3530055" y="2865677"/>
                  <a:pt x="3569013" y="2868074"/>
                </a:cubicBezTo>
                <a:lnTo>
                  <a:pt x="3830846" y="2884187"/>
                </a:lnTo>
                <a:cubicBezTo>
                  <a:pt x="3842931" y="2886872"/>
                  <a:pt x="3855356" y="2888328"/>
                  <a:pt x="3867100" y="2892243"/>
                </a:cubicBezTo>
                <a:cubicBezTo>
                  <a:pt x="3933295" y="2914308"/>
                  <a:pt x="3921576" y="2921695"/>
                  <a:pt x="3991974" y="2932525"/>
                </a:cubicBezTo>
                <a:lnTo>
                  <a:pt x="4044340" y="2940581"/>
                </a:lnTo>
                <a:cubicBezTo>
                  <a:pt x="4073933" y="2945654"/>
                  <a:pt x="4103120" y="2953378"/>
                  <a:pt x="4132961" y="2956694"/>
                </a:cubicBezTo>
                <a:cubicBezTo>
                  <a:pt x="4157130" y="2959380"/>
                  <a:pt x="4181155" y="2964274"/>
                  <a:pt x="4205468" y="2964751"/>
                </a:cubicBezTo>
                <a:lnTo>
                  <a:pt x="4410906" y="2968779"/>
                </a:lnTo>
                <a:cubicBezTo>
                  <a:pt x="4447160" y="2967436"/>
                  <a:pt x="4483469" y="2967164"/>
                  <a:pt x="4519667" y="2964751"/>
                </a:cubicBezTo>
                <a:cubicBezTo>
                  <a:pt x="4523904" y="2964469"/>
                  <a:pt x="4527614" y="2961677"/>
                  <a:pt x="4531752" y="2960722"/>
                </a:cubicBezTo>
                <a:cubicBezTo>
                  <a:pt x="4545095" y="2957643"/>
                  <a:pt x="4558607" y="2955351"/>
                  <a:pt x="4572034" y="2952666"/>
                </a:cubicBezTo>
                <a:cubicBezTo>
                  <a:pt x="4578748" y="2951323"/>
                  <a:pt x="4585680" y="2950803"/>
                  <a:pt x="4592175" y="2948638"/>
                </a:cubicBezTo>
                <a:lnTo>
                  <a:pt x="4604259" y="2944610"/>
                </a:lnTo>
                <a:cubicBezTo>
                  <a:pt x="4623327" y="2925542"/>
                  <a:pt x="4608184" y="2936216"/>
                  <a:pt x="4636485" y="2928497"/>
                </a:cubicBezTo>
                <a:cubicBezTo>
                  <a:pt x="4644678" y="2926262"/>
                  <a:pt x="4652598" y="2923126"/>
                  <a:pt x="4660654" y="2920440"/>
                </a:cubicBezTo>
                <a:cubicBezTo>
                  <a:pt x="4664682" y="2919097"/>
                  <a:pt x="4668620" y="2917442"/>
                  <a:pt x="4672739" y="2916412"/>
                </a:cubicBezTo>
                <a:cubicBezTo>
                  <a:pt x="4685430" y="2913239"/>
                  <a:pt x="4689383" y="2912689"/>
                  <a:pt x="4700936" y="2908356"/>
                </a:cubicBezTo>
                <a:cubicBezTo>
                  <a:pt x="4731277" y="2896978"/>
                  <a:pt x="4710188" y="2903021"/>
                  <a:pt x="4737190" y="2896271"/>
                </a:cubicBezTo>
                <a:cubicBezTo>
                  <a:pt x="4760270" y="2873191"/>
                  <a:pt x="4736863" y="2894051"/>
                  <a:pt x="4773443" y="2872102"/>
                </a:cubicBezTo>
                <a:cubicBezTo>
                  <a:pt x="4779200" y="2868648"/>
                  <a:pt x="4783863" y="2863575"/>
                  <a:pt x="4789556" y="2860017"/>
                </a:cubicBezTo>
                <a:cubicBezTo>
                  <a:pt x="4794648" y="2856834"/>
                  <a:pt x="4800783" y="2855451"/>
                  <a:pt x="4805669" y="2851961"/>
                </a:cubicBezTo>
                <a:cubicBezTo>
                  <a:pt x="4810305" y="2848650"/>
                  <a:pt x="4813378" y="2843524"/>
                  <a:pt x="4817754" y="2839877"/>
                </a:cubicBezTo>
                <a:cubicBezTo>
                  <a:pt x="4821473" y="2836778"/>
                  <a:pt x="4825810" y="2834506"/>
                  <a:pt x="4829838" y="2831820"/>
                </a:cubicBezTo>
                <a:cubicBezTo>
                  <a:pt x="4831181" y="2827792"/>
                  <a:pt x="4831214" y="2823051"/>
                  <a:pt x="4833866" y="2819736"/>
                </a:cubicBezTo>
                <a:cubicBezTo>
                  <a:pt x="4836890" y="2815955"/>
                  <a:pt x="4842528" y="2815102"/>
                  <a:pt x="4845951" y="2811679"/>
                </a:cubicBezTo>
                <a:cubicBezTo>
                  <a:pt x="4849374" y="2808256"/>
                  <a:pt x="4851322" y="2803623"/>
                  <a:pt x="4854007" y="2799595"/>
                </a:cubicBezTo>
                <a:cubicBezTo>
                  <a:pt x="4855931" y="2782279"/>
                  <a:pt x="4858777" y="2753220"/>
                  <a:pt x="4862064" y="2735143"/>
                </a:cubicBezTo>
                <a:cubicBezTo>
                  <a:pt x="4863054" y="2729696"/>
                  <a:pt x="4864501" y="2724333"/>
                  <a:pt x="4866092" y="2719031"/>
                </a:cubicBezTo>
                <a:cubicBezTo>
                  <a:pt x="4868532" y="2710897"/>
                  <a:pt x="4874148" y="2694862"/>
                  <a:pt x="4874148" y="2694862"/>
                </a:cubicBezTo>
                <a:cubicBezTo>
                  <a:pt x="4871639" y="2649695"/>
                  <a:pt x="4874243" y="2625681"/>
                  <a:pt x="4862064" y="2586100"/>
                </a:cubicBezTo>
                <a:cubicBezTo>
                  <a:pt x="4860298" y="2580361"/>
                  <a:pt x="4856693" y="2575359"/>
                  <a:pt x="4854007" y="2569988"/>
                </a:cubicBezTo>
                <a:cubicBezTo>
                  <a:pt x="4852664" y="2561931"/>
                  <a:pt x="4852562" y="2553567"/>
                  <a:pt x="4849979" y="2545818"/>
                </a:cubicBezTo>
                <a:cubicBezTo>
                  <a:pt x="4848448" y="2541225"/>
                  <a:pt x="4844088" y="2538064"/>
                  <a:pt x="4841923" y="2533734"/>
                </a:cubicBezTo>
                <a:cubicBezTo>
                  <a:pt x="4823460" y="2496809"/>
                  <a:pt x="4845551" y="2529174"/>
                  <a:pt x="4821782" y="2497480"/>
                </a:cubicBezTo>
                <a:cubicBezTo>
                  <a:pt x="4820439" y="2490766"/>
                  <a:pt x="4820451" y="2483632"/>
                  <a:pt x="4817754" y="2477339"/>
                </a:cubicBezTo>
                <a:cubicBezTo>
                  <a:pt x="4816258" y="2473848"/>
                  <a:pt x="4812070" y="2472249"/>
                  <a:pt x="4809697" y="2469283"/>
                </a:cubicBezTo>
                <a:cubicBezTo>
                  <a:pt x="4801825" y="2459443"/>
                  <a:pt x="4794168" y="2443407"/>
                  <a:pt x="4789556" y="2433029"/>
                </a:cubicBezTo>
                <a:cubicBezTo>
                  <a:pt x="4784295" y="2421192"/>
                  <a:pt x="4784858" y="2414234"/>
                  <a:pt x="4781500" y="2400803"/>
                </a:cubicBezTo>
                <a:cubicBezTo>
                  <a:pt x="4780470" y="2396684"/>
                  <a:pt x="4778639" y="2392801"/>
                  <a:pt x="4777472" y="2388719"/>
                </a:cubicBezTo>
                <a:cubicBezTo>
                  <a:pt x="4775951" y="2383396"/>
                  <a:pt x="4774786" y="2377977"/>
                  <a:pt x="4773443" y="2372606"/>
                </a:cubicBezTo>
                <a:cubicBezTo>
                  <a:pt x="4776129" y="2349780"/>
                  <a:pt x="4778090" y="2326856"/>
                  <a:pt x="4781500" y="2304127"/>
                </a:cubicBezTo>
                <a:cubicBezTo>
                  <a:pt x="4782130" y="2299928"/>
                  <a:pt x="4783421" y="2295729"/>
                  <a:pt x="4785528" y="2292042"/>
                </a:cubicBezTo>
                <a:cubicBezTo>
                  <a:pt x="4788859" y="2286213"/>
                  <a:pt x="4792455" y="2280227"/>
                  <a:pt x="4797613" y="2275929"/>
                </a:cubicBezTo>
                <a:cubicBezTo>
                  <a:pt x="4800090" y="2273865"/>
                  <a:pt x="4824953" y="2268087"/>
                  <a:pt x="4825810" y="2267873"/>
                </a:cubicBezTo>
                <a:lnTo>
                  <a:pt x="4862064" y="2271901"/>
                </a:lnTo>
                <a:cubicBezTo>
                  <a:pt x="4878160" y="2273434"/>
                  <a:pt x="4894358" y="2273923"/>
                  <a:pt x="4910402" y="2275929"/>
                </a:cubicBezTo>
                <a:cubicBezTo>
                  <a:pt x="4915896" y="2276616"/>
                  <a:pt x="4921034" y="2279175"/>
                  <a:pt x="4926515" y="2279958"/>
                </a:cubicBezTo>
                <a:cubicBezTo>
                  <a:pt x="4939874" y="2281867"/>
                  <a:pt x="4953379" y="2282548"/>
                  <a:pt x="4966797" y="2283986"/>
                </a:cubicBezTo>
                <a:lnTo>
                  <a:pt x="5039304" y="2292042"/>
                </a:lnTo>
                <a:cubicBezTo>
                  <a:pt x="5226043" y="2310261"/>
                  <a:pt x="5068990" y="2293103"/>
                  <a:pt x="5168206" y="2304127"/>
                </a:cubicBezTo>
                <a:cubicBezTo>
                  <a:pt x="5176263" y="2301441"/>
                  <a:pt x="5187816" y="2303235"/>
                  <a:pt x="5192376" y="2296070"/>
                </a:cubicBezTo>
                <a:cubicBezTo>
                  <a:pt x="5198904" y="2285812"/>
                  <a:pt x="5195251" y="2271921"/>
                  <a:pt x="5196404" y="2259817"/>
                </a:cubicBezTo>
                <a:cubicBezTo>
                  <a:pt x="5197937" y="2243721"/>
                  <a:pt x="5199089" y="2227591"/>
                  <a:pt x="5200432" y="2211478"/>
                </a:cubicBezTo>
                <a:cubicBezTo>
                  <a:pt x="5197747" y="2184623"/>
                  <a:pt x="5198288" y="2157247"/>
                  <a:pt x="5192376" y="2130914"/>
                </a:cubicBezTo>
                <a:cubicBezTo>
                  <a:pt x="5175817" y="2057150"/>
                  <a:pt x="5143251" y="1977958"/>
                  <a:pt x="5111812" y="1909364"/>
                </a:cubicBezTo>
                <a:cubicBezTo>
                  <a:pt x="5098051" y="1879340"/>
                  <a:pt x="5080946" y="1850910"/>
                  <a:pt x="5067502" y="1820743"/>
                </a:cubicBezTo>
                <a:cubicBezTo>
                  <a:pt x="5025876" y="1727339"/>
                  <a:pt x="4977034" y="1636413"/>
                  <a:pt x="4946656" y="1538770"/>
                </a:cubicBezTo>
                <a:cubicBezTo>
                  <a:pt x="4869219" y="1289868"/>
                  <a:pt x="4895034" y="1382730"/>
                  <a:pt x="4817754" y="1079556"/>
                </a:cubicBezTo>
                <a:cubicBezTo>
                  <a:pt x="4806492" y="1035375"/>
                  <a:pt x="4796249" y="990940"/>
                  <a:pt x="4785528" y="946625"/>
                </a:cubicBezTo>
                <a:cubicBezTo>
                  <a:pt x="4776108" y="907691"/>
                  <a:pt x="4764826" y="869158"/>
                  <a:pt x="4757331" y="829808"/>
                </a:cubicBezTo>
                <a:cubicBezTo>
                  <a:pt x="4737851" y="727541"/>
                  <a:pt x="4724817" y="649775"/>
                  <a:pt x="4700936" y="551862"/>
                </a:cubicBezTo>
                <a:cubicBezTo>
                  <a:pt x="4691112" y="511586"/>
                  <a:pt x="4684168" y="477326"/>
                  <a:pt x="4652598" y="447129"/>
                </a:cubicBezTo>
                <a:cubicBezTo>
                  <a:pt x="4604394" y="401021"/>
                  <a:pt x="4556593" y="352767"/>
                  <a:pt x="4499526" y="318227"/>
                </a:cubicBezTo>
                <a:cubicBezTo>
                  <a:pt x="4404687" y="260825"/>
                  <a:pt x="4144283" y="217576"/>
                  <a:pt x="4068509" y="205438"/>
                </a:cubicBezTo>
                <a:cubicBezTo>
                  <a:pt x="3536680" y="120242"/>
                  <a:pt x="3640293" y="133984"/>
                  <a:pt x="3222589" y="116817"/>
                </a:cubicBezTo>
                <a:cubicBezTo>
                  <a:pt x="2979712" y="92035"/>
                  <a:pt x="3091228" y="100561"/>
                  <a:pt x="2888249" y="88620"/>
                </a:cubicBezTo>
                <a:cubicBezTo>
                  <a:pt x="2760689" y="72507"/>
                  <a:pt x="2633625" y="51818"/>
                  <a:pt x="2505570" y="40282"/>
                </a:cubicBezTo>
                <a:cubicBezTo>
                  <a:pt x="2186341" y="11523"/>
                  <a:pt x="2027651" y="9125"/>
                  <a:pt x="1740213" y="0"/>
                </a:cubicBezTo>
                <a:lnTo>
                  <a:pt x="1607283" y="4028"/>
                </a:lnTo>
                <a:cubicBezTo>
                  <a:pt x="1574040" y="8694"/>
                  <a:pt x="1543390" y="25012"/>
                  <a:pt x="1510606" y="32225"/>
                </a:cubicBezTo>
                <a:cubicBezTo>
                  <a:pt x="1476109" y="39814"/>
                  <a:pt x="1440604" y="41906"/>
                  <a:pt x="1405873" y="48338"/>
                </a:cubicBezTo>
                <a:cubicBezTo>
                  <a:pt x="1368066" y="55339"/>
                  <a:pt x="1330932" y="65728"/>
                  <a:pt x="1293084" y="72507"/>
                </a:cubicBezTo>
                <a:cubicBezTo>
                  <a:pt x="1240931" y="81848"/>
                  <a:pt x="1188526" y="89853"/>
                  <a:pt x="1135984" y="96677"/>
                </a:cubicBezTo>
                <a:cubicBezTo>
                  <a:pt x="1085106" y="103285"/>
                  <a:pt x="1033581" y="104728"/>
                  <a:pt x="982913" y="112789"/>
                </a:cubicBezTo>
                <a:cubicBezTo>
                  <a:pt x="915297" y="123546"/>
                  <a:pt x="848744" y="140175"/>
                  <a:pt x="781503" y="153071"/>
                </a:cubicBezTo>
                <a:cubicBezTo>
                  <a:pt x="750718" y="158975"/>
                  <a:pt x="719886" y="164751"/>
                  <a:pt x="688855" y="169184"/>
                </a:cubicBezTo>
                <a:cubicBezTo>
                  <a:pt x="634389" y="176964"/>
                  <a:pt x="620797" y="178277"/>
                  <a:pt x="563981" y="189325"/>
                </a:cubicBezTo>
                <a:cubicBezTo>
                  <a:pt x="409349" y="219393"/>
                  <a:pt x="552135" y="192405"/>
                  <a:pt x="439107" y="217522"/>
                </a:cubicBezTo>
                <a:cubicBezTo>
                  <a:pt x="419056" y="221978"/>
                  <a:pt x="398735" y="225151"/>
                  <a:pt x="378684" y="229607"/>
                </a:cubicBezTo>
                <a:cubicBezTo>
                  <a:pt x="350389" y="235895"/>
                  <a:pt x="322572" y="244360"/>
                  <a:pt x="294092" y="249748"/>
                </a:cubicBezTo>
                <a:cubicBezTo>
                  <a:pt x="272819" y="253773"/>
                  <a:pt x="251058" y="254631"/>
                  <a:pt x="229641" y="257804"/>
                </a:cubicBezTo>
                <a:cubicBezTo>
                  <a:pt x="138133" y="271361"/>
                  <a:pt x="233992" y="261806"/>
                  <a:pt x="136992" y="269889"/>
                </a:cubicBezTo>
                <a:cubicBezTo>
                  <a:pt x="94651" y="280474"/>
                  <a:pt x="142782" y="264603"/>
                  <a:pt x="112823" y="286002"/>
                </a:cubicBezTo>
                <a:cubicBezTo>
                  <a:pt x="106939" y="290205"/>
                  <a:pt x="99396" y="291373"/>
                  <a:pt x="92682" y="294058"/>
                </a:cubicBezTo>
                <a:cubicBezTo>
                  <a:pt x="89997" y="298086"/>
                  <a:pt x="88345" y="303044"/>
                  <a:pt x="84626" y="306143"/>
                </a:cubicBezTo>
                <a:cubicBezTo>
                  <a:pt x="76724" y="312728"/>
                  <a:pt x="51856" y="319751"/>
                  <a:pt x="44344" y="322255"/>
                </a:cubicBezTo>
                <a:cubicBezTo>
                  <a:pt x="18899" y="330737"/>
                  <a:pt x="10776" y="325613"/>
                  <a:pt x="4062" y="3262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DA9C698-A302-8174-6A57-F2F454B03040}"/>
              </a:ext>
            </a:extLst>
          </p:cNvPr>
          <p:cNvSpPr/>
          <p:nvPr/>
        </p:nvSpPr>
        <p:spPr>
          <a:xfrm>
            <a:off x="8149035" y="4209466"/>
            <a:ext cx="3689826" cy="2046322"/>
          </a:xfrm>
          <a:custGeom>
            <a:avLst/>
            <a:gdLst>
              <a:gd name="connsiteX0" fmla="*/ 3524670 w 3689826"/>
              <a:gd name="connsiteY0" fmla="*/ 40281 h 2046322"/>
              <a:gd name="connsiteX1" fmla="*/ 3524670 w 3689826"/>
              <a:gd name="connsiteY1" fmla="*/ 40281 h 2046322"/>
              <a:gd name="connsiteX2" fmla="*/ 3492444 w 3689826"/>
              <a:gd name="connsiteY2" fmla="*/ 28197 h 2046322"/>
              <a:gd name="connsiteX3" fmla="*/ 3480359 w 3689826"/>
              <a:gd name="connsiteY3" fmla="*/ 20141 h 2046322"/>
              <a:gd name="connsiteX4" fmla="*/ 3468275 w 3689826"/>
              <a:gd name="connsiteY4" fmla="*/ 16112 h 2046322"/>
              <a:gd name="connsiteX5" fmla="*/ 3452162 w 3689826"/>
              <a:gd name="connsiteY5" fmla="*/ 8056 h 2046322"/>
              <a:gd name="connsiteX6" fmla="*/ 3411880 w 3689826"/>
              <a:gd name="connsiteY6" fmla="*/ 4028 h 2046322"/>
              <a:gd name="connsiteX7" fmla="*/ 3391739 w 3689826"/>
              <a:gd name="connsiteY7" fmla="*/ 0 h 2046322"/>
              <a:gd name="connsiteX8" fmla="*/ 3367570 w 3689826"/>
              <a:gd name="connsiteY8" fmla="*/ 20141 h 2046322"/>
              <a:gd name="connsiteX9" fmla="*/ 3383683 w 3689826"/>
              <a:gd name="connsiteY9" fmla="*/ 92648 h 2046322"/>
              <a:gd name="connsiteX10" fmla="*/ 3395767 w 3689826"/>
              <a:gd name="connsiteY10" fmla="*/ 108761 h 2046322"/>
              <a:gd name="connsiteX11" fmla="*/ 3399796 w 3689826"/>
              <a:gd name="connsiteY11" fmla="*/ 124874 h 2046322"/>
              <a:gd name="connsiteX12" fmla="*/ 3411880 w 3689826"/>
              <a:gd name="connsiteY12" fmla="*/ 136958 h 2046322"/>
              <a:gd name="connsiteX13" fmla="*/ 3419937 w 3689826"/>
              <a:gd name="connsiteY13" fmla="*/ 149043 h 2046322"/>
              <a:gd name="connsiteX14" fmla="*/ 3427993 w 3689826"/>
              <a:gd name="connsiteY14" fmla="*/ 201409 h 2046322"/>
              <a:gd name="connsiteX15" fmla="*/ 3436049 w 3689826"/>
              <a:gd name="connsiteY15" fmla="*/ 245719 h 2046322"/>
              <a:gd name="connsiteX16" fmla="*/ 3444106 w 3689826"/>
              <a:gd name="connsiteY16" fmla="*/ 261832 h 2046322"/>
              <a:gd name="connsiteX17" fmla="*/ 3456190 w 3689826"/>
              <a:gd name="connsiteY17" fmla="*/ 306142 h 2046322"/>
              <a:gd name="connsiteX18" fmla="*/ 3464247 w 3689826"/>
              <a:gd name="connsiteY18" fmla="*/ 318227 h 2046322"/>
              <a:gd name="connsiteX19" fmla="*/ 3468275 w 3689826"/>
              <a:gd name="connsiteY19" fmla="*/ 338368 h 2046322"/>
              <a:gd name="connsiteX20" fmla="*/ 3472303 w 3689826"/>
              <a:gd name="connsiteY20" fmla="*/ 354481 h 2046322"/>
              <a:gd name="connsiteX21" fmla="*/ 3476331 w 3689826"/>
              <a:gd name="connsiteY21" fmla="*/ 378650 h 2046322"/>
              <a:gd name="connsiteX22" fmla="*/ 3472303 w 3689826"/>
              <a:gd name="connsiteY22" fmla="*/ 531721 h 2046322"/>
              <a:gd name="connsiteX23" fmla="*/ 3468275 w 3689826"/>
              <a:gd name="connsiteY23" fmla="*/ 543806 h 2046322"/>
              <a:gd name="connsiteX24" fmla="*/ 3460218 w 3689826"/>
              <a:gd name="connsiteY24" fmla="*/ 551862 h 2046322"/>
              <a:gd name="connsiteX25" fmla="*/ 3452162 w 3689826"/>
              <a:gd name="connsiteY25" fmla="*/ 584088 h 2046322"/>
              <a:gd name="connsiteX26" fmla="*/ 3448134 w 3689826"/>
              <a:gd name="connsiteY26" fmla="*/ 600200 h 2046322"/>
              <a:gd name="connsiteX27" fmla="*/ 3427993 w 3689826"/>
              <a:gd name="connsiteY27" fmla="*/ 620341 h 2046322"/>
              <a:gd name="connsiteX28" fmla="*/ 3375626 w 3689826"/>
              <a:gd name="connsiteY28" fmla="*/ 660623 h 2046322"/>
              <a:gd name="connsiteX29" fmla="*/ 3363542 w 3689826"/>
              <a:gd name="connsiteY29" fmla="*/ 672708 h 2046322"/>
              <a:gd name="connsiteX30" fmla="*/ 3351457 w 3689826"/>
              <a:gd name="connsiteY30" fmla="*/ 676736 h 2046322"/>
              <a:gd name="connsiteX31" fmla="*/ 3331316 w 3689826"/>
              <a:gd name="connsiteY31" fmla="*/ 684792 h 2046322"/>
              <a:gd name="connsiteX32" fmla="*/ 3323260 w 3689826"/>
              <a:gd name="connsiteY32" fmla="*/ 692849 h 2046322"/>
              <a:gd name="connsiteX33" fmla="*/ 3295063 w 3689826"/>
              <a:gd name="connsiteY33" fmla="*/ 700905 h 2046322"/>
              <a:gd name="connsiteX34" fmla="*/ 3238668 w 3689826"/>
              <a:gd name="connsiteY34" fmla="*/ 729103 h 2046322"/>
              <a:gd name="connsiteX35" fmla="*/ 3218527 w 3689826"/>
              <a:gd name="connsiteY35" fmla="*/ 737159 h 2046322"/>
              <a:gd name="connsiteX36" fmla="*/ 3166160 w 3689826"/>
              <a:gd name="connsiteY36" fmla="*/ 741187 h 2046322"/>
              <a:gd name="connsiteX37" fmla="*/ 3121850 w 3689826"/>
              <a:gd name="connsiteY37" fmla="*/ 745215 h 2046322"/>
              <a:gd name="connsiteX38" fmla="*/ 3101709 w 3689826"/>
              <a:gd name="connsiteY38" fmla="*/ 749244 h 2046322"/>
              <a:gd name="connsiteX39" fmla="*/ 3001004 w 3689826"/>
              <a:gd name="connsiteY39" fmla="*/ 757300 h 2046322"/>
              <a:gd name="connsiteX40" fmla="*/ 2988920 w 3689826"/>
              <a:gd name="connsiteY40" fmla="*/ 761328 h 2046322"/>
              <a:gd name="connsiteX41" fmla="*/ 2710974 w 3689826"/>
              <a:gd name="connsiteY41" fmla="*/ 761328 h 2046322"/>
              <a:gd name="connsiteX42" fmla="*/ 2602213 w 3689826"/>
              <a:gd name="connsiteY42" fmla="*/ 749244 h 2046322"/>
              <a:gd name="connsiteX43" fmla="*/ 2324268 w 3689826"/>
              <a:gd name="connsiteY43" fmla="*/ 753272 h 2046322"/>
              <a:gd name="connsiteX44" fmla="*/ 1538770 w 3689826"/>
              <a:gd name="connsiteY44" fmla="*/ 757300 h 2046322"/>
              <a:gd name="connsiteX45" fmla="*/ 1450150 w 3689826"/>
              <a:gd name="connsiteY45" fmla="*/ 741187 h 2046322"/>
              <a:gd name="connsiteX46" fmla="*/ 1369586 w 3689826"/>
              <a:gd name="connsiteY46" fmla="*/ 737159 h 2046322"/>
              <a:gd name="connsiteX47" fmla="*/ 1139979 w 3689826"/>
              <a:gd name="connsiteY47" fmla="*/ 721046 h 2046322"/>
              <a:gd name="connsiteX48" fmla="*/ 946626 w 3689826"/>
              <a:gd name="connsiteY48" fmla="*/ 729103 h 2046322"/>
              <a:gd name="connsiteX49" fmla="*/ 813695 w 3689826"/>
              <a:gd name="connsiteY49" fmla="*/ 749244 h 2046322"/>
              <a:gd name="connsiteX50" fmla="*/ 757300 w 3689826"/>
              <a:gd name="connsiteY50" fmla="*/ 757300 h 2046322"/>
              <a:gd name="connsiteX51" fmla="*/ 660624 w 3689826"/>
              <a:gd name="connsiteY51" fmla="*/ 761328 h 2046322"/>
              <a:gd name="connsiteX52" fmla="*/ 539778 w 3689826"/>
              <a:gd name="connsiteY52" fmla="*/ 777441 h 2046322"/>
              <a:gd name="connsiteX53" fmla="*/ 507552 w 3689826"/>
              <a:gd name="connsiteY53" fmla="*/ 781469 h 2046322"/>
              <a:gd name="connsiteX54" fmla="*/ 447129 w 3689826"/>
              <a:gd name="connsiteY54" fmla="*/ 789526 h 2046322"/>
              <a:gd name="connsiteX55" fmla="*/ 374622 w 3689826"/>
              <a:gd name="connsiteY55" fmla="*/ 797582 h 2046322"/>
              <a:gd name="connsiteX56" fmla="*/ 338368 w 3689826"/>
              <a:gd name="connsiteY56" fmla="*/ 809667 h 2046322"/>
              <a:gd name="connsiteX57" fmla="*/ 326284 w 3689826"/>
              <a:gd name="connsiteY57" fmla="*/ 813695 h 2046322"/>
              <a:gd name="connsiteX58" fmla="*/ 265861 w 3689826"/>
              <a:gd name="connsiteY58" fmla="*/ 825779 h 2046322"/>
              <a:gd name="connsiteX59" fmla="*/ 197381 w 3689826"/>
              <a:gd name="connsiteY59" fmla="*/ 837864 h 2046322"/>
              <a:gd name="connsiteX60" fmla="*/ 64451 w 3689826"/>
              <a:gd name="connsiteY60" fmla="*/ 845920 h 2046322"/>
              <a:gd name="connsiteX61" fmla="*/ 60423 w 3689826"/>
              <a:gd name="connsiteY61" fmla="*/ 866061 h 2046322"/>
              <a:gd name="connsiteX62" fmla="*/ 40282 w 3689826"/>
              <a:gd name="connsiteY62" fmla="*/ 894259 h 2046322"/>
              <a:gd name="connsiteX63" fmla="*/ 36254 w 3689826"/>
              <a:gd name="connsiteY63" fmla="*/ 910371 h 2046322"/>
              <a:gd name="connsiteX64" fmla="*/ 28197 w 3689826"/>
              <a:gd name="connsiteY64" fmla="*/ 970794 h 2046322"/>
              <a:gd name="connsiteX65" fmla="*/ 20141 w 3689826"/>
              <a:gd name="connsiteY65" fmla="*/ 1031217 h 2046322"/>
              <a:gd name="connsiteX66" fmla="*/ 8056 w 3689826"/>
              <a:gd name="connsiteY66" fmla="*/ 1212486 h 2046322"/>
              <a:gd name="connsiteX67" fmla="*/ 0 w 3689826"/>
              <a:gd name="connsiteY67" fmla="*/ 1341388 h 2046322"/>
              <a:gd name="connsiteX68" fmla="*/ 4028 w 3689826"/>
              <a:gd name="connsiteY68" fmla="*/ 1768377 h 2046322"/>
              <a:gd name="connsiteX69" fmla="*/ 8056 w 3689826"/>
              <a:gd name="connsiteY69" fmla="*/ 1953674 h 2046322"/>
              <a:gd name="connsiteX70" fmla="*/ 20141 w 3689826"/>
              <a:gd name="connsiteY70" fmla="*/ 1957702 h 2046322"/>
              <a:gd name="connsiteX71" fmla="*/ 48338 w 3689826"/>
              <a:gd name="connsiteY71" fmla="*/ 1973815 h 2046322"/>
              <a:gd name="connsiteX72" fmla="*/ 80564 w 3689826"/>
              <a:gd name="connsiteY72" fmla="*/ 1985899 h 2046322"/>
              <a:gd name="connsiteX73" fmla="*/ 124874 w 3689826"/>
              <a:gd name="connsiteY73" fmla="*/ 1989927 h 2046322"/>
              <a:gd name="connsiteX74" fmla="*/ 233635 w 3689826"/>
              <a:gd name="connsiteY74" fmla="*/ 1997984 h 2046322"/>
              <a:gd name="connsiteX75" fmla="*/ 362537 w 3689826"/>
              <a:gd name="connsiteY75" fmla="*/ 2006040 h 2046322"/>
              <a:gd name="connsiteX76" fmla="*/ 418932 w 3689826"/>
              <a:gd name="connsiteY76" fmla="*/ 2014096 h 2046322"/>
              <a:gd name="connsiteX77" fmla="*/ 491440 w 3689826"/>
              <a:gd name="connsiteY77" fmla="*/ 2022153 h 2046322"/>
              <a:gd name="connsiteX78" fmla="*/ 519637 w 3689826"/>
              <a:gd name="connsiteY78" fmla="*/ 2026181 h 2046322"/>
              <a:gd name="connsiteX79" fmla="*/ 660624 w 3689826"/>
              <a:gd name="connsiteY79" fmla="*/ 2034237 h 2046322"/>
              <a:gd name="connsiteX80" fmla="*/ 1131922 w 3689826"/>
              <a:gd name="connsiteY80" fmla="*/ 2026181 h 2046322"/>
              <a:gd name="connsiteX81" fmla="*/ 1152063 w 3689826"/>
              <a:gd name="connsiteY81" fmla="*/ 2022153 h 2046322"/>
              <a:gd name="connsiteX82" fmla="*/ 1196374 w 3689826"/>
              <a:gd name="connsiteY82" fmla="*/ 2014096 h 2046322"/>
              <a:gd name="connsiteX83" fmla="*/ 1228599 w 3689826"/>
              <a:gd name="connsiteY83" fmla="*/ 2006040 h 2046322"/>
              <a:gd name="connsiteX84" fmla="*/ 1474319 w 3689826"/>
              <a:gd name="connsiteY84" fmla="*/ 2002012 h 2046322"/>
              <a:gd name="connsiteX85" fmla="*/ 1695870 w 3689826"/>
              <a:gd name="connsiteY85" fmla="*/ 2006040 h 2046322"/>
              <a:gd name="connsiteX86" fmla="*/ 1897279 w 3689826"/>
              <a:gd name="connsiteY86" fmla="*/ 2034237 h 2046322"/>
              <a:gd name="connsiteX87" fmla="*/ 2030210 w 3689826"/>
              <a:gd name="connsiteY87" fmla="*/ 2046322 h 2046322"/>
              <a:gd name="connsiteX88" fmla="*/ 2275929 w 3689826"/>
              <a:gd name="connsiteY88" fmla="*/ 2042294 h 2046322"/>
              <a:gd name="connsiteX89" fmla="*/ 3218527 w 3689826"/>
              <a:gd name="connsiteY89" fmla="*/ 2030209 h 2046322"/>
              <a:gd name="connsiteX90" fmla="*/ 3299091 w 3689826"/>
              <a:gd name="connsiteY90" fmla="*/ 1973815 h 2046322"/>
              <a:gd name="connsiteX91" fmla="*/ 3367570 w 3689826"/>
              <a:gd name="connsiteY91" fmla="*/ 1893251 h 2046322"/>
              <a:gd name="connsiteX92" fmla="*/ 3387711 w 3689826"/>
              <a:gd name="connsiteY92" fmla="*/ 1856997 h 2046322"/>
              <a:gd name="connsiteX93" fmla="*/ 3427993 w 3689826"/>
              <a:gd name="connsiteY93" fmla="*/ 1740179 h 2046322"/>
              <a:gd name="connsiteX94" fmla="*/ 3472303 w 3689826"/>
              <a:gd name="connsiteY94" fmla="*/ 1603221 h 2046322"/>
              <a:gd name="connsiteX95" fmla="*/ 3540782 w 3689826"/>
              <a:gd name="connsiteY95" fmla="*/ 1454178 h 2046322"/>
              <a:gd name="connsiteX96" fmla="*/ 3605233 w 3689826"/>
              <a:gd name="connsiteY96" fmla="*/ 1240683 h 2046322"/>
              <a:gd name="connsiteX97" fmla="*/ 3645515 w 3689826"/>
              <a:gd name="connsiteY97" fmla="*/ 1071499 h 2046322"/>
              <a:gd name="connsiteX98" fmla="*/ 3673713 w 3689826"/>
              <a:gd name="connsiteY98" fmla="*/ 990935 h 2046322"/>
              <a:gd name="connsiteX99" fmla="*/ 3677741 w 3689826"/>
              <a:gd name="connsiteY99" fmla="*/ 958710 h 2046322"/>
              <a:gd name="connsiteX100" fmla="*/ 3685797 w 3689826"/>
              <a:gd name="connsiteY100" fmla="*/ 882174 h 2046322"/>
              <a:gd name="connsiteX101" fmla="*/ 3689826 w 3689826"/>
              <a:gd name="connsiteY101" fmla="*/ 813695 h 2046322"/>
              <a:gd name="connsiteX102" fmla="*/ 3681769 w 3689826"/>
              <a:gd name="connsiteY102" fmla="*/ 628398 h 2046322"/>
              <a:gd name="connsiteX103" fmla="*/ 3673713 w 3689826"/>
              <a:gd name="connsiteY103" fmla="*/ 563947 h 2046322"/>
              <a:gd name="connsiteX104" fmla="*/ 3665656 w 3689826"/>
              <a:gd name="connsiteY104" fmla="*/ 515608 h 2046322"/>
              <a:gd name="connsiteX105" fmla="*/ 3661628 w 3689826"/>
              <a:gd name="connsiteY105" fmla="*/ 503524 h 2046322"/>
              <a:gd name="connsiteX106" fmla="*/ 3649544 w 3689826"/>
              <a:gd name="connsiteY106" fmla="*/ 459214 h 2046322"/>
              <a:gd name="connsiteX107" fmla="*/ 3641487 w 3689826"/>
              <a:gd name="connsiteY107" fmla="*/ 439073 h 2046322"/>
              <a:gd name="connsiteX108" fmla="*/ 3633431 w 3689826"/>
              <a:gd name="connsiteY108" fmla="*/ 406847 h 2046322"/>
              <a:gd name="connsiteX109" fmla="*/ 3625374 w 3689826"/>
              <a:gd name="connsiteY109" fmla="*/ 378650 h 2046322"/>
              <a:gd name="connsiteX110" fmla="*/ 3621346 w 3689826"/>
              <a:gd name="connsiteY110" fmla="*/ 350452 h 2046322"/>
              <a:gd name="connsiteX111" fmla="*/ 3605233 w 3689826"/>
              <a:gd name="connsiteY111" fmla="*/ 310170 h 2046322"/>
              <a:gd name="connsiteX112" fmla="*/ 3593149 w 3689826"/>
              <a:gd name="connsiteY112" fmla="*/ 269889 h 2046322"/>
              <a:gd name="connsiteX113" fmla="*/ 3568980 w 3689826"/>
              <a:gd name="connsiteY113" fmla="*/ 197381 h 2046322"/>
              <a:gd name="connsiteX114" fmla="*/ 3556895 w 3689826"/>
              <a:gd name="connsiteY114" fmla="*/ 161127 h 2046322"/>
              <a:gd name="connsiteX115" fmla="*/ 3548839 w 3689826"/>
              <a:gd name="connsiteY115" fmla="*/ 116817 h 2046322"/>
              <a:gd name="connsiteX116" fmla="*/ 3540782 w 3689826"/>
              <a:gd name="connsiteY116" fmla="*/ 72507 h 2046322"/>
              <a:gd name="connsiteX117" fmla="*/ 3524670 w 3689826"/>
              <a:gd name="connsiteY117" fmla="*/ 40281 h 2046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3689826" h="2046322">
                <a:moveTo>
                  <a:pt x="3524670" y="40281"/>
                </a:moveTo>
                <a:lnTo>
                  <a:pt x="3524670" y="40281"/>
                </a:lnTo>
                <a:cubicBezTo>
                  <a:pt x="3513928" y="36253"/>
                  <a:pt x="3502888" y="32944"/>
                  <a:pt x="3492444" y="28197"/>
                </a:cubicBezTo>
                <a:cubicBezTo>
                  <a:pt x="3488037" y="26194"/>
                  <a:pt x="3484689" y="22306"/>
                  <a:pt x="3480359" y="20141"/>
                </a:cubicBezTo>
                <a:cubicBezTo>
                  <a:pt x="3476561" y="18242"/>
                  <a:pt x="3472178" y="17785"/>
                  <a:pt x="3468275" y="16112"/>
                </a:cubicBezTo>
                <a:cubicBezTo>
                  <a:pt x="3462756" y="13746"/>
                  <a:pt x="3458034" y="9314"/>
                  <a:pt x="3452162" y="8056"/>
                </a:cubicBezTo>
                <a:cubicBezTo>
                  <a:pt x="3438967" y="5229"/>
                  <a:pt x="3425256" y="5811"/>
                  <a:pt x="3411880" y="4028"/>
                </a:cubicBezTo>
                <a:cubicBezTo>
                  <a:pt x="3405093" y="3123"/>
                  <a:pt x="3398453" y="1343"/>
                  <a:pt x="3391739" y="0"/>
                </a:cubicBezTo>
                <a:cubicBezTo>
                  <a:pt x="3383683" y="6714"/>
                  <a:pt x="3369972" y="9933"/>
                  <a:pt x="3367570" y="20141"/>
                </a:cubicBezTo>
                <a:cubicBezTo>
                  <a:pt x="3365589" y="28561"/>
                  <a:pt x="3376404" y="78090"/>
                  <a:pt x="3383683" y="92648"/>
                </a:cubicBezTo>
                <a:cubicBezTo>
                  <a:pt x="3386685" y="98653"/>
                  <a:pt x="3391739" y="103390"/>
                  <a:pt x="3395767" y="108761"/>
                </a:cubicBezTo>
                <a:cubicBezTo>
                  <a:pt x="3397110" y="114132"/>
                  <a:pt x="3397049" y="120067"/>
                  <a:pt x="3399796" y="124874"/>
                </a:cubicBezTo>
                <a:cubicBezTo>
                  <a:pt x="3402622" y="129820"/>
                  <a:pt x="3408233" y="132582"/>
                  <a:pt x="3411880" y="136958"/>
                </a:cubicBezTo>
                <a:cubicBezTo>
                  <a:pt x="3414979" y="140677"/>
                  <a:pt x="3417251" y="145015"/>
                  <a:pt x="3419937" y="149043"/>
                </a:cubicBezTo>
                <a:cubicBezTo>
                  <a:pt x="3427442" y="179063"/>
                  <a:pt x="3422194" y="155014"/>
                  <a:pt x="3427993" y="201409"/>
                </a:cubicBezTo>
                <a:cubicBezTo>
                  <a:pt x="3429187" y="210965"/>
                  <a:pt x="3431827" y="234460"/>
                  <a:pt x="3436049" y="245719"/>
                </a:cubicBezTo>
                <a:cubicBezTo>
                  <a:pt x="3438158" y="251342"/>
                  <a:pt x="3441420" y="256461"/>
                  <a:pt x="3444106" y="261832"/>
                </a:cubicBezTo>
                <a:cubicBezTo>
                  <a:pt x="3447552" y="279062"/>
                  <a:pt x="3448757" y="289417"/>
                  <a:pt x="3456190" y="306142"/>
                </a:cubicBezTo>
                <a:cubicBezTo>
                  <a:pt x="3458156" y="310566"/>
                  <a:pt x="3461561" y="314199"/>
                  <a:pt x="3464247" y="318227"/>
                </a:cubicBezTo>
                <a:cubicBezTo>
                  <a:pt x="3465590" y="324941"/>
                  <a:pt x="3466790" y="331684"/>
                  <a:pt x="3468275" y="338368"/>
                </a:cubicBezTo>
                <a:cubicBezTo>
                  <a:pt x="3469476" y="343772"/>
                  <a:pt x="3471217" y="349052"/>
                  <a:pt x="3472303" y="354481"/>
                </a:cubicBezTo>
                <a:cubicBezTo>
                  <a:pt x="3473905" y="362490"/>
                  <a:pt x="3474988" y="370594"/>
                  <a:pt x="3476331" y="378650"/>
                </a:cubicBezTo>
                <a:cubicBezTo>
                  <a:pt x="3474988" y="429674"/>
                  <a:pt x="3474790" y="480740"/>
                  <a:pt x="3472303" y="531721"/>
                </a:cubicBezTo>
                <a:cubicBezTo>
                  <a:pt x="3472096" y="535962"/>
                  <a:pt x="3470460" y="540165"/>
                  <a:pt x="3468275" y="543806"/>
                </a:cubicBezTo>
                <a:cubicBezTo>
                  <a:pt x="3466321" y="547063"/>
                  <a:pt x="3462904" y="549177"/>
                  <a:pt x="3460218" y="551862"/>
                </a:cubicBezTo>
                <a:cubicBezTo>
                  <a:pt x="3453020" y="573458"/>
                  <a:pt x="3458643" y="554921"/>
                  <a:pt x="3452162" y="584088"/>
                </a:cubicBezTo>
                <a:cubicBezTo>
                  <a:pt x="3450961" y="589492"/>
                  <a:pt x="3451205" y="595594"/>
                  <a:pt x="3448134" y="600200"/>
                </a:cubicBezTo>
                <a:cubicBezTo>
                  <a:pt x="3442867" y="608100"/>
                  <a:pt x="3435519" y="614552"/>
                  <a:pt x="3427993" y="620341"/>
                </a:cubicBezTo>
                <a:cubicBezTo>
                  <a:pt x="3410537" y="633768"/>
                  <a:pt x="3392718" y="646736"/>
                  <a:pt x="3375626" y="660623"/>
                </a:cubicBezTo>
                <a:cubicBezTo>
                  <a:pt x="3371205" y="664215"/>
                  <a:pt x="3368282" y="669548"/>
                  <a:pt x="3363542" y="672708"/>
                </a:cubicBezTo>
                <a:cubicBezTo>
                  <a:pt x="3360009" y="675063"/>
                  <a:pt x="3355433" y="675245"/>
                  <a:pt x="3351457" y="676736"/>
                </a:cubicBezTo>
                <a:cubicBezTo>
                  <a:pt x="3344687" y="679275"/>
                  <a:pt x="3338030" y="682107"/>
                  <a:pt x="3331316" y="684792"/>
                </a:cubicBezTo>
                <a:cubicBezTo>
                  <a:pt x="3328631" y="687478"/>
                  <a:pt x="3326517" y="690895"/>
                  <a:pt x="3323260" y="692849"/>
                </a:cubicBezTo>
                <a:cubicBezTo>
                  <a:pt x="3316250" y="697055"/>
                  <a:pt x="3301831" y="697897"/>
                  <a:pt x="3295063" y="700905"/>
                </a:cubicBezTo>
                <a:cubicBezTo>
                  <a:pt x="3275857" y="709441"/>
                  <a:pt x="3258182" y="721298"/>
                  <a:pt x="3238668" y="729103"/>
                </a:cubicBezTo>
                <a:cubicBezTo>
                  <a:pt x="3231954" y="731788"/>
                  <a:pt x="3225659" y="735970"/>
                  <a:pt x="3218527" y="737159"/>
                </a:cubicBezTo>
                <a:cubicBezTo>
                  <a:pt x="3201258" y="740037"/>
                  <a:pt x="3183607" y="739733"/>
                  <a:pt x="3166160" y="741187"/>
                </a:cubicBezTo>
                <a:lnTo>
                  <a:pt x="3121850" y="745215"/>
                </a:lnTo>
                <a:cubicBezTo>
                  <a:pt x="3115136" y="746558"/>
                  <a:pt x="3108522" y="748563"/>
                  <a:pt x="3101709" y="749244"/>
                </a:cubicBezTo>
                <a:cubicBezTo>
                  <a:pt x="3068201" y="752595"/>
                  <a:pt x="3001004" y="757300"/>
                  <a:pt x="3001004" y="757300"/>
                </a:cubicBezTo>
                <a:cubicBezTo>
                  <a:pt x="2996976" y="758643"/>
                  <a:pt x="2993147" y="760925"/>
                  <a:pt x="2988920" y="761328"/>
                </a:cubicBezTo>
                <a:cubicBezTo>
                  <a:pt x="2896709" y="770110"/>
                  <a:pt x="2802863" y="763130"/>
                  <a:pt x="2710974" y="761328"/>
                </a:cubicBezTo>
                <a:cubicBezTo>
                  <a:pt x="2661941" y="750432"/>
                  <a:pt x="2665865" y="749244"/>
                  <a:pt x="2602213" y="749244"/>
                </a:cubicBezTo>
                <a:cubicBezTo>
                  <a:pt x="2509555" y="749244"/>
                  <a:pt x="2416916" y="751929"/>
                  <a:pt x="2324268" y="753272"/>
                </a:cubicBezTo>
                <a:cubicBezTo>
                  <a:pt x="2013851" y="776265"/>
                  <a:pt x="2107207" y="772259"/>
                  <a:pt x="1538770" y="757300"/>
                </a:cubicBezTo>
                <a:cubicBezTo>
                  <a:pt x="1508756" y="756510"/>
                  <a:pt x="1479964" y="744736"/>
                  <a:pt x="1450150" y="741187"/>
                </a:cubicBezTo>
                <a:cubicBezTo>
                  <a:pt x="1423450" y="738008"/>
                  <a:pt x="1396408" y="739041"/>
                  <a:pt x="1369586" y="737159"/>
                </a:cubicBezTo>
                <a:cubicBezTo>
                  <a:pt x="1098692" y="718149"/>
                  <a:pt x="1321600" y="730127"/>
                  <a:pt x="1139979" y="721046"/>
                </a:cubicBezTo>
                <a:cubicBezTo>
                  <a:pt x="1075528" y="723732"/>
                  <a:pt x="1011007" y="725079"/>
                  <a:pt x="946626" y="729103"/>
                </a:cubicBezTo>
                <a:cubicBezTo>
                  <a:pt x="901598" y="731917"/>
                  <a:pt x="858077" y="742086"/>
                  <a:pt x="813695" y="749244"/>
                </a:cubicBezTo>
                <a:cubicBezTo>
                  <a:pt x="794948" y="752268"/>
                  <a:pt x="776230" y="755806"/>
                  <a:pt x="757300" y="757300"/>
                </a:cubicBezTo>
                <a:cubicBezTo>
                  <a:pt x="725147" y="759838"/>
                  <a:pt x="692849" y="759985"/>
                  <a:pt x="660624" y="761328"/>
                </a:cubicBezTo>
                <a:cubicBezTo>
                  <a:pt x="568441" y="776693"/>
                  <a:pt x="658082" y="762654"/>
                  <a:pt x="539778" y="777441"/>
                </a:cubicBezTo>
                <a:lnTo>
                  <a:pt x="507552" y="781469"/>
                </a:lnTo>
                <a:cubicBezTo>
                  <a:pt x="481142" y="784990"/>
                  <a:pt x="474519" y="786643"/>
                  <a:pt x="447129" y="789526"/>
                </a:cubicBezTo>
                <a:cubicBezTo>
                  <a:pt x="372811" y="797349"/>
                  <a:pt x="430658" y="789577"/>
                  <a:pt x="374622" y="797582"/>
                </a:cubicBezTo>
                <a:lnTo>
                  <a:pt x="338368" y="809667"/>
                </a:lnTo>
                <a:cubicBezTo>
                  <a:pt x="334340" y="811010"/>
                  <a:pt x="330447" y="812862"/>
                  <a:pt x="326284" y="813695"/>
                </a:cubicBezTo>
                <a:lnTo>
                  <a:pt x="265861" y="825779"/>
                </a:lnTo>
                <a:cubicBezTo>
                  <a:pt x="232492" y="839128"/>
                  <a:pt x="248936" y="834831"/>
                  <a:pt x="197381" y="837864"/>
                </a:cubicBezTo>
                <a:cubicBezTo>
                  <a:pt x="50849" y="846483"/>
                  <a:pt x="159825" y="837250"/>
                  <a:pt x="64451" y="845920"/>
                </a:cubicBezTo>
                <a:cubicBezTo>
                  <a:pt x="63108" y="852634"/>
                  <a:pt x="62827" y="859650"/>
                  <a:pt x="60423" y="866061"/>
                </a:cubicBezTo>
                <a:cubicBezTo>
                  <a:pt x="58951" y="869985"/>
                  <a:pt x="40975" y="893335"/>
                  <a:pt x="40282" y="894259"/>
                </a:cubicBezTo>
                <a:cubicBezTo>
                  <a:pt x="38939" y="899630"/>
                  <a:pt x="37244" y="904924"/>
                  <a:pt x="36254" y="910371"/>
                </a:cubicBezTo>
                <a:cubicBezTo>
                  <a:pt x="33727" y="924269"/>
                  <a:pt x="29947" y="957670"/>
                  <a:pt x="28197" y="970794"/>
                </a:cubicBezTo>
                <a:cubicBezTo>
                  <a:pt x="25181" y="993414"/>
                  <a:pt x="22448" y="1008148"/>
                  <a:pt x="20141" y="1031217"/>
                </a:cubicBezTo>
                <a:cubicBezTo>
                  <a:pt x="14115" y="1091483"/>
                  <a:pt x="11682" y="1152055"/>
                  <a:pt x="8056" y="1212486"/>
                </a:cubicBezTo>
                <a:cubicBezTo>
                  <a:pt x="5477" y="1255460"/>
                  <a:pt x="0" y="1341388"/>
                  <a:pt x="0" y="1341388"/>
                </a:cubicBezTo>
                <a:cubicBezTo>
                  <a:pt x="1343" y="1483718"/>
                  <a:pt x="2155" y="1626053"/>
                  <a:pt x="4028" y="1768377"/>
                </a:cubicBezTo>
                <a:cubicBezTo>
                  <a:pt x="4841" y="1830152"/>
                  <a:pt x="2817" y="1892116"/>
                  <a:pt x="8056" y="1953674"/>
                </a:cubicBezTo>
                <a:cubicBezTo>
                  <a:pt x="8416" y="1957905"/>
                  <a:pt x="16238" y="1956029"/>
                  <a:pt x="20141" y="1957702"/>
                </a:cubicBezTo>
                <a:cubicBezTo>
                  <a:pt x="69576" y="1978887"/>
                  <a:pt x="7885" y="1953588"/>
                  <a:pt x="48338" y="1973815"/>
                </a:cubicBezTo>
                <a:cubicBezTo>
                  <a:pt x="48473" y="1973883"/>
                  <a:pt x="75683" y="1985202"/>
                  <a:pt x="80564" y="1985899"/>
                </a:cubicBezTo>
                <a:cubicBezTo>
                  <a:pt x="95246" y="1987996"/>
                  <a:pt x="110117" y="1988451"/>
                  <a:pt x="124874" y="1989927"/>
                </a:cubicBezTo>
                <a:cubicBezTo>
                  <a:pt x="206656" y="1998105"/>
                  <a:pt x="106245" y="1990340"/>
                  <a:pt x="233635" y="1997984"/>
                </a:cubicBezTo>
                <a:lnTo>
                  <a:pt x="362537" y="2006040"/>
                </a:lnTo>
                <a:lnTo>
                  <a:pt x="418932" y="2014096"/>
                </a:lnTo>
                <a:cubicBezTo>
                  <a:pt x="443062" y="2017112"/>
                  <a:pt x="467366" y="2018714"/>
                  <a:pt x="491440" y="2022153"/>
                </a:cubicBezTo>
                <a:cubicBezTo>
                  <a:pt x="500839" y="2023496"/>
                  <a:pt x="510190" y="2025236"/>
                  <a:pt x="519637" y="2026181"/>
                </a:cubicBezTo>
                <a:cubicBezTo>
                  <a:pt x="566858" y="2030903"/>
                  <a:pt x="613005" y="2032073"/>
                  <a:pt x="660624" y="2034237"/>
                </a:cubicBezTo>
                <a:lnTo>
                  <a:pt x="1131922" y="2026181"/>
                </a:lnTo>
                <a:cubicBezTo>
                  <a:pt x="1138765" y="2025949"/>
                  <a:pt x="1145327" y="2023378"/>
                  <a:pt x="1152063" y="2022153"/>
                </a:cubicBezTo>
                <a:cubicBezTo>
                  <a:pt x="1171476" y="2018624"/>
                  <a:pt x="1177873" y="2018366"/>
                  <a:pt x="1196374" y="2014096"/>
                </a:cubicBezTo>
                <a:cubicBezTo>
                  <a:pt x="1207163" y="2011606"/>
                  <a:pt x="1217537" y="2006521"/>
                  <a:pt x="1228599" y="2006040"/>
                </a:cubicBezTo>
                <a:cubicBezTo>
                  <a:pt x="1310439" y="2002482"/>
                  <a:pt x="1392412" y="2003355"/>
                  <a:pt x="1474319" y="2002012"/>
                </a:cubicBezTo>
                <a:lnTo>
                  <a:pt x="1695870" y="2006040"/>
                </a:lnTo>
                <a:cubicBezTo>
                  <a:pt x="1763465" y="2011190"/>
                  <a:pt x="1830026" y="2025712"/>
                  <a:pt x="1897279" y="2034237"/>
                </a:cubicBezTo>
                <a:cubicBezTo>
                  <a:pt x="1924906" y="2037739"/>
                  <a:pt x="1995350" y="2043417"/>
                  <a:pt x="2030210" y="2046322"/>
                </a:cubicBezTo>
                <a:lnTo>
                  <a:pt x="2275929" y="2042294"/>
                </a:lnTo>
                <a:cubicBezTo>
                  <a:pt x="2590125" y="2038034"/>
                  <a:pt x="2904515" y="2041791"/>
                  <a:pt x="3218527" y="2030209"/>
                </a:cubicBezTo>
                <a:cubicBezTo>
                  <a:pt x="3231239" y="2029740"/>
                  <a:pt x="3293048" y="1980081"/>
                  <a:pt x="3299091" y="1973815"/>
                </a:cubicBezTo>
                <a:cubicBezTo>
                  <a:pt x="3323556" y="1948444"/>
                  <a:pt x="3350454" y="1924061"/>
                  <a:pt x="3367570" y="1893251"/>
                </a:cubicBezTo>
                <a:lnTo>
                  <a:pt x="3387711" y="1856997"/>
                </a:lnTo>
                <a:cubicBezTo>
                  <a:pt x="3429728" y="1688934"/>
                  <a:pt x="3376104" y="1886412"/>
                  <a:pt x="3427993" y="1740179"/>
                </a:cubicBezTo>
                <a:cubicBezTo>
                  <a:pt x="3466353" y="1632074"/>
                  <a:pt x="3428279" y="1703499"/>
                  <a:pt x="3472303" y="1603221"/>
                </a:cubicBezTo>
                <a:cubicBezTo>
                  <a:pt x="3495075" y="1551351"/>
                  <a:pt x="3521846" y="1506616"/>
                  <a:pt x="3540782" y="1454178"/>
                </a:cubicBezTo>
                <a:cubicBezTo>
                  <a:pt x="3564583" y="1388269"/>
                  <a:pt x="3589184" y="1308090"/>
                  <a:pt x="3605233" y="1240683"/>
                </a:cubicBezTo>
                <a:cubicBezTo>
                  <a:pt x="3618660" y="1184288"/>
                  <a:pt x="3623985" y="1125324"/>
                  <a:pt x="3645515" y="1071499"/>
                </a:cubicBezTo>
                <a:cubicBezTo>
                  <a:pt x="3666834" y="1018201"/>
                  <a:pt x="3657472" y="1045069"/>
                  <a:pt x="3673713" y="990935"/>
                </a:cubicBezTo>
                <a:cubicBezTo>
                  <a:pt x="3675056" y="980193"/>
                  <a:pt x="3676715" y="969486"/>
                  <a:pt x="3677741" y="958710"/>
                </a:cubicBezTo>
                <a:cubicBezTo>
                  <a:pt x="3684981" y="882684"/>
                  <a:pt x="3677685" y="930851"/>
                  <a:pt x="3685797" y="882174"/>
                </a:cubicBezTo>
                <a:cubicBezTo>
                  <a:pt x="3687140" y="859348"/>
                  <a:pt x="3689826" y="836561"/>
                  <a:pt x="3689826" y="813695"/>
                </a:cubicBezTo>
                <a:cubicBezTo>
                  <a:pt x="3689826" y="735596"/>
                  <a:pt x="3689380" y="694359"/>
                  <a:pt x="3681769" y="628398"/>
                </a:cubicBezTo>
                <a:cubicBezTo>
                  <a:pt x="3679287" y="606890"/>
                  <a:pt x="3676775" y="585380"/>
                  <a:pt x="3673713" y="563947"/>
                </a:cubicBezTo>
                <a:cubicBezTo>
                  <a:pt x="3671438" y="548019"/>
                  <a:pt x="3669585" y="531324"/>
                  <a:pt x="3665656" y="515608"/>
                </a:cubicBezTo>
                <a:cubicBezTo>
                  <a:pt x="3664626" y="511489"/>
                  <a:pt x="3662794" y="507607"/>
                  <a:pt x="3661628" y="503524"/>
                </a:cubicBezTo>
                <a:cubicBezTo>
                  <a:pt x="3654255" y="477719"/>
                  <a:pt x="3660840" y="493102"/>
                  <a:pt x="3649544" y="459214"/>
                </a:cubicBezTo>
                <a:cubicBezTo>
                  <a:pt x="3647257" y="452354"/>
                  <a:pt x="3643614" y="445984"/>
                  <a:pt x="3641487" y="439073"/>
                </a:cubicBezTo>
                <a:cubicBezTo>
                  <a:pt x="3638231" y="428490"/>
                  <a:pt x="3636284" y="417546"/>
                  <a:pt x="3633431" y="406847"/>
                </a:cubicBezTo>
                <a:cubicBezTo>
                  <a:pt x="3630912" y="397402"/>
                  <a:pt x="3628060" y="388049"/>
                  <a:pt x="3625374" y="378650"/>
                </a:cubicBezTo>
                <a:cubicBezTo>
                  <a:pt x="3624031" y="369251"/>
                  <a:pt x="3624025" y="359561"/>
                  <a:pt x="3621346" y="350452"/>
                </a:cubicBezTo>
                <a:cubicBezTo>
                  <a:pt x="3617265" y="336578"/>
                  <a:pt x="3605233" y="310170"/>
                  <a:pt x="3605233" y="310170"/>
                </a:cubicBezTo>
                <a:cubicBezTo>
                  <a:pt x="3598016" y="274086"/>
                  <a:pt x="3605618" y="305737"/>
                  <a:pt x="3593149" y="269889"/>
                </a:cubicBezTo>
                <a:cubicBezTo>
                  <a:pt x="3584780" y="245826"/>
                  <a:pt x="3577036" y="221550"/>
                  <a:pt x="3568980" y="197381"/>
                </a:cubicBezTo>
                <a:cubicBezTo>
                  <a:pt x="3564952" y="185296"/>
                  <a:pt x="3559985" y="173485"/>
                  <a:pt x="3556895" y="161127"/>
                </a:cubicBezTo>
                <a:cubicBezTo>
                  <a:pt x="3549162" y="130194"/>
                  <a:pt x="3556055" y="160116"/>
                  <a:pt x="3548839" y="116817"/>
                </a:cubicBezTo>
                <a:cubicBezTo>
                  <a:pt x="3545655" y="97710"/>
                  <a:pt x="3543020" y="92642"/>
                  <a:pt x="3540782" y="72507"/>
                </a:cubicBezTo>
                <a:cubicBezTo>
                  <a:pt x="3540337" y="68503"/>
                  <a:pt x="3527355" y="45652"/>
                  <a:pt x="3524670" y="4028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E3497B1-3AA7-5881-7757-F10BF73A3D49}"/>
              </a:ext>
            </a:extLst>
          </p:cNvPr>
          <p:cNvSpPr/>
          <p:nvPr/>
        </p:nvSpPr>
        <p:spPr>
          <a:xfrm>
            <a:off x="4555886" y="4910371"/>
            <a:ext cx="3468275" cy="370594"/>
          </a:xfrm>
          <a:custGeom>
            <a:avLst/>
            <a:gdLst>
              <a:gd name="connsiteX0" fmla="*/ 48338 w 3468275"/>
              <a:gd name="connsiteY0" fmla="*/ 286002 h 370594"/>
              <a:gd name="connsiteX1" fmla="*/ 48338 w 3468275"/>
              <a:gd name="connsiteY1" fmla="*/ 286002 h 370594"/>
              <a:gd name="connsiteX2" fmla="*/ 108761 w 3468275"/>
              <a:gd name="connsiteY2" fmla="*/ 277946 h 370594"/>
              <a:gd name="connsiteX3" fmla="*/ 145015 w 3468275"/>
              <a:gd name="connsiteY3" fmla="*/ 265861 h 370594"/>
              <a:gd name="connsiteX4" fmla="*/ 169184 w 3468275"/>
              <a:gd name="connsiteY4" fmla="*/ 261833 h 370594"/>
              <a:gd name="connsiteX5" fmla="*/ 181269 w 3468275"/>
              <a:gd name="connsiteY5" fmla="*/ 257805 h 370594"/>
              <a:gd name="connsiteX6" fmla="*/ 201410 w 3468275"/>
              <a:gd name="connsiteY6" fmla="*/ 253776 h 370594"/>
              <a:gd name="connsiteX7" fmla="*/ 229607 w 3468275"/>
              <a:gd name="connsiteY7" fmla="*/ 245720 h 370594"/>
              <a:gd name="connsiteX8" fmla="*/ 277945 w 3468275"/>
              <a:gd name="connsiteY8" fmla="*/ 241692 h 370594"/>
              <a:gd name="connsiteX9" fmla="*/ 410876 w 3468275"/>
              <a:gd name="connsiteY9" fmla="*/ 245720 h 370594"/>
              <a:gd name="connsiteX10" fmla="*/ 459214 w 3468275"/>
              <a:gd name="connsiteY10" fmla="*/ 253776 h 370594"/>
              <a:gd name="connsiteX11" fmla="*/ 479355 w 3468275"/>
              <a:gd name="connsiteY11" fmla="*/ 257805 h 370594"/>
              <a:gd name="connsiteX12" fmla="*/ 572004 w 3468275"/>
              <a:gd name="connsiteY12" fmla="*/ 261833 h 370594"/>
              <a:gd name="connsiteX13" fmla="*/ 845921 w 3468275"/>
              <a:gd name="connsiteY13" fmla="*/ 269889 h 370594"/>
              <a:gd name="connsiteX14" fmla="*/ 898287 w 3468275"/>
              <a:gd name="connsiteY14" fmla="*/ 290030 h 370594"/>
              <a:gd name="connsiteX15" fmla="*/ 946626 w 3468275"/>
              <a:gd name="connsiteY15" fmla="*/ 298087 h 370594"/>
              <a:gd name="connsiteX16" fmla="*/ 1152063 w 3468275"/>
              <a:gd name="connsiteY16" fmla="*/ 294058 h 370594"/>
              <a:gd name="connsiteX17" fmla="*/ 1240684 w 3468275"/>
              <a:gd name="connsiteY17" fmla="*/ 286002 h 370594"/>
              <a:gd name="connsiteX18" fmla="*/ 1272909 w 3468275"/>
              <a:gd name="connsiteY18" fmla="*/ 281974 h 370594"/>
              <a:gd name="connsiteX19" fmla="*/ 1349445 w 3468275"/>
              <a:gd name="connsiteY19" fmla="*/ 277946 h 370594"/>
              <a:gd name="connsiteX20" fmla="*/ 1897279 w 3468275"/>
              <a:gd name="connsiteY20" fmla="*/ 281974 h 370594"/>
              <a:gd name="connsiteX21" fmla="*/ 1941589 w 3468275"/>
              <a:gd name="connsiteY21" fmla="*/ 290030 h 370594"/>
              <a:gd name="connsiteX22" fmla="*/ 2038266 w 3468275"/>
              <a:gd name="connsiteY22" fmla="*/ 314199 h 370594"/>
              <a:gd name="connsiteX23" fmla="*/ 2086604 w 3468275"/>
              <a:gd name="connsiteY23" fmla="*/ 318228 h 370594"/>
              <a:gd name="connsiteX24" fmla="*/ 2219535 w 3468275"/>
              <a:gd name="connsiteY24" fmla="*/ 330312 h 370594"/>
              <a:gd name="connsiteX25" fmla="*/ 2340381 w 3468275"/>
              <a:gd name="connsiteY25" fmla="*/ 346425 h 370594"/>
              <a:gd name="connsiteX26" fmla="*/ 2392747 w 3468275"/>
              <a:gd name="connsiteY26" fmla="*/ 354481 h 370594"/>
              <a:gd name="connsiteX27" fmla="*/ 2529706 w 3468275"/>
              <a:gd name="connsiteY27" fmla="*/ 370594 h 370594"/>
              <a:gd name="connsiteX28" fmla="*/ 2876130 w 3468275"/>
              <a:gd name="connsiteY28" fmla="*/ 358510 h 370594"/>
              <a:gd name="connsiteX29" fmla="*/ 2924469 w 3468275"/>
              <a:gd name="connsiteY29" fmla="*/ 350453 h 370594"/>
              <a:gd name="connsiteX30" fmla="*/ 3101709 w 3468275"/>
              <a:gd name="connsiteY30" fmla="*/ 334340 h 370594"/>
              <a:gd name="connsiteX31" fmla="*/ 3363542 w 3468275"/>
              <a:gd name="connsiteY31" fmla="*/ 330312 h 370594"/>
              <a:gd name="connsiteX32" fmla="*/ 3379655 w 3468275"/>
              <a:gd name="connsiteY32" fmla="*/ 326284 h 370594"/>
              <a:gd name="connsiteX33" fmla="*/ 3395767 w 3468275"/>
              <a:gd name="connsiteY33" fmla="*/ 306143 h 370594"/>
              <a:gd name="connsiteX34" fmla="*/ 3423965 w 3468275"/>
              <a:gd name="connsiteY34" fmla="*/ 269889 h 370594"/>
              <a:gd name="connsiteX35" fmla="*/ 3432021 w 3468275"/>
              <a:gd name="connsiteY35" fmla="*/ 253776 h 370594"/>
              <a:gd name="connsiteX36" fmla="*/ 3452162 w 3468275"/>
              <a:gd name="connsiteY36" fmla="*/ 229607 h 370594"/>
              <a:gd name="connsiteX37" fmla="*/ 3456190 w 3468275"/>
              <a:gd name="connsiteY37" fmla="*/ 213495 h 370594"/>
              <a:gd name="connsiteX38" fmla="*/ 3464247 w 3468275"/>
              <a:gd name="connsiteY38" fmla="*/ 189325 h 370594"/>
              <a:gd name="connsiteX39" fmla="*/ 3468275 w 3468275"/>
              <a:gd name="connsiteY39" fmla="*/ 165156 h 370594"/>
              <a:gd name="connsiteX40" fmla="*/ 3456190 w 3468275"/>
              <a:gd name="connsiteY40" fmla="*/ 136959 h 370594"/>
              <a:gd name="connsiteX41" fmla="*/ 3395767 w 3468275"/>
              <a:gd name="connsiteY41" fmla="*/ 84592 h 370594"/>
              <a:gd name="connsiteX42" fmla="*/ 3371598 w 3468275"/>
              <a:gd name="connsiteY42" fmla="*/ 72508 h 370594"/>
              <a:gd name="connsiteX43" fmla="*/ 3319232 w 3468275"/>
              <a:gd name="connsiteY43" fmla="*/ 56395 h 370594"/>
              <a:gd name="connsiteX44" fmla="*/ 3287006 w 3468275"/>
              <a:gd name="connsiteY44" fmla="*/ 52367 h 370594"/>
              <a:gd name="connsiteX45" fmla="*/ 3154076 w 3468275"/>
              <a:gd name="connsiteY45" fmla="*/ 48339 h 370594"/>
              <a:gd name="connsiteX46" fmla="*/ 2960723 w 3468275"/>
              <a:gd name="connsiteY46" fmla="*/ 52367 h 370594"/>
              <a:gd name="connsiteX47" fmla="*/ 2908356 w 3468275"/>
              <a:gd name="connsiteY47" fmla="*/ 56395 h 370594"/>
              <a:gd name="connsiteX48" fmla="*/ 2775426 w 3468275"/>
              <a:gd name="connsiteY48" fmla="*/ 64451 h 370594"/>
              <a:gd name="connsiteX49" fmla="*/ 2513593 w 3468275"/>
              <a:gd name="connsiteY49" fmla="*/ 60423 h 370594"/>
              <a:gd name="connsiteX50" fmla="*/ 2461226 w 3468275"/>
              <a:gd name="connsiteY50" fmla="*/ 52367 h 370594"/>
              <a:gd name="connsiteX51" fmla="*/ 2308155 w 3468275"/>
              <a:gd name="connsiteY51" fmla="*/ 44310 h 370594"/>
              <a:gd name="connsiteX52" fmla="*/ 1836856 w 3468275"/>
              <a:gd name="connsiteY52" fmla="*/ 36254 h 370594"/>
              <a:gd name="connsiteX53" fmla="*/ 1772405 w 3468275"/>
              <a:gd name="connsiteY53" fmla="*/ 32226 h 370594"/>
              <a:gd name="connsiteX54" fmla="*/ 1393755 w 3468275"/>
              <a:gd name="connsiteY54" fmla="*/ 20141 h 370594"/>
              <a:gd name="connsiteX55" fmla="*/ 1083584 w 3468275"/>
              <a:gd name="connsiteY55" fmla="*/ 0 h 370594"/>
              <a:gd name="connsiteX56" fmla="*/ 362537 w 3468275"/>
              <a:gd name="connsiteY56" fmla="*/ 4028 h 370594"/>
              <a:gd name="connsiteX57" fmla="*/ 257804 w 3468275"/>
              <a:gd name="connsiteY57" fmla="*/ 20141 h 370594"/>
              <a:gd name="connsiteX58" fmla="*/ 193353 w 3468275"/>
              <a:gd name="connsiteY58" fmla="*/ 28198 h 370594"/>
              <a:gd name="connsiteX59" fmla="*/ 181269 w 3468275"/>
              <a:gd name="connsiteY59" fmla="*/ 32226 h 370594"/>
              <a:gd name="connsiteX60" fmla="*/ 157100 w 3468275"/>
              <a:gd name="connsiteY60" fmla="*/ 36254 h 370594"/>
              <a:gd name="connsiteX61" fmla="*/ 116818 w 3468275"/>
              <a:gd name="connsiteY61" fmla="*/ 48339 h 370594"/>
              <a:gd name="connsiteX62" fmla="*/ 104733 w 3468275"/>
              <a:gd name="connsiteY62" fmla="*/ 56395 h 370594"/>
              <a:gd name="connsiteX63" fmla="*/ 76536 w 3468275"/>
              <a:gd name="connsiteY63" fmla="*/ 72508 h 370594"/>
              <a:gd name="connsiteX64" fmla="*/ 16113 w 3468275"/>
              <a:gd name="connsiteY64" fmla="*/ 100705 h 370594"/>
              <a:gd name="connsiteX65" fmla="*/ 0 w 3468275"/>
              <a:gd name="connsiteY65" fmla="*/ 140987 h 370594"/>
              <a:gd name="connsiteX66" fmla="*/ 12085 w 3468275"/>
              <a:gd name="connsiteY66" fmla="*/ 193354 h 370594"/>
              <a:gd name="connsiteX67" fmla="*/ 28197 w 3468275"/>
              <a:gd name="connsiteY67" fmla="*/ 201410 h 370594"/>
              <a:gd name="connsiteX68" fmla="*/ 68479 w 3468275"/>
              <a:gd name="connsiteY68" fmla="*/ 225579 h 370594"/>
              <a:gd name="connsiteX69" fmla="*/ 84592 w 3468275"/>
              <a:gd name="connsiteY69" fmla="*/ 237664 h 370594"/>
              <a:gd name="connsiteX70" fmla="*/ 92649 w 3468275"/>
              <a:gd name="connsiteY70" fmla="*/ 245720 h 370594"/>
              <a:gd name="connsiteX71" fmla="*/ 48338 w 3468275"/>
              <a:gd name="connsiteY71" fmla="*/ 286002 h 370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3468275" h="370594">
                <a:moveTo>
                  <a:pt x="48338" y="286002"/>
                </a:moveTo>
                <a:lnTo>
                  <a:pt x="48338" y="286002"/>
                </a:lnTo>
                <a:cubicBezTo>
                  <a:pt x="72513" y="283316"/>
                  <a:pt x="86165" y="282466"/>
                  <a:pt x="108761" y="277946"/>
                </a:cubicBezTo>
                <a:cubicBezTo>
                  <a:pt x="149858" y="269726"/>
                  <a:pt x="96265" y="279156"/>
                  <a:pt x="145015" y="265861"/>
                </a:cubicBezTo>
                <a:cubicBezTo>
                  <a:pt x="152895" y="263712"/>
                  <a:pt x="161211" y="263605"/>
                  <a:pt x="169184" y="261833"/>
                </a:cubicBezTo>
                <a:cubicBezTo>
                  <a:pt x="173329" y="260912"/>
                  <a:pt x="177150" y="258835"/>
                  <a:pt x="181269" y="257805"/>
                </a:cubicBezTo>
                <a:cubicBezTo>
                  <a:pt x="187911" y="256144"/>
                  <a:pt x="194768" y="255437"/>
                  <a:pt x="201410" y="253776"/>
                </a:cubicBezTo>
                <a:cubicBezTo>
                  <a:pt x="214786" y="250432"/>
                  <a:pt x="214538" y="247603"/>
                  <a:pt x="229607" y="245720"/>
                </a:cubicBezTo>
                <a:cubicBezTo>
                  <a:pt x="245651" y="243715"/>
                  <a:pt x="261832" y="243035"/>
                  <a:pt x="277945" y="241692"/>
                </a:cubicBezTo>
                <a:cubicBezTo>
                  <a:pt x="322255" y="243035"/>
                  <a:pt x="366644" y="242771"/>
                  <a:pt x="410876" y="245720"/>
                </a:cubicBezTo>
                <a:cubicBezTo>
                  <a:pt x="427175" y="246807"/>
                  <a:pt x="443196" y="250572"/>
                  <a:pt x="459214" y="253776"/>
                </a:cubicBezTo>
                <a:cubicBezTo>
                  <a:pt x="465928" y="255119"/>
                  <a:pt x="472526" y="257317"/>
                  <a:pt x="479355" y="257805"/>
                </a:cubicBezTo>
                <a:cubicBezTo>
                  <a:pt x="510189" y="260008"/>
                  <a:pt x="541121" y="260490"/>
                  <a:pt x="572004" y="261833"/>
                </a:cubicBezTo>
                <a:cubicBezTo>
                  <a:pt x="679600" y="258759"/>
                  <a:pt x="739857" y="251443"/>
                  <a:pt x="845921" y="269889"/>
                </a:cubicBezTo>
                <a:cubicBezTo>
                  <a:pt x="864346" y="273093"/>
                  <a:pt x="879948" y="286362"/>
                  <a:pt x="898287" y="290030"/>
                </a:cubicBezTo>
                <a:cubicBezTo>
                  <a:pt x="927738" y="295920"/>
                  <a:pt x="911650" y="293090"/>
                  <a:pt x="946626" y="298087"/>
                </a:cubicBezTo>
                <a:lnTo>
                  <a:pt x="1152063" y="294058"/>
                </a:lnTo>
                <a:cubicBezTo>
                  <a:pt x="1176617" y="293291"/>
                  <a:pt x="1214766" y="289051"/>
                  <a:pt x="1240684" y="286002"/>
                </a:cubicBezTo>
                <a:cubicBezTo>
                  <a:pt x="1251435" y="284737"/>
                  <a:pt x="1262113" y="282774"/>
                  <a:pt x="1272909" y="281974"/>
                </a:cubicBezTo>
                <a:cubicBezTo>
                  <a:pt x="1298387" y="280087"/>
                  <a:pt x="1323933" y="279289"/>
                  <a:pt x="1349445" y="277946"/>
                </a:cubicBezTo>
                <a:lnTo>
                  <a:pt x="1897279" y="281974"/>
                </a:lnTo>
                <a:cubicBezTo>
                  <a:pt x="1912288" y="282280"/>
                  <a:pt x="1926950" y="286703"/>
                  <a:pt x="1941589" y="290030"/>
                </a:cubicBezTo>
                <a:cubicBezTo>
                  <a:pt x="1984323" y="299742"/>
                  <a:pt x="1993050" y="306964"/>
                  <a:pt x="2038266" y="314199"/>
                </a:cubicBezTo>
                <a:cubicBezTo>
                  <a:pt x="2054231" y="316754"/>
                  <a:pt x="2070534" y="316442"/>
                  <a:pt x="2086604" y="318228"/>
                </a:cubicBezTo>
                <a:cubicBezTo>
                  <a:pt x="2204768" y="331358"/>
                  <a:pt x="2086537" y="322924"/>
                  <a:pt x="2219535" y="330312"/>
                </a:cubicBezTo>
                <a:cubicBezTo>
                  <a:pt x="2259817" y="335683"/>
                  <a:pt x="2300215" y="340246"/>
                  <a:pt x="2340381" y="346425"/>
                </a:cubicBezTo>
                <a:cubicBezTo>
                  <a:pt x="2357836" y="349110"/>
                  <a:pt x="2375201" y="352476"/>
                  <a:pt x="2392747" y="354481"/>
                </a:cubicBezTo>
                <a:cubicBezTo>
                  <a:pt x="2544446" y="371818"/>
                  <a:pt x="2426329" y="353366"/>
                  <a:pt x="2529706" y="370594"/>
                </a:cubicBezTo>
                <a:lnTo>
                  <a:pt x="2876130" y="358510"/>
                </a:lnTo>
                <a:cubicBezTo>
                  <a:pt x="2892432" y="357475"/>
                  <a:pt x="2908287" y="352685"/>
                  <a:pt x="2924469" y="350453"/>
                </a:cubicBezTo>
                <a:cubicBezTo>
                  <a:pt x="2976123" y="343328"/>
                  <a:pt x="3053744" y="335904"/>
                  <a:pt x="3101709" y="334340"/>
                </a:cubicBezTo>
                <a:cubicBezTo>
                  <a:pt x="3188951" y="331495"/>
                  <a:pt x="3276264" y="331655"/>
                  <a:pt x="3363542" y="330312"/>
                </a:cubicBezTo>
                <a:cubicBezTo>
                  <a:pt x="3368913" y="328969"/>
                  <a:pt x="3375226" y="329606"/>
                  <a:pt x="3379655" y="326284"/>
                </a:cubicBezTo>
                <a:cubicBezTo>
                  <a:pt x="3386533" y="321125"/>
                  <a:pt x="3390710" y="313096"/>
                  <a:pt x="3395767" y="306143"/>
                </a:cubicBezTo>
                <a:cubicBezTo>
                  <a:pt x="3421462" y="270812"/>
                  <a:pt x="3401255" y="292599"/>
                  <a:pt x="3423965" y="269889"/>
                </a:cubicBezTo>
                <a:cubicBezTo>
                  <a:pt x="3426650" y="264518"/>
                  <a:pt x="3428838" y="258868"/>
                  <a:pt x="3432021" y="253776"/>
                </a:cubicBezTo>
                <a:cubicBezTo>
                  <a:pt x="3439997" y="241014"/>
                  <a:pt x="3442973" y="238798"/>
                  <a:pt x="3452162" y="229607"/>
                </a:cubicBezTo>
                <a:cubicBezTo>
                  <a:pt x="3453505" y="224236"/>
                  <a:pt x="3454599" y="218797"/>
                  <a:pt x="3456190" y="213495"/>
                </a:cubicBezTo>
                <a:cubicBezTo>
                  <a:pt x="3458630" y="205361"/>
                  <a:pt x="3462187" y="197564"/>
                  <a:pt x="3464247" y="189325"/>
                </a:cubicBezTo>
                <a:cubicBezTo>
                  <a:pt x="3466228" y="181401"/>
                  <a:pt x="3466932" y="173212"/>
                  <a:pt x="3468275" y="165156"/>
                </a:cubicBezTo>
                <a:cubicBezTo>
                  <a:pt x="3464247" y="155757"/>
                  <a:pt x="3462402" y="145082"/>
                  <a:pt x="3456190" y="136959"/>
                </a:cubicBezTo>
                <a:cubicBezTo>
                  <a:pt x="3435191" y="109499"/>
                  <a:pt x="3421958" y="98878"/>
                  <a:pt x="3395767" y="84592"/>
                </a:cubicBezTo>
                <a:cubicBezTo>
                  <a:pt x="3387860" y="80279"/>
                  <a:pt x="3380050" y="75622"/>
                  <a:pt x="3371598" y="72508"/>
                </a:cubicBezTo>
                <a:cubicBezTo>
                  <a:pt x="3354461" y="66194"/>
                  <a:pt x="3336998" y="60625"/>
                  <a:pt x="3319232" y="56395"/>
                </a:cubicBezTo>
                <a:cubicBezTo>
                  <a:pt x="3308701" y="53888"/>
                  <a:pt x="3297819" y="52894"/>
                  <a:pt x="3287006" y="52367"/>
                </a:cubicBezTo>
                <a:cubicBezTo>
                  <a:pt x="3242728" y="50207"/>
                  <a:pt x="3198386" y="49682"/>
                  <a:pt x="3154076" y="48339"/>
                </a:cubicBezTo>
                <a:lnTo>
                  <a:pt x="2960723" y="52367"/>
                </a:lnTo>
                <a:cubicBezTo>
                  <a:pt x="2943225" y="52941"/>
                  <a:pt x="2925835" y="55396"/>
                  <a:pt x="2908356" y="56395"/>
                </a:cubicBezTo>
                <a:cubicBezTo>
                  <a:pt x="2769117" y="64351"/>
                  <a:pt x="2867142" y="56114"/>
                  <a:pt x="2775426" y="64451"/>
                </a:cubicBezTo>
                <a:cubicBezTo>
                  <a:pt x="2688148" y="63108"/>
                  <a:pt x="2600817" y="63778"/>
                  <a:pt x="2513593" y="60423"/>
                </a:cubicBezTo>
                <a:cubicBezTo>
                  <a:pt x="2495945" y="59744"/>
                  <a:pt x="2478833" y="53748"/>
                  <a:pt x="2461226" y="52367"/>
                </a:cubicBezTo>
                <a:cubicBezTo>
                  <a:pt x="2410288" y="48372"/>
                  <a:pt x="2359243" y="45096"/>
                  <a:pt x="2308155" y="44310"/>
                </a:cubicBezTo>
                <a:lnTo>
                  <a:pt x="1836856" y="36254"/>
                </a:lnTo>
                <a:cubicBezTo>
                  <a:pt x="1815372" y="34911"/>
                  <a:pt x="1793916" y="33008"/>
                  <a:pt x="1772405" y="32226"/>
                </a:cubicBezTo>
                <a:cubicBezTo>
                  <a:pt x="1646207" y="27637"/>
                  <a:pt x="1519809" y="27704"/>
                  <a:pt x="1393755" y="20141"/>
                </a:cubicBezTo>
                <a:cubicBezTo>
                  <a:pt x="1156057" y="5880"/>
                  <a:pt x="1259419" y="13026"/>
                  <a:pt x="1083584" y="0"/>
                </a:cubicBezTo>
                <a:lnTo>
                  <a:pt x="362537" y="4028"/>
                </a:lnTo>
                <a:cubicBezTo>
                  <a:pt x="346896" y="4271"/>
                  <a:pt x="275905" y="17673"/>
                  <a:pt x="257804" y="20141"/>
                </a:cubicBezTo>
                <a:cubicBezTo>
                  <a:pt x="228948" y="24076"/>
                  <a:pt x="218998" y="22499"/>
                  <a:pt x="193353" y="28198"/>
                </a:cubicBezTo>
                <a:cubicBezTo>
                  <a:pt x="189208" y="29119"/>
                  <a:pt x="185414" y="31305"/>
                  <a:pt x="181269" y="32226"/>
                </a:cubicBezTo>
                <a:cubicBezTo>
                  <a:pt x="173296" y="33998"/>
                  <a:pt x="165109" y="34652"/>
                  <a:pt x="157100" y="36254"/>
                </a:cubicBezTo>
                <a:cubicBezTo>
                  <a:pt x="146445" y="38385"/>
                  <a:pt x="125230" y="44600"/>
                  <a:pt x="116818" y="48339"/>
                </a:cubicBezTo>
                <a:cubicBezTo>
                  <a:pt x="112394" y="50305"/>
                  <a:pt x="108884" y="53904"/>
                  <a:pt x="104733" y="56395"/>
                </a:cubicBezTo>
                <a:cubicBezTo>
                  <a:pt x="95450" y="61965"/>
                  <a:pt x="86219" y="67667"/>
                  <a:pt x="76536" y="72508"/>
                </a:cubicBezTo>
                <a:cubicBezTo>
                  <a:pt x="56656" y="82448"/>
                  <a:pt x="36254" y="91306"/>
                  <a:pt x="16113" y="100705"/>
                </a:cubicBezTo>
                <a:cubicBezTo>
                  <a:pt x="11659" y="109612"/>
                  <a:pt x="0" y="128560"/>
                  <a:pt x="0" y="140987"/>
                </a:cubicBezTo>
                <a:cubicBezTo>
                  <a:pt x="0" y="151197"/>
                  <a:pt x="907" y="182176"/>
                  <a:pt x="12085" y="193354"/>
                </a:cubicBezTo>
                <a:cubicBezTo>
                  <a:pt x="16331" y="197600"/>
                  <a:pt x="23393" y="197807"/>
                  <a:pt x="28197" y="201410"/>
                </a:cubicBezTo>
                <a:cubicBezTo>
                  <a:pt x="63584" y="227951"/>
                  <a:pt x="22269" y="210176"/>
                  <a:pt x="68479" y="225579"/>
                </a:cubicBezTo>
                <a:cubicBezTo>
                  <a:pt x="73850" y="229607"/>
                  <a:pt x="79434" y="233366"/>
                  <a:pt x="84592" y="237664"/>
                </a:cubicBezTo>
                <a:cubicBezTo>
                  <a:pt x="87510" y="240095"/>
                  <a:pt x="91728" y="242036"/>
                  <a:pt x="92649" y="245720"/>
                </a:cubicBezTo>
                <a:cubicBezTo>
                  <a:pt x="94603" y="253536"/>
                  <a:pt x="55723" y="279288"/>
                  <a:pt x="48338" y="28600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15B671-AB3B-E656-A1BC-051BC9E57035}"/>
                  </a:ext>
                </a:extLst>
              </p:cNvPr>
              <p:cNvSpPr>
                <a:spLocks noGrp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4215768" cy="4250131"/>
              </a:xfrm>
            </p:spPr>
            <p:txBody>
              <a:bodyPr>
                <a:noAutofit/>
              </a:bodyPr>
              <a:lstStyle/>
              <a:p>
                <a:r>
                  <a:rPr lang="en-US" sz="1800">
                    <a:solidFill>
                      <a:schemeClr val="tx1"/>
                    </a:solidFill>
                  </a:rPr>
                  <a:t>Choose appropriate proxy functions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sz="180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</m:oMath>
                </a14:m>
                <a:r>
                  <a:rPr lang="en-US" sz="1800">
                    <a:solidFill>
                      <a:schemeClr val="tx1"/>
                    </a:solidFill>
                  </a:rPr>
                  <a:t>, for a target cost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80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en-US" sz="1800">
                    <a:solidFill>
                      <a:schemeClr val="tx1"/>
                    </a:solidFill>
                  </a:rPr>
                  <a:t>Sort the classes </a:t>
                </a:r>
              </a:p>
              <a:p>
                <a:r>
                  <a:rPr lang="en-US" sz="1800">
                    <a:solidFill>
                      <a:schemeClr val="tx1"/>
                    </a:solidFill>
                  </a:rPr>
                  <a:t>Find the threshold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800">
                  <a:solidFill>
                    <a:schemeClr val="tx1"/>
                  </a:solidFill>
                </a:endParaRPr>
              </a:p>
              <a:p>
                <a:r>
                  <a:rPr lang="en-US" sz="1800">
                    <a:solidFill>
                      <a:schemeClr val="tx1"/>
                    </a:solidFill>
                  </a:rPr>
                  <a:t>Collect all calibration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>
                    <a:solidFill>
                      <a:schemeClr val="tx1"/>
                    </a:solidFill>
                  </a:rPr>
                  <a:t> </a:t>
                </a:r>
              </a:p>
              <a:p>
                <a:r>
                  <a:rPr lang="en-US" sz="1800">
                    <a:solidFill>
                      <a:schemeClr val="tx1"/>
                    </a:solidFill>
                  </a:rPr>
                  <a:t>Pick the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800">
                    <a:solidFill>
                      <a:schemeClr val="tx1"/>
                    </a:solidFill>
                  </a:rPr>
                  <a:t> for the next datum</a:t>
                </a:r>
              </a:p>
              <a:p>
                <a:r>
                  <a:rPr lang="en-US" sz="1800">
                    <a:solidFill>
                      <a:schemeClr val="tx1"/>
                    </a:solidFill>
                  </a:rPr>
                  <a:t>More details in </a:t>
                </a:r>
                <a:r>
                  <a:rPr lang="en-US" sz="1800">
                    <a:solidFill>
                      <a:schemeClr val="tx1"/>
                    </a:solidFill>
                    <a:hlinkClick r:id="rId3" action="ppaction://hlinksldjump"/>
                  </a:rPr>
                  <a:t>Appendix</a:t>
                </a:r>
                <a:r>
                  <a:rPr lang="en-US" sz="1800">
                    <a:solidFill>
                      <a:schemeClr val="tx1"/>
                    </a:solidFill>
                  </a:rPr>
                  <a:t> Including </a:t>
                </a:r>
                <a:r>
                  <a:rPr lang="en-US" sz="1800">
                    <a:solidFill>
                      <a:schemeClr val="tx1"/>
                    </a:solidFill>
                    <a:hlinkClick r:id="rId4" action="ppaction://hlinksldjump"/>
                  </a:rPr>
                  <a:t>Expectation Control</a:t>
                </a:r>
                <a:endParaRPr lang="en-US" sz="1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15B671-AB3B-E656-A1BC-051BC9E570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4215768" cy="4250131"/>
              </a:xfrm>
              <a:blipFill>
                <a:blip r:embed="rId5"/>
                <a:stretch>
                  <a:fillRect l="-867" t="-861" r="-1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1BA7D22-C9B7-B591-42EE-CA77A78EE6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B1E1D9F-BF99-3F7A-1EC3-DC8230A5281D}"/>
              </a:ext>
            </a:extLst>
          </p:cNvPr>
          <p:cNvGrpSpPr/>
          <p:nvPr/>
        </p:nvGrpSpPr>
        <p:grpSpPr>
          <a:xfrm>
            <a:off x="175581" y="6288458"/>
            <a:ext cx="10742356" cy="481701"/>
            <a:chOff x="175581" y="6288458"/>
            <a:chExt cx="10742356" cy="4817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06A0C74-401D-4A5D-4966-F3C7DF4E8CD1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39AEF2E-38DF-3544-5FA5-F09FB210F150}"/>
                </a:ext>
              </a:extLst>
            </p:cNvPr>
            <p:cNvSpPr/>
            <p:nvPr/>
          </p:nvSpPr>
          <p:spPr>
            <a:xfrm>
              <a:off x="2030891" y="6288743"/>
              <a:ext cx="1856232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CBD53CC-1595-9B02-EBBA-89AC723BBE5A}"/>
                </a:ext>
              </a:extLst>
            </p:cNvPr>
            <p:cNvSpPr/>
            <p:nvPr/>
          </p:nvSpPr>
          <p:spPr>
            <a:xfrm>
              <a:off x="3886662" y="6290224"/>
              <a:ext cx="5175504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Set:</a:t>
              </a:r>
            </a:p>
            <a:p>
              <a:pPr algn="ctr"/>
              <a:r>
                <a:rPr lang="en-US" sz="1600" b="1" err="1">
                  <a:solidFill>
                    <a:schemeClr val="tx1"/>
                  </a:solidFill>
                </a:rPr>
                <a:t>FavMac</a:t>
              </a:r>
              <a:r>
                <a:rPr lang="en-US" sz="1600" b="1">
                  <a:solidFill>
                    <a:schemeClr val="tx1"/>
                  </a:solidFill>
                </a:rPr>
                <a:t> (ICML’23)</a:t>
              </a:r>
              <a:r>
                <a:rPr lang="en-US" sz="1600">
                  <a:solidFill>
                    <a:schemeClr val="tx1"/>
                  </a:solidFill>
                </a:rPr>
                <a:t>, SCRIB (AAAI’22)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19A9925-D2FD-47C6-B2DC-95CD2B7BDF0A}"/>
                </a:ext>
              </a:extLst>
            </p:cNvPr>
            <p:cNvSpPr/>
            <p:nvPr/>
          </p:nvSpPr>
          <p:spPr>
            <a:xfrm>
              <a:off x="9061705" y="6288458"/>
              <a:ext cx="1856232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NLG</a:t>
              </a:r>
            </a:p>
          </p:txBody>
        </p:sp>
      </p:grpSp>
      <p:sp>
        <p:nvSpPr>
          <p:cNvPr id="4" name="Arrow: Right 3">
            <a:hlinkClick r:id="rId6" action="ppaction://hlinksldjump"/>
            <a:extLst>
              <a:ext uri="{FF2B5EF4-FFF2-40B4-BE49-F238E27FC236}">
                <a16:creationId xmlns:a16="http://schemas.microsoft.com/office/drawing/2014/main" id="{FA94C8A3-7A7B-4E1C-5B32-A5B568933066}"/>
              </a:ext>
            </a:extLst>
          </p:cNvPr>
          <p:cNvSpPr/>
          <p:nvPr/>
        </p:nvSpPr>
        <p:spPr>
          <a:xfrm rot="10800000">
            <a:off x="11446412" y="5831059"/>
            <a:ext cx="351692" cy="2180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881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7" grpId="0" animBg="1"/>
      <p:bldP spid="1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err="1"/>
              <a:t>FavMac</a:t>
            </a:r>
            <a:endParaRPr lang="en-US"/>
          </a:p>
          <a:p>
            <a:r>
              <a:rPr lang="en-US" sz="2400"/>
              <a:t>Method Overview</a:t>
            </a: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1CFA3FC7-8A50-DFAB-1FA5-38C6B3E467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r>
              <a:rPr lang="en-US" sz="1100" b="1">
                <a:latin typeface="Georgia" panose="02040502050405020303" pitchFamily="18" charset="0"/>
              </a:rPr>
              <a:t>Fast Online Value-Maximizing Prediction Sets with Conformal Cost Control (ICML 2023)</a:t>
            </a:r>
          </a:p>
          <a:p>
            <a:r>
              <a:rPr lang="en-US" sz="1100" b="1">
                <a:latin typeface="Georgia" panose="02040502050405020303" pitchFamily="18" charset="0"/>
              </a:rPr>
              <a:t>Zhen Lin, </a:t>
            </a:r>
            <a:r>
              <a:rPr lang="en-US" sz="1100">
                <a:latin typeface="Georgia" panose="02040502050405020303" pitchFamily="18" charset="0"/>
              </a:rPr>
              <a:t>Shubhendu Trivedi, Cao Xiao, Jimeng Sun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4BD7BE-1295-E348-A7C0-2AD3F6125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618" y="1842415"/>
            <a:ext cx="3124879" cy="544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8E611B-945A-0964-AB12-A91680E9E3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539" y="1767249"/>
            <a:ext cx="3040062" cy="5878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4">
                <a:extLst>
                  <a:ext uri="{FF2B5EF4-FFF2-40B4-BE49-F238E27FC236}">
                    <a16:creationId xmlns:a16="http://schemas.microsoft.com/office/drawing/2014/main" id="{B1C7124D-38D5-23A8-10BC-DB5AD42B3D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512888"/>
                <a:ext cx="10515600" cy="4489450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Choose a “proxy” function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depending on the cost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(similarly for value)</a:t>
                </a:r>
              </a:p>
              <a:p>
                <a:pPr marL="0" indent="0">
                  <a:buNone/>
                </a:pPr>
                <a:endParaRPr lang="en-US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Choose thresholds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(for proxy) basing on the calibration set</a:t>
                </a:r>
              </a:p>
              <a:p>
                <a:endParaRPr lang="en-US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Define the prediction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 </a:t>
                </a:r>
              </a:p>
              <a:p>
                <a:pPr lvl="1"/>
                <a:endParaRPr lang="en-US" i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𝒰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the “universe” from which we select prediction sets (e.g.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𝒴</m:t>
                        </m:r>
                      </m:sup>
                    </m:sSup>
                  </m:oMath>
                </a14:m>
                <a:r>
                  <a:rPr lang="en-US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pPr lvl="1"/>
                <a:r>
                  <a:rPr lang="en-US" b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en-US" b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hlinkClick r:id="rId5" action="ppaction://hlinksldjump"/>
                  </a:rPr>
                  <a:t>choice</a:t>
                </a:r>
                <a:r>
                  <a:rPr lang="en-US" b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𝓤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important to maximize value</a:t>
                </a:r>
              </a:p>
              <a:p>
                <a:pPr lvl="1"/>
                <a:endParaRPr lang="en-US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(Efficiency) Custom data structure “QuantileTree”</a:t>
                </a:r>
              </a:p>
              <a:p>
                <a:pPr lvl="1"/>
                <a:r>
                  <a:rPr lang="en-US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Each update: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𝑁𝑙𝑜𝑔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𝑙𝑜𝑔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</m:e>
                    </m:d>
                  </m:oMath>
                </a14:m>
                <a:endParaRPr lang="en-US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Text Placeholder 4">
                <a:extLst>
                  <a:ext uri="{FF2B5EF4-FFF2-40B4-BE49-F238E27FC236}">
                    <a16:creationId xmlns:a16="http://schemas.microsoft.com/office/drawing/2014/main" id="{B1C7124D-38D5-23A8-10BC-DB5AD42B3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12888"/>
                <a:ext cx="10515600" cy="4489450"/>
              </a:xfrm>
              <a:prstGeom prst="rect">
                <a:avLst/>
              </a:prstGeom>
              <a:blipFill>
                <a:blip r:embed="rId6"/>
                <a:stretch>
                  <a:fillRect l="-812" t="-3256" b="-19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D658194A-5B90-CEA6-BE11-D95A5BC162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67257" y="3761628"/>
            <a:ext cx="3801361" cy="523810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A742262F-F2A6-2BF6-9346-A7FC8B5987B6}"/>
              </a:ext>
            </a:extLst>
          </p:cNvPr>
          <p:cNvSpPr/>
          <p:nvPr/>
        </p:nvSpPr>
        <p:spPr>
          <a:xfrm>
            <a:off x="5246271" y="2024944"/>
            <a:ext cx="982494" cy="1167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C6ED4C3-37A5-66B5-FFBC-77E76B4362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6942" y="2609330"/>
            <a:ext cx="4552381" cy="61904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D171DE5-4954-16B8-B5E6-56DAD56864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7158" y="2653732"/>
            <a:ext cx="4847619" cy="5904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65509AD-A8D1-E8AC-C7E4-693E7A0B2AB6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1673"/>
          <a:stretch/>
        </p:blipFill>
        <p:spPr>
          <a:xfrm>
            <a:off x="1275443" y="3230674"/>
            <a:ext cx="4492068" cy="571429"/>
          </a:xfrm>
          <a:prstGeom prst="rect">
            <a:avLst/>
          </a:prstGeom>
        </p:spPr>
      </p:pic>
      <p:sp>
        <p:nvSpPr>
          <p:cNvPr id="3" name="Arrow: Right 2">
            <a:hlinkClick r:id="rId11" action="ppaction://hlinksldjump"/>
            <a:extLst>
              <a:ext uri="{FF2B5EF4-FFF2-40B4-BE49-F238E27FC236}">
                <a16:creationId xmlns:a16="http://schemas.microsoft.com/office/drawing/2014/main" id="{C6229F80-7601-B6DC-56BA-BBE746A934D5}"/>
              </a:ext>
            </a:extLst>
          </p:cNvPr>
          <p:cNvSpPr/>
          <p:nvPr/>
        </p:nvSpPr>
        <p:spPr>
          <a:xfrm rot="10800000">
            <a:off x="11446412" y="5831059"/>
            <a:ext cx="351692" cy="2180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316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err="1"/>
              <a:t>FavMac</a:t>
            </a:r>
            <a:endParaRPr lang="en-US"/>
          </a:p>
          <a:p>
            <a:r>
              <a:rPr lang="en-US" sz="2400"/>
              <a:t>Proxy Functions</a:t>
            </a: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1CFA3FC7-8A50-DFAB-1FA5-38C6B3E467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r>
              <a:rPr lang="en-US" sz="1100" b="1">
                <a:latin typeface="Georgia" panose="02040502050405020303" pitchFamily="18" charset="0"/>
              </a:rPr>
              <a:t>Fast Online Value-Maximizing Prediction Sets with Conformal Cost Control (ICML 2023)</a:t>
            </a:r>
          </a:p>
          <a:p>
            <a:r>
              <a:rPr lang="en-US" sz="1100" b="1">
                <a:latin typeface="Georgia" panose="02040502050405020303" pitchFamily="18" charset="0"/>
              </a:rPr>
              <a:t>Zhen Lin, </a:t>
            </a:r>
            <a:r>
              <a:rPr lang="en-US" sz="1100">
                <a:latin typeface="Georgia" panose="02040502050405020303" pitchFamily="18" charset="0"/>
              </a:rPr>
              <a:t>Shubhendu Trivedi, Cao Xiao, Jimeng Sun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44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4">
                <a:extLst>
                  <a:ext uri="{FF2B5EF4-FFF2-40B4-BE49-F238E27FC236}">
                    <a16:creationId xmlns:a16="http://schemas.microsoft.com/office/drawing/2014/main" id="{B306E30B-43A8-8A64-12EC-919DFED0FE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512888"/>
                <a:ext cx="10515600" cy="448945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/>
                  <a:t>Cost/Value functions take the form of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or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r>
                  <a:rPr lang="en-US"/>
                  <a:t>We don’t know Y, so can only use proxy functions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b="0"/>
              </a:p>
              <a:p>
                <a:r>
                  <a:rPr lang="en-US"/>
                  <a:t>For additive functions, such as </a:t>
                </a:r>
              </a:p>
              <a:p>
                <a:pPr marL="0" indent="0">
                  <a:buNone/>
                </a:pPr>
                <a:endParaRPr lang="en-US" sz="1800"/>
              </a:p>
              <a:p>
                <a:r>
                  <a:rPr lang="en-US"/>
                  <a:t>We can use 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In general, one could use Monte-Carlo for general functions, or directly train a model as proxy</a:t>
                </a:r>
              </a:p>
            </p:txBody>
          </p:sp>
        </mc:Choice>
        <mc:Fallback xmlns="">
          <p:sp>
            <p:nvSpPr>
              <p:cNvPr id="13" name="Text Placeholder 4">
                <a:extLst>
                  <a:ext uri="{FF2B5EF4-FFF2-40B4-BE49-F238E27FC236}">
                    <a16:creationId xmlns:a16="http://schemas.microsoft.com/office/drawing/2014/main" id="{B306E30B-43A8-8A64-12EC-919DFED0F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12888"/>
                <a:ext cx="10515600" cy="4489450"/>
              </a:xfrm>
              <a:prstGeom prst="rect">
                <a:avLst/>
              </a:prstGeom>
              <a:blipFill>
                <a:blip r:embed="rId2"/>
                <a:stretch>
                  <a:fillRect l="-1043" t="-2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21376F8-25BB-BB1D-53F8-DB840D1D1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619" y="3036926"/>
            <a:ext cx="3552381" cy="6190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3FEC1F-D640-FE25-A10C-A6A4DE93E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9287" y="3829155"/>
            <a:ext cx="3447619" cy="6666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99EA04-040B-B536-EF43-39B0DE8614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0088" y="5374644"/>
            <a:ext cx="3809524" cy="476190"/>
          </a:xfrm>
          <a:prstGeom prst="rect">
            <a:avLst/>
          </a:prstGeom>
        </p:spPr>
      </p:pic>
      <p:sp>
        <p:nvSpPr>
          <p:cNvPr id="3" name="Arrow: Right 2">
            <a:hlinkClick r:id="rId6" action="ppaction://hlinksldjump"/>
            <a:extLst>
              <a:ext uri="{FF2B5EF4-FFF2-40B4-BE49-F238E27FC236}">
                <a16:creationId xmlns:a16="http://schemas.microsoft.com/office/drawing/2014/main" id="{3110C7D9-00BC-DFF6-827F-8AAC659A87C1}"/>
              </a:ext>
            </a:extLst>
          </p:cNvPr>
          <p:cNvSpPr/>
          <p:nvPr/>
        </p:nvSpPr>
        <p:spPr>
          <a:xfrm rot="10800000">
            <a:off x="11446412" y="5831059"/>
            <a:ext cx="351692" cy="2180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2290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err="1"/>
              <a:t>FavMac</a:t>
            </a:r>
            <a:endParaRPr lang="en-US"/>
          </a:p>
          <a:p>
            <a:r>
              <a:rPr lang="en-US" sz="2400"/>
              <a:t>(Expected) Cost Control</a:t>
            </a: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1CFA3FC7-8A50-DFAB-1FA5-38C6B3E467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r>
              <a:rPr lang="en-US" sz="1100" b="1">
                <a:latin typeface="Georgia" panose="02040502050405020303" pitchFamily="18" charset="0"/>
              </a:rPr>
              <a:t>Fast Online Value-Maximizing Prediction Sets with Conformal Cost Control (ICML 2023)</a:t>
            </a:r>
          </a:p>
          <a:p>
            <a:r>
              <a:rPr lang="en-US" sz="1100" b="1">
                <a:latin typeface="Georgia" panose="02040502050405020303" pitchFamily="18" charset="0"/>
              </a:rPr>
              <a:t>Zhen Lin, </a:t>
            </a:r>
            <a:r>
              <a:rPr lang="en-US" sz="1100">
                <a:latin typeface="Georgia" panose="02040502050405020303" pitchFamily="18" charset="0"/>
              </a:rPr>
              <a:t>Shubhendu Trivedi, Cao Xiao, Jimeng Sun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45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4">
                <a:extLst>
                  <a:ext uri="{FF2B5EF4-FFF2-40B4-BE49-F238E27FC236}">
                    <a16:creationId xmlns:a16="http://schemas.microsoft.com/office/drawing/2014/main" id="{9183488A-EE77-E0E8-E99D-3A8FD3F31EE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512888"/>
                <a:ext cx="10515600" cy="4489450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/>
                  <a:t>For any threshold</a:t>
                </a:r>
                <a:r>
                  <a:rPr lang="en-US" b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/>
                  <a:t>, define </a:t>
                </a:r>
              </a:p>
              <a:p>
                <a:pPr lvl="1"/>
                <a:r>
                  <a:rPr lang="en-US"/>
                  <a:t>“Max cost given threshold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/>
                  <a:t>” – is increasing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/>
              </a:p>
              <a:p>
                <a:r>
                  <a:rPr lang="en-US"/>
                  <a:t>Now, we choose the (random) threshold </a:t>
                </a:r>
                <a:endParaRPr lang="en-US" b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1800"/>
                  <a:t> is the upper bound of cost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1800"/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We then use the value proxy to pick the final prediction set, as long as its cost proxy is below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Violation control is very similar, except for a different threshold.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Text Placeholder 4">
                <a:extLst>
                  <a:ext uri="{FF2B5EF4-FFF2-40B4-BE49-F238E27FC236}">
                    <a16:creationId xmlns:a16="http://schemas.microsoft.com/office/drawing/2014/main" id="{9183488A-EE77-E0E8-E99D-3A8FD3F31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12888"/>
                <a:ext cx="10515600" cy="4489450"/>
              </a:xfrm>
              <a:prstGeom prst="rect">
                <a:avLst/>
              </a:prstGeom>
              <a:blipFill>
                <a:blip r:embed="rId2"/>
                <a:stretch>
                  <a:fillRect l="-1043" t="-3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BE44FDC-1855-33BC-815A-74BBB32211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673"/>
          <a:stretch/>
        </p:blipFill>
        <p:spPr>
          <a:xfrm>
            <a:off x="5295901" y="1389420"/>
            <a:ext cx="4492068" cy="5714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2BB924-BC87-8FD8-9C21-3388975F2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5673" y="2268423"/>
            <a:ext cx="4638095" cy="6761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F60656-E644-B72B-E647-FF059236A6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2495" y="4324624"/>
            <a:ext cx="4723809" cy="69523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B061ACF-2A50-6BD1-91AB-652ACD97C21A}"/>
              </a:ext>
            </a:extLst>
          </p:cNvPr>
          <p:cNvSpPr/>
          <p:nvPr/>
        </p:nvSpPr>
        <p:spPr>
          <a:xfrm>
            <a:off x="6711950" y="1663700"/>
            <a:ext cx="450850" cy="2507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403CE3-C858-0330-2DCC-851F422DD367}"/>
              </a:ext>
            </a:extLst>
          </p:cNvPr>
          <p:cNvSpPr/>
          <p:nvPr/>
        </p:nvSpPr>
        <p:spPr>
          <a:xfrm>
            <a:off x="4845050" y="4680066"/>
            <a:ext cx="806449" cy="2919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hlinkClick r:id="rId6" action="ppaction://hlinksldjump"/>
            <a:extLst>
              <a:ext uri="{FF2B5EF4-FFF2-40B4-BE49-F238E27FC236}">
                <a16:creationId xmlns:a16="http://schemas.microsoft.com/office/drawing/2014/main" id="{274FDA47-A1F4-FEF5-BEE2-7792F6965286}"/>
              </a:ext>
            </a:extLst>
          </p:cNvPr>
          <p:cNvSpPr/>
          <p:nvPr/>
        </p:nvSpPr>
        <p:spPr>
          <a:xfrm rot="10800000">
            <a:off x="11446412" y="5831059"/>
            <a:ext cx="351692" cy="2180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149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87081B1-EFD7-9F4D-B963-BFEA8369181C}"/>
                  </a:ext>
                </a:extLst>
              </p:cNvPr>
              <p:cNvSpPr>
                <a:spLocks noGrp="1"/>
              </p:cNvSpPr>
              <p:nvPr>
                <p:ph type="body" sz="quarter" idx="18"/>
              </p:nvPr>
            </p:nvSpPr>
            <p:spPr/>
            <p:txBody>
              <a:bodyPr/>
              <a:lstStyle/>
              <a:p>
                <a:r>
                  <a:rPr lang="en-US" err="1"/>
                  <a:t>FavMac</a:t>
                </a:r>
                <a:endParaRPr lang="en-US"/>
              </a:p>
              <a:p>
                <a:r>
                  <a:rPr lang="en-US" sz="2400"/>
                  <a:t>Choice of Universe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𝒰</m:t>
                    </m:r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87081B1-EFD7-9F4D-B963-BFEA836918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8"/>
              </p:nvPr>
            </p:nvSpPr>
            <p:spPr>
              <a:blipFill>
                <a:blip r:embed="rId3"/>
                <a:stretch>
                  <a:fillRect l="-1470"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1CFA3FC7-8A50-DFAB-1FA5-38C6B3E467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r>
              <a:rPr lang="en-US" sz="1100" b="1">
                <a:latin typeface="Georgia" panose="02040502050405020303" pitchFamily="18" charset="0"/>
              </a:rPr>
              <a:t>Fast Online Value-Maximizing Prediction Sets with Conformal Cost Control (ICML 2023)</a:t>
            </a:r>
          </a:p>
          <a:p>
            <a:r>
              <a:rPr lang="en-US" sz="1100" b="1">
                <a:latin typeface="Georgia" panose="02040502050405020303" pitchFamily="18" charset="0"/>
              </a:rPr>
              <a:t>Zhen Lin, </a:t>
            </a:r>
            <a:r>
              <a:rPr lang="en-US" sz="1100">
                <a:latin typeface="Georgia" panose="02040502050405020303" pitchFamily="18" charset="0"/>
              </a:rPr>
              <a:t>Shubhendu Trivedi, Cao Xiao, Jimeng Sun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46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4">
                <a:extLst>
                  <a:ext uri="{FF2B5EF4-FFF2-40B4-BE49-F238E27FC236}">
                    <a16:creationId xmlns:a16="http://schemas.microsoft.com/office/drawing/2014/main" id="{635441C8-D18B-3BDE-C65F-258E72A235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512888"/>
                <a:ext cx="10515600" cy="448945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/>
                  <a:t>The performance of </a:t>
                </a:r>
                <a:r>
                  <a:rPr lang="en-US" sz="1800" err="1"/>
                  <a:t>FavMac</a:t>
                </a:r>
                <a:r>
                  <a:rPr lang="en-US" sz="1800"/>
                  <a:t> significantly depends on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𝒰</m:t>
                    </m:r>
                  </m:oMath>
                </a14:m>
                <a:endParaRPr lang="en-US" sz="1800"/>
              </a:p>
              <a:p>
                <a:r>
                  <a:rPr lang="en-US" sz="1800" b="1"/>
                  <a:t>The Full Universe: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𝒰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𝒴</m:t>
                          </m:r>
                        </m:sup>
                      </m:sSup>
                    </m:oMath>
                  </m:oMathPara>
                </a14:m>
                <a:endParaRPr lang="en-US" sz="1800"/>
              </a:p>
              <a:p>
                <a:pPr lvl="1"/>
                <a:r>
                  <a:rPr lang="en-US" sz="1800"/>
                  <a:t>This is not necessarily ideal, because we control the *max* cost within the universe, so a very big universe can lead to conservative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</m:oMath>
                </a14:m>
                <a:r>
                  <a:rPr lang="en-US" sz="1800"/>
                  <a:t> (with very low cost)</a:t>
                </a:r>
              </a:p>
              <a:p>
                <a:r>
                  <a:rPr lang="en-US" sz="1800" b="1"/>
                  <a:t>The Greedy Sequence</a:t>
                </a:r>
                <a:r>
                  <a:rPr lang="en-US" sz="1800"/>
                  <a:t>:</a:t>
                </a:r>
              </a:p>
              <a:p>
                <a:pPr lvl="1"/>
                <a:r>
                  <a:rPr lang="en-US" sz="1800"/>
                  <a:t>Starting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b>
                    </m:sSub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1800"/>
                  <a:t>,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=0,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…,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800" b="0"/>
                  <a:t>, we gradually add the class with the largest probability </a:t>
                </a:r>
              </a:p>
              <a:p>
                <a:pPr lvl="1"/>
                <a:r>
                  <a:rPr lang="en-US" sz="1800"/>
                  <a:t>Mathematically, this means (with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1800"/>
                  <a:t> denoting the j-</a:t>
                </a:r>
                <a:r>
                  <a:rPr lang="en-US" sz="1800" err="1"/>
                  <a:t>th</a:t>
                </a:r>
                <a:r>
                  <a:rPr lang="en-US" sz="1800"/>
                  <a:t> element in a permutation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1800"/>
                  <a:t>):</a:t>
                </a:r>
                <a:endParaRPr lang="en-US" sz="1800" b="0"/>
              </a:p>
              <a:p>
                <a:pPr marL="457200" lvl="1" indent="0">
                  <a:buNone/>
                </a:pPr>
                <a:r>
                  <a:rPr lang="en-US" sz="1800" b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18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sz="1800" b="0" i="0" smtClean="0">
                            <a:latin typeface="Cambria Math" panose="02040503050406030204" pitchFamily="18" charset="0"/>
                          </a:rPr>
                          <m:t>+1)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18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sz="18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∪{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𝑃𝑟𝑜𝑏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+1;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en-US" sz="180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𝑃𝑟𝑜𝑏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𝑎𝑟𝑔𝑠𝑜𝑟𝑡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(−</m:t>
                    </m:r>
                    <m:acc>
                      <m:accPr>
                        <m:chr m:val="̂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acc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1800"/>
              </a:p>
              <a:p>
                <a:r>
                  <a:rPr lang="en-US" sz="1800" b="1"/>
                  <a:t>The Greedy Ratio Sequence: </a:t>
                </a:r>
              </a:p>
              <a:p>
                <a:pPr lvl="1"/>
                <a:r>
                  <a:rPr lang="en-US" sz="1800"/>
                  <a:t>Add the class that maximizes the value/cost ratio (instead of max probability)</a:t>
                </a:r>
                <a:endParaRPr lang="en-US" sz="1800" b="0"/>
              </a:p>
              <a:p>
                <a:pPr lvl="1"/>
                <a:endParaRPr lang="en-US" sz="1800"/>
              </a:p>
              <a:p>
                <a:endParaRPr lang="en-US" sz="1800"/>
              </a:p>
              <a:p>
                <a:endParaRPr lang="en-US" sz="1800"/>
              </a:p>
              <a:p>
                <a:endParaRPr lang="en-US" sz="1800"/>
              </a:p>
            </p:txBody>
          </p:sp>
        </mc:Choice>
        <mc:Fallback xmlns="">
          <p:sp>
            <p:nvSpPr>
              <p:cNvPr id="3" name="Text Placeholder 4">
                <a:extLst>
                  <a:ext uri="{FF2B5EF4-FFF2-40B4-BE49-F238E27FC236}">
                    <a16:creationId xmlns:a16="http://schemas.microsoft.com/office/drawing/2014/main" id="{635441C8-D18B-3BDE-C65F-258E72A23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12888"/>
                <a:ext cx="10515600" cy="4489450"/>
              </a:xfrm>
              <a:prstGeom prst="rect">
                <a:avLst/>
              </a:prstGeom>
              <a:blipFill>
                <a:blip r:embed="rId4"/>
                <a:stretch>
                  <a:fillRect l="-406" t="-1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2F15480F-1DB3-2C11-3867-07A958745D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6931" y="4997478"/>
            <a:ext cx="5047619" cy="466667"/>
          </a:xfrm>
          <a:prstGeom prst="rect">
            <a:avLst/>
          </a:prstGeom>
        </p:spPr>
      </p:pic>
      <p:sp>
        <p:nvSpPr>
          <p:cNvPr id="6" name="Arrow: Right 5">
            <a:hlinkClick r:id="rId6" action="ppaction://hlinksldjump"/>
            <a:extLst>
              <a:ext uri="{FF2B5EF4-FFF2-40B4-BE49-F238E27FC236}">
                <a16:creationId xmlns:a16="http://schemas.microsoft.com/office/drawing/2014/main" id="{C5AC1C58-1A27-55E0-48AF-123F0B91EE0F}"/>
              </a:ext>
            </a:extLst>
          </p:cNvPr>
          <p:cNvSpPr/>
          <p:nvPr/>
        </p:nvSpPr>
        <p:spPr>
          <a:xfrm rot="10800000">
            <a:off x="11446412" y="5831059"/>
            <a:ext cx="351692" cy="2180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6917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err="1"/>
              <a:t>FavMac</a:t>
            </a:r>
            <a:endParaRPr lang="en-US"/>
          </a:p>
          <a:p>
            <a:r>
              <a:rPr lang="en-US" sz="2400"/>
              <a:t>Theoretical Guarantee</a:t>
            </a: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1CFA3FC7-8A50-DFAB-1FA5-38C6B3E467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r>
              <a:rPr lang="en-US" sz="1100" b="1">
                <a:latin typeface="Georgia" panose="02040502050405020303" pitchFamily="18" charset="0"/>
              </a:rPr>
              <a:t>Fast Online Value-Maximizing Prediction Sets with Conformal Cost Control (ICML 2023)</a:t>
            </a:r>
          </a:p>
          <a:p>
            <a:r>
              <a:rPr lang="en-US" sz="1100" b="1">
                <a:latin typeface="Georgia" panose="02040502050405020303" pitchFamily="18" charset="0"/>
              </a:rPr>
              <a:t>Zhen Lin, </a:t>
            </a:r>
            <a:r>
              <a:rPr lang="en-US" sz="1100">
                <a:latin typeface="Georgia" panose="02040502050405020303" pitchFamily="18" charset="0"/>
              </a:rPr>
              <a:t>Shubhendu Trivedi, Cao Xiao, Jimeng Sun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51E23-D53E-FC31-5355-D34454E3A8C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4228" y="1467623"/>
            <a:ext cx="10370191" cy="4250131"/>
          </a:xfrm>
        </p:spPr>
        <p:txBody>
          <a:bodyPr>
            <a:no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briefly present the theoretical guarantees </a:t>
            </a:r>
          </a:p>
          <a:p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Roughly speaking, if our calibration data is </a:t>
            </a: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i.i.d.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the test data, we satisfy the expected cost control or violation control constraint.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7674A0-89A8-8060-B220-DB1785F1E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513" y="4187963"/>
            <a:ext cx="6047619" cy="10952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01A839-78CA-BD8B-62AB-1827E2F80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3512" y="2808675"/>
            <a:ext cx="6247619" cy="12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2300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7081B1-EFD7-9F4D-B963-BFEA836918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Efficient Online Update with Quantile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15B671-AB3B-E656-A1BC-051BC9E57035}"/>
                  </a:ext>
                </a:extLst>
              </p:cNvPr>
              <p:cNvSpPr>
                <a:spLocks noGrp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6162588" cy="4250131"/>
              </a:xfrm>
            </p:spPr>
            <p:txBody>
              <a:bodyPr>
                <a:noAutofit/>
              </a:bodyPr>
              <a:lstStyle/>
              <a:p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Thresholds are essentially weighted quantiles </a:t>
                </a:r>
              </a:p>
              <a:p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We propose QuantileTree, which queries/updates weighted CDF and inverse CDF in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𝑂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𝑙𝑜𝑔𝑁</m:t>
                        </m:r>
                      </m:e>
                    </m:d>
                  </m:oMath>
                </a14:m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time</a:t>
                </a:r>
              </a:p>
              <a:p>
                <a:pPr lvl="1"/>
                <a:endParaRPr lang="en-US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15B671-AB3B-E656-A1BC-051BC9E570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6162588" cy="4250131"/>
              </a:xfrm>
              <a:blipFill>
                <a:blip r:embed="rId3"/>
                <a:stretch>
                  <a:fillRect l="-593" t="-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A383573-60F8-A42C-24CB-CCD9C9E7B8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48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738F4D6-B0A2-DBCB-F02B-116200246DAE}"/>
              </a:ext>
            </a:extLst>
          </p:cNvPr>
          <p:cNvGrpSpPr/>
          <p:nvPr/>
        </p:nvGrpSpPr>
        <p:grpSpPr>
          <a:xfrm>
            <a:off x="5881163" y="1428753"/>
            <a:ext cx="5436948" cy="3025184"/>
            <a:chOff x="5881163" y="1428753"/>
            <a:chExt cx="5436948" cy="302518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59B7FF1-C653-936B-CB5B-8132A522FD69}"/>
                </a:ext>
              </a:extLst>
            </p:cNvPr>
            <p:cNvGrpSpPr/>
            <p:nvPr/>
          </p:nvGrpSpPr>
          <p:grpSpPr>
            <a:xfrm>
              <a:off x="7859677" y="1428753"/>
              <a:ext cx="3458434" cy="3025184"/>
              <a:chOff x="7859677" y="1428753"/>
              <a:chExt cx="3458434" cy="3025184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80CEEAFB-9165-F8E8-49E7-E52A1D6502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59677" y="1428753"/>
                <a:ext cx="3458434" cy="47029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95774DA-AD2F-7516-A2B6-144017CEFF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27585" y="1927240"/>
                <a:ext cx="3390526" cy="2526697"/>
              </a:xfrm>
              <a:prstGeom prst="rect">
                <a:avLst/>
              </a:prstGeom>
            </p:spPr>
          </p:pic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4E6FC16-8D22-F725-381E-04E24F7C7200}"/>
                </a:ext>
              </a:extLst>
            </p:cNvPr>
            <p:cNvCxnSpPr/>
            <p:nvPr/>
          </p:nvCxnSpPr>
          <p:spPr>
            <a:xfrm>
              <a:off x="5881163" y="1663898"/>
              <a:ext cx="2122858" cy="3387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F60C29BB-4988-4669-28D3-7FD1A584F5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0052" y="2537639"/>
            <a:ext cx="3891856" cy="209429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441BA99-5690-AF6E-3748-224E35D37CF0}"/>
              </a:ext>
            </a:extLst>
          </p:cNvPr>
          <p:cNvGrpSpPr/>
          <p:nvPr/>
        </p:nvGrpSpPr>
        <p:grpSpPr>
          <a:xfrm>
            <a:off x="259362" y="4060420"/>
            <a:ext cx="6736152" cy="1817259"/>
            <a:chOff x="259362" y="4060420"/>
            <a:chExt cx="6736152" cy="181725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458FB07-E10C-7318-C863-A77A951C9E69}"/>
                </a:ext>
              </a:extLst>
            </p:cNvPr>
            <p:cNvGrpSpPr/>
            <p:nvPr/>
          </p:nvGrpSpPr>
          <p:grpSpPr>
            <a:xfrm>
              <a:off x="259362" y="4060420"/>
              <a:ext cx="6736152" cy="1607851"/>
              <a:chOff x="259362" y="4060420"/>
              <a:chExt cx="6736152" cy="1607851"/>
            </a:xfrm>
          </p:grpSpPr>
          <p:pic>
            <p:nvPicPr>
              <p:cNvPr id="2050" name="Picture 2" descr="Red-Black Tree | Brilliant Math &amp; Science Wiki">
                <a:extLst>
                  <a:ext uri="{FF2B5EF4-FFF2-40B4-BE49-F238E27FC236}">
                    <a16:creationId xmlns:a16="http://schemas.microsoft.com/office/drawing/2014/main" id="{816879AA-C7FE-E3FF-1382-9C56C3159C4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9362" y="4060420"/>
                <a:ext cx="1517366" cy="16078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2" name="Picture 4" descr="Segment Trees - Algorithmica">
                <a:extLst>
                  <a:ext uri="{FF2B5EF4-FFF2-40B4-BE49-F238E27FC236}">
                    <a16:creationId xmlns:a16="http://schemas.microsoft.com/office/drawing/2014/main" id="{72A21512-7304-D9CE-96BE-48D165B9782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46916" y="4171621"/>
                <a:ext cx="2766276" cy="13854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Equals 12">
                <a:extLst>
                  <a:ext uri="{FF2B5EF4-FFF2-40B4-BE49-F238E27FC236}">
                    <a16:creationId xmlns:a16="http://schemas.microsoft.com/office/drawing/2014/main" id="{76A46AAB-CDDE-B19F-FCF0-6319BD0FE7CC}"/>
                  </a:ext>
                </a:extLst>
              </p:cNvPr>
              <p:cNvSpPr/>
              <p:nvPr/>
            </p:nvSpPr>
            <p:spPr>
              <a:xfrm>
                <a:off x="5091520" y="4749241"/>
                <a:ext cx="443101" cy="342396"/>
              </a:xfrm>
              <a:prstGeom prst="mathEqual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Plus Sign 13">
                <a:extLst>
                  <a:ext uri="{FF2B5EF4-FFF2-40B4-BE49-F238E27FC236}">
                    <a16:creationId xmlns:a16="http://schemas.microsoft.com/office/drawing/2014/main" id="{573E9B11-561B-13E2-0A83-8FDC1834724A}"/>
                  </a:ext>
                </a:extLst>
              </p:cNvPr>
              <p:cNvSpPr/>
              <p:nvPr/>
            </p:nvSpPr>
            <p:spPr>
              <a:xfrm>
                <a:off x="1740147" y="4729099"/>
                <a:ext cx="420122" cy="362538"/>
              </a:xfrm>
              <a:prstGeom prst="mathPlus">
                <a:avLst>
                  <a:gd name="adj1" fmla="val 12409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E31550-D455-6AD6-7C64-DBC8C3FD10F6}"/>
                  </a:ext>
                </a:extLst>
              </p:cNvPr>
              <p:cNvSpPr txBox="1"/>
              <p:nvPr/>
            </p:nvSpPr>
            <p:spPr>
              <a:xfrm>
                <a:off x="5549284" y="4722305"/>
                <a:ext cx="14462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QuantileTree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99660A6-ACE4-F597-E793-AB328F5ED055}"/>
                </a:ext>
              </a:extLst>
            </p:cNvPr>
            <p:cNvSpPr txBox="1"/>
            <p:nvPr/>
          </p:nvSpPr>
          <p:spPr>
            <a:xfrm>
              <a:off x="374812" y="5508347"/>
              <a:ext cx="42755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Red-Black Tree                 Segmentation Tree</a:t>
              </a:r>
            </a:p>
          </p:txBody>
        </p:sp>
      </p:grp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2E79F13-D797-2516-7903-7360A191C0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F2851BF-EAB9-509D-AE97-3C2526BD8EA2}"/>
              </a:ext>
            </a:extLst>
          </p:cNvPr>
          <p:cNvGrpSpPr/>
          <p:nvPr/>
        </p:nvGrpSpPr>
        <p:grpSpPr>
          <a:xfrm>
            <a:off x="175581" y="6288458"/>
            <a:ext cx="10742356" cy="481701"/>
            <a:chOff x="175581" y="6288458"/>
            <a:chExt cx="10742356" cy="48170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0C92739-BF3E-222D-6777-F2478EFDB6AD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2EBC8F1-9C82-93BE-39E6-C70566AA30CA}"/>
                </a:ext>
              </a:extLst>
            </p:cNvPr>
            <p:cNvSpPr/>
            <p:nvPr/>
          </p:nvSpPr>
          <p:spPr>
            <a:xfrm>
              <a:off x="2030891" y="6288743"/>
              <a:ext cx="1856232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2AD033B-7C5C-D309-A7DD-CF8413A8438C}"/>
                </a:ext>
              </a:extLst>
            </p:cNvPr>
            <p:cNvSpPr/>
            <p:nvPr/>
          </p:nvSpPr>
          <p:spPr>
            <a:xfrm>
              <a:off x="3886662" y="6290224"/>
              <a:ext cx="5175504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Set:</a:t>
              </a:r>
            </a:p>
            <a:p>
              <a:pPr algn="ctr"/>
              <a:r>
                <a:rPr lang="en-US" sz="1600" b="1" err="1">
                  <a:solidFill>
                    <a:schemeClr val="tx1"/>
                  </a:solidFill>
                </a:rPr>
                <a:t>FavMac</a:t>
              </a:r>
              <a:r>
                <a:rPr lang="en-US" sz="1600" b="1">
                  <a:solidFill>
                    <a:schemeClr val="tx1"/>
                  </a:solidFill>
                </a:rPr>
                <a:t> (ICML’23)</a:t>
              </a:r>
              <a:r>
                <a:rPr lang="en-US" sz="1600">
                  <a:solidFill>
                    <a:schemeClr val="tx1"/>
                  </a:solidFill>
                </a:rPr>
                <a:t>, SCRIB (AAAI’22)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3968AF7-320C-0590-62EA-D224258D691B}"/>
                </a:ext>
              </a:extLst>
            </p:cNvPr>
            <p:cNvSpPr/>
            <p:nvPr/>
          </p:nvSpPr>
          <p:spPr>
            <a:xfrm>
              <a:off x="9061705" y="6288458"/>
              <a:ext cx="1856232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NLG</a:t>
              </a:r>
            </a:p>
          </p:txBody>
        </p:sp>
      </p:grpSp>
      <p:sp>
        <p:nvSpPr>
          <p:cNvPr id="4" name="Arrow: Right 3">
            <a:hlinkClick r:id="rId9" action="ppaction://hlinksldjump"/>
            <a:extLst>
              <a:ext uri="{FF2B5EF4-FFF2-40B4-BE49-F238E27FC236}">
                <a16:creationId xmlns:a16="http://schemas.microsoft.com/office/drawing/2014/main" id="{B0DE0AF6-06A4-03DF-2297-AE9BCFD902C1}"/>
              </a:ext>
            </a:extLst>
          </p:cNvPr>
          <p:cNvSpPr/>
          <p:nvPr/>
        </p:nvSpPr>
        <p:spPr>
          <a:xfrm rot="10800000">
            <a:off x="11446412" y="5831059"/>
            <a:ext cx="351692" cy="2180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928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9E4F-199E-B2FF-8FBD-BF63411F5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61C198-A24A-A5AB-9DDA-6C86887F48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SCRIB: Set-classifier with Class-specific Risk Bound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4113BE-F060-DD4E-4ECB-2FBA0CB5A1B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4228" y="1467623"/>
            <a:ext cx="10370191" cy="4250131"/>
          </a:xfrm>
        </p:spPr>
        <p:txBody>
          <a:bodyPr>
            <a:noAutofit/>
          </a:bodyPr>
          <a:lstStyle/>
          <a:p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C6831065-423E-AADC-34CE-45600AEB0F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F8AF7A5B-1D9D-A498-DE60-59E6D8FC797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49</a:t>
            </a:fld>
            <a:endParaRPr lang="en-US"/>
          </a:p>
        </p:txBody>
      </p:sp>
      <p:pic>
        <p:nvPicPr>
          <p:cNvPr id="7" name="Picture 6" descr="A graph of a graph showing a number of numbers&#10;&#10;Description automatically generated with medium confidence">
            <a:extLst>
              <a:ext uri="{FF2B5EF4-FFF2-40B4-BE49-F238E27FC236}">
                <a16:creationId xmlns:a16="http://schemas.microsoft.com/office/drawing/2014/main" id="{FFCAD713-AEFC-9238-BEA2-A86659D5D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350" y="3667496"/>
            <a:ext cx="2231111" cy="2396691"/>
          </a:xfrm>
          <a:prstGeom prst="rect">
            <a:avLst/>
          </a:prstGeom>
        </p:spPr>
      </p:pic>
      <p:sp>
        <p:nvSpPr>
          <p:cNvPr id="10" name="Cube 9">
            <a:extLst>
              <a:ext uri="{FF2B5EF4-FFF2-40B4-BE49-F238E27FC236}">
                <a16:creationId xmlns:a16="http://schemas.microsoft.com/office/drawing/2014/main" id="{BDC586BA-476D-C3D9-6C13-A2E74E9D9413}"/>
              </a:ext>
            </a:extLst>
          </p:cNvPr>
          <p:cNvSpPr/>
          <p:nvPr/>
        </p:nvSpPr>
        <p:spPr>
          <a:xfrm>
            <a:off x="3775582" y="2504012"/>
            <a:ext cx="1356054" cy="1599058"/>
          </a:xfrm>
          <a:prstGeom prst="cub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Base Classifier</a:t>
            </a:r>
          </a:p>
          <a:p>
            <a:pPr algn="ctr"/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D48EE3-F3B1-827F-40EF-F193E61C3C54}"/>
              </a:ext>
            </a:extLst>
          </p:cNvPr>
          <p:cNvSpPr txBox="1"/>
          <p:nvPr/>
        </p:nvSpPr>
        <p:spPr>
          <a:xfrm>
            <a:off x="9038020" y="2402760"/>
            <a:ext cx="1668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Predict: {Wake}</a:t>
            </a:r>
          </a:p>
        </p:txBody>
      </p:sp>
      <p:sp>
        <p:nvSpPr>
          <p:cNvPr id="21" name="Cube 20">
            <a:extLst>
              <a:ext uri="{FF2B5EF4-FFF2-40B4-BE49-F238E27FC236}">
                <a16:creationId xmlns:a16="http://schemas.microsoft.com/office/drawing/2014/main" id="{474053DF-576C-0453-7BB2-E8630E48F0EF}"/>
              </a:ext>
            </a:extLst>
          </p:cNvPr>
          <p:cNvSpPr/>
          <p:nvPr/>
        </p:nvSpPr>
        <p:spPr>
          <a:xfrm>
            <a:off x="7340745" y="2464090"/>
            <a:ext cx="1231346" cy="1599057"/>
          </a:xfrm>
          <a:prstGeom prst="cub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SCRIB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14C4B50-5620-1410-A2BA-8FA4DA04CBE4}"/>
              </a:ext>
            </a:extLst>
          </p:cNvPr>
          <p:cNvCxnSpPr>
            <a:cxnSpLocks/>
          </p:cNvCxnSpPr>
          <p:nvPr/>
        </p:nvCxnSpPr>
        <p:spPr>
          <a:xfrm>
            <a:off x="3329040" y="2662278"/>
            <a:ext cx="2012626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65E8BF4-00EE-0799-353B-FFF94D53871D}"/>
              </a:ext>
            </a:extLst>
          </p:cNvPr>
          <p:cNvCxnSpPr>
            <a:cxnSpLocks/>
          </p:cNvCxnSpPr>
          <p:nvPr/>
        </p:nvCxnSpPr>
        <p:spPr>
          <a:xfrm>
            <a:off x="3283102" y="4047729"/>
            <a:ext cx="210450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B84188D-D7C5-B49B-DABF-21D2D3FD27B4}"/>
                  </a:ext>
                </a:extLst>
              </p:cNvPr>
              <p:cNvSpPr txBox="1"/>
              <p:nvPr/>
            </p:nvSpPr>
            <p:spPr>
              <a:xfrm>
                <a:off x="5367750" y="1376139"/>
                <a:ext cx="15922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Predicted probabilities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B84188D-D7C5-B49B-DABF-21D2D3FD2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750" y="1376139"/>
                <a:ext cx="1592295" cy="523220"/>
              </a:xfrm>
              <a:prstGeom prst="rect">
                <a:avLst/>
              </a:prstGeom>
              <a:blipFill>
                <a:blip r:embed="rId3"/>
                <a:stretch>
                  <a:fillRect l="-383" t="-1163" r="-2682" b="-5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Picture 40">
            <a:extLst>
              <a:ext uri="{FF2B5EF4-FFF2-40B4-BE49-F238E27FC236}">
                <a16:creationId xmlns:a16="http://schemas.microsoft.com/office/drawing/2014/main" id="{7775BA80-F209-C6F0-C64B-CA0F80D15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288" y="1275203"/>
            <a:ext cx="2221814" cy="2386703"/>
          </a:xfrm>
          <a:prstGeom prst="rect">
            <a:avLst/>
          </a:prstGeom>
        </p:spPr>
      </p:pic>
      <p:graphicFrame>
        <p:nvGraphicFramePr>
          <p:cNvPr id="53" name="Chart 52">
            <a:extLst>
              <a:ext uri="{FF2B5EF4-FFF2-40B4-BE49-F238E27FC236}">
                <a16:creationId xmlns:a16="http://schemas.microsoft.com/office/drawing/2014/main" id="{2487EAA9-9804-F552-F1FA-4C476837D9F0}"/>
              </a:ext>
            </a:extLst>
          </p:cNvPr>
          <p:cNvGraphicFramePr>
            <a:graphicFrameLocks/>
          </p:cNvGraphicFramePr>
          <p:nvPr/>
        </p:nvGraphicFramePr>
        <p:xfrm>
          <a:off x="5417543" y="3725722"/>
          <a:ext cx="1524000" cy="1323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4" name="Chart 53">
            <a:extLst>
              <a:ext uri="{FF2B5EF4-FFF2-40B4-BE49-F238E27FC236}">
                <a16:creationId xmlns:a16="http://schemas.microsoft.com/office/drawing/2014/main" id="{0C61D3FE-47A0-CE50-9298-C62E49372851}"/>
              </a:ext>
            </a:extLst>
          </p:cNvPr>
          <p:cNvGraphicFramePr>
            <a:graphicFrameLocks/>
          </p:cNvGraphicFramePr>
          <p:nvPr/>
        </p:nvGraphicFramePr>
        <p:xfrm>
          <a:off x="5400440" y="1834870"/>
          <a:ext cx="1581150" cy="14287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6374A6E9-28CC-AB14-041F-52D277B14F61}"/>
              </a:ext>
            </a:extLst>
          </p:cNvPr>
          <p:cNvSpPr txBox="1"/>
          <p:nvPr/>
        </p:nvSpPr>
        <p:spPr>
          <a:xfrm>
            <a:off x="9038020" y="3724563"/>
            <a:ext cx="16700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Reject (unsure):</a:t>
            </a:r>
          </a:p>
          <a:p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Likely: {N1,N2}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B34B2F3-4D40-FEAE-53E1-A229402CB2D3}"/>
              </a:ext>
            </a:extLst>
          </p:cNvPr>
          <p:cNvCxnSpPr>
            <a:cxnSpLocks/>
          </p:cNvCxnSpPr>
          <p:nvPr/>
        </p:nvCxnSpPr>
        <p:spPr>
          <a:xfrm>
            <a:off x="7058476" y="2587426"/>
            <a:ext cx="2012626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C4C09A2-0219-6111-B831-D0F0BD0CAFF4}"/>
              </a:ext>
            </a:extLst>
          </p:cNvPr>
          <p:cNvCxnSpPr>
            <a:cxnSpLocks/>
          </p:cNvCxnSpPr>
          <p:nvPr/>
        </p:nvCxnSpPr>
        <p:spPr>
          <a:xfrm>
            <a:off x="6861294" y="3998720"/>
            <a:ext cx="210450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D2415B99-E4DC-9556-E11A-A38ED360FF64}"/>
              </a:ext>
            </a:extLst>
          </p:cNvPr>
          <p:cNvGrpSpPr/>
          <p:nvPr/>
        </p:nvGrpSpPr>
        <p:grpSpPr>
          <a:xfrm>
            <a:off x="175581" y="6288458"/>
            <a:ext cx="10742356" cy="481701"/>
            <a:chOff x="175581" y="6288458"/>
            <a:chExt cx="10742356" cy="4817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EC04DB-FDEE-ABEF-E726-DB2DE775A090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C2A2FB8-9267-C7C7-7507-874860A664D2}"/>
                </a:ext>
              </a:extLst>
            </p:cNvPr>
            <p:cNvSpPr/>
            <p:nvPr/>
          </p:nvSpPr>
          <p:spPr>
            <a:xfrm>
              <a:off x="2030891" y="6288743"/>
              <a:ext cx="1856232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DA53949-F23F-072C-F1C8-36C81BC7DED6}"/>
                </a:ext>
              </a:extLst>
            </p:cNvPr>
            <p:cNvSpPr/>
            <p:nvPr/>
          </p:nvSpPr>
          <p:spPr>
            <a:xfrm>
              <a:off x="3886662" y="6290224"/>
              <a:ext cx="5175504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Set:</a:t>
              </a:r>
            </a:p>
            <a:p>
              <a:pPr algn="ctr"/>
              <a:r>
                <a:rPr lang="en-US" sz="1600" err="1">
                  <a:solidFill>
                    <a:schemeClr val="tx1"/>
                  </a:solidFill>
                </a:rPr>
                <a:t>FavMac</a:t>
              </a:r>
              <a:r>
                <a:rPr lang="en-US" sz="1600">
                  <a:solidFill>
                    <a:schemeClr val="tx1"/>
                  </a:solidFill>
                </a:rPr>
                <a:t> (ICML’23), </a:t>
              </a:r>
              <a:r>
                <a:rPr lang="en-US" sz="1600" b="1">
                  <a:solidFill>
                    <a:schemeClr val="tx1"/>
                  </a:solidFill>
                </a:rPr>
                <a:t>SCRIB (AAAI’22)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612322-3377-5D81-C868-5CE99B52D04C}"/>
                </a:ext>
              </a:extLst>
            </p:cNvPr>
            <p:cNvSpPr/>
            <p:nvPr/>
          </p:nvSpPr>
          <p:spPr>
            <a:xfrm>
              <a:off x="9061705" y="6288458"/>
              <a:ext cx="1856232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NLG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46915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9E4F-199E-B2FF-8FBD-BF63411F5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61C198-A24A-A5AB-9DDA-6C86887F48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US"/>
              <a:t>Motivation</a:t>
            </a:r>
          </a:p>
          <a:p>
            <a:r>
              <a:rPr lang="en-US" sz="2000"/>
              <a:t>Existing Classification with Rejection Methods Control Overall Risk</a:t>
            </a: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C6831065-423E-AADC-34CE-45600AEB0F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F8AF7A5B-1D9D-A498-DE60-59E6D8FC797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50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2415B99-E4DC-9556-E11A-A38ED360FF64}"/>
              </a:ext>
            </a:extLst>
          </p:cNvPr>
          <p:cNvGrpSpPr/>
          <p:nvPr/>
        </p:nvGrpSpPr>
        <p:grpSpPr>
          <a:xfrm>
            <a:off x="175581" y="6288458"/>
            <a:ext cx="10742356" cy="481701"/>
            <a:chOff x="175581" y="6288458"/>
            <a:chExt cx="10742356" cy="4817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EC04DB-FDEE-ABEF-E726-DB2DE775A090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C2A2FB8-9267-C7C7-7507-874860A664D2}"/>
                </a:ext>
              </a:extLst>
            </p:cNvPr>
            <p:cNvSpPr/>
            <p:nvPr/>
          </p:nvSpPr>
          <p:spPr>
            <a:xfrm>
              <a:off x="2030891" y="6288743"/>
              <a:ext cx="1856232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DA53949-F23F-072C-F1C8-36C81BC7DED6}"/>
                </a:ext>
              </a:extLst>
            </p:cNvPr>
            <p:cNvSpPr/>
            <p:nvPr/>
          </p:nvSpPr>
          <p:spPr>
            <a:xfrm>
              <a:off x="3886662" y="6290224"/>
              <a:ext cx="5175504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Set:</a:t>
              </a:r>
            </a:p>
            <a:p>
              <a:pPr algn="ctr"/>
              <a:r>
                <a:rPr lang="en-US" sz="1600" err="1">
                  <a:solidFill>
                    <a:schemeClr val="tx1"/>
                  </a:solidFill>
                </a:rPr>
                <a:t>FavMac</a:t>
              </a:r>
              <a:r>
                <a:rPr lang="en-US" sz="1600">
                  <a:solidFill>
                    <a:schemeClr val="tx1"/>
                  </a:solidFill>
                </a:rPr>
                <a:t> (ICML’23), </a:t>
              </a:r>
              <a:r>
                <a:rPr lang="en-US" sz="1600" b="1">
                  <a:solidFill>
                    <a:schemeClr val="tx1"/>
                  </a:solidFill>
                </a:rPr>
                <a:t>SCRIB (AAAI’22)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612322-3377-5D81-C868-5CE99B52D04C}"/>
                </a:ext>
              </a:extLst>
            </p:cNvPr>
            <p:cNvSpPr/>
            <p:nvPr/>
          </p:nvSpPr>
          <p:spPr>
            <a:xfrm>
              <a:off x="9061705" y="6288458"/>
              <a:ext cx="1856232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NLG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283CB22-8F9C-5E91-4A49-6D7E5A5CE5ED}"/>
              </a:ext>
            </a:extLst>
          </p:cNvPr>
          <p:cNvGrpSpPr/>
          <p:nvPr/>
        </p:nvGrpSpPr>
        <p:grpSpPr>
          <a:xfrm>
            <a:off x="3146143" y="2150478"/>
            <a:ext cx="4613021" cy="3666979"/>
            <a:chOff x="6599789" y="1545470"/>
            <a:chExt cx="4613021" cy="366697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A128D8A-F594-B5D2-F167-3EEA3225F620}"/>
                </a:ext>
              </a:extLst>
            </p:cNvPr>
            <p:cNvSpPr txBox="1"/>
            <p:nvPr/>
          </p:nvSpPr>
          <p:spPr>
            <a:xfrm>
              <a:off x="7225879" y="4566118"/>
              <a:ext cx="37653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/>
                <a:t>Qualitative assessment: </a:t>
              </a:r>
            </a:p>
            <a:p>
              <a:pPr algn="ctr"/>
              <a:r>
                <a:rPr lang="en-US" sz="1200"/>
                <a:t>Realized class-specific risks On </a:t>
              </a:r>
              <a:r>
                <a:rPr lang="en-US" sz="1200" err="1"/>
                <a:t>SleepEDF</a:t>
              </a:r>
              <a:r>
                <a:rPr lang="en-US" sz="1200"/>
                <a:t>. Overall risk for SGR/LABEL/SCRIB are 4.5%/6.8%/4.4%. 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2BDA796-5B73-B40F-49E8-109F3E412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99789" y="1545470"/>
              <a:ext cx="4613021" cy="3020648"/>
            </a:xfrm>
            <a:prstGeom prst="rect">
              <a:avLst/>
            </a:prstGeom>
          </p:spPr>
        </p:pic>
      </p:grpSp>
      <p:sp>
        <p:nvSpPr>
          <p:cNvPr id="16" name="Right Bracket 15">
            <a:extLst>
              <a:ext uri="{FF2B5EF4-FFF2-40B4-BE49-F238E27FC236}">
                <a16:creationId xmlns:a16="http://schemas.microsoft.com/office/drawing/2014/main" id="{C5A78EAD-9AB9-2786-3E13-D668F86C8858}"/>
              </a:ext>
            </a:extLst>
          </p:cNvPr>
          <p:cNvSpPr/>
          <p:nvPr/>
        </p:nvSpPr>
        <p:spPr>
          <a:xfrm>
            <a:off x="4654309" y="2455129"/>
            <a:ext cx="369455" cy="1555264"/>
          </a:xfrm>
          <a:prstGeom prst="righ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allout: Bent Line with Accent Bar 16">
            <a:extLst>
              <a:ext uri="{FF2B5EF4-FFF2-40B4-BE49-F238E27FC236}">
                <a16:creationId xmlns:a16="http://schemas.microsoft.com/office/drawing/2014/main" id="{97972D41-7D5F-45A9-8B5A-EC040E2A0288}"/>
              </a:ext>
            </a:extLst>
          </p:cNvPr>
          <p:cNvSpPr/>
          <p:nvPr/>
        </p:nvSpPr>
        <p:spPr>
          <a:xfrm>
            <a:off x="5522203" y="1478229"/>
            <a:ext cx="1424295" cy="526473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86184"/>
              <a:gd name="adj6" fmla="val -5078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Huge decrease for N1 risk</a:t>
            </a:r>
          </a:p>
        </p:txBody>
      </p:sp>
    </p:spTree>
    <p:extLst>
      <p:ext uri="{BB962C8B-B14F-4D97-AF65-F5344CB8AC3E}">
        <p14:creationId xmlns:p14="http://schemas.microsoft.com/office/powerpoint/2010/main" val="1466422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9E4F-199E-B2FF-8FBD-BF63411F5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61C198-A24A-A5AB-9DDA-6C86887F48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Problem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24113BE-F060-DD4E-4ECB-2FBA0CB5A1BF}"/>
                  </a:ext>
                </a:extLst>
              </p:cNvPr>
              <p:cNvSpPr>
                <a:spLocks noGrp="1"/>
              </p:cNvSpPr>
              <p:nvPr>
                <p:ph type="body" sz="quarter" idx="21"/>
              </p:nvPr>
            </p:nvSpPr>
            <p:spPr>
              <a:xfrm>
                <a:off x="654228" y="1467623"/>
                <a:ext cx="10370191" cy="4250131"/>
              </a:xfrm>
            </p:spPr>
            <p:txBody>
              <a:bodyPr>
                <a:noAutofit/>
              </a:bodyPr>
              <a:lstStyle/>
              <a:p>
                <a:r>
                  <a:rPr lang="en-US"/>
                  <a:t>Minimize the </a:t>
                </a:r>
                <a:r>
                  <a:rPr lang="en-US" i="1"/>
                  <a:t>ambiguity</a:t>
                </a:r>
                <a:r>
                  <a:rPr lang="en-US"/>
                  <a:t> of the prediction 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</m:oMath>
                </a14:m>
                <a:endParaRPr lang="en-US"/>
              </a:p>
              <a:p>
                <a:pPr lvl="1"/>
                <a:r>
                  <a:rPr lang="en-US"/>
                  <a:t>Size-ambiguity: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≝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/>
              </a:p>
              <a:p>
                <a:pPr lvl="1"/>
                <a:r>
                  <a:rPr lang="en-US"/>
                  <a:t>Chance-ambiguity: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&gt;1}</m:t>
                    </m:r>
                  </m:oMath>
                </a14:m>
                <a:endParaRPr lang="en-US" b="0"/>
              </a:p>
              <a:p>
                <a:pPr lvl="1"/>
                <a:r>
                  <a:rPr lang="en-US"/>
                  <a:t>Or a weighted average of the two</a:t>
                </a:r>
              </a:p>
              <a:p>
                <a:pPr lvl="1"/>
                <a:endParaRPr lang="en-US"/>
              </a:p>
              <a:p>
                <a:r>
                  <a:rPr lang="en-US"/>
                  <a:t>Meanwhile, we want to limit the </a:t>
                </a:r>
                <a:r>
                  <a:rPr lang="en-US" i="1"/>
                  <a:t>risk</a:t>
                </a:r>
                <a:r>
                  <a:rPr lang="en-US"/>
                  <a:t> as well:</a:t>
                </a:r>
              </a:p>
              <a:p>
                <a:pPr lvl="1"/>
                <a:r>
                  <a:rPr lang="en-US" altLang="zh-CN">
                    <a:solidFill>
                      <a:schemeClr val="bg1">
                        <a:lumMod val="75000"/>
                      </a:schemeClr>
                    </a:solidFill>
                  </a:rPr>
                  <a:t>Overall risk: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≝</m:t>
                    </m:r>
                  </m:oMath>
                </a14:m>
                <a:endParaRPr lang="en-US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 lvl="1"/>
                <a:r>
                  <a:rPr lang="en-US"/>
                  <a:t>Class-specific risk: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≝</m:t>
                    </m:r>
                  </m:oMath>
                </a14:m>
                <a:endParaRPr lang="en-US"/>
              </a:p>
              <a:p>
                <a:endParaRPr lang="en-US" sz="1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24113BE-F060-DD4E-4ECB-2FBA0CB5A1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1"/>
              </p:nvPr>
            </p:nvSpPr>
            <p:spPr>
              <a:xfrm>
                <a:off x="654228" y="1467623"/>
                <a:ext cx="10370191" cy="4250131"/>
              </a:xfrm>
              <a:blipFill>
                <a:blip r:embed="rId2"/>
                <a:stretch>
                  <a:fillRect l="-1176" t="-1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C6831065-423E-AADC-34CE-45600AEB0F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F8AF7A5B-1D9D-A498-DE60-59E6D8FC797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51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2415B99-E4DC-9556-E11A-A38ED360FF64}"/>
              </a:ext>
            </a:extLst>
          </p:cNvPr>
          <p:cNvGrpSpPr/>
          <p:nvPr/>
        </p:nvGrpSpPr>
        <p:grpSpPr>
          <a:xfrm>
            <a:off x="175581" y="6288458"/>
            <a:ext cx="10742356" cy="481701"/>
            <a:chOff x="175581" y="6288458"/>
            <a:chExt cx="10742356" cy="4817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EC04DB-FDEE-ABEF-E726-DB2DE775A090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C2A2FB8-9267-C7C7-7507-874860A664D2}"/>
                </a:ext>
              </a:extLst>
            </p:cNvPr>
            <p:cNvSpPr/>
            <p:nvPr/>
          </p:nvSpPr>
          <p:spPr>
            <a:xfrm>
              <a:off x="2030891" y="6288743"/>
              <a:ext cx="1856232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DA53949-F23F-072C-F1C8-36C81BC7DED6}"/>
                </a:ext>
              </a:extLst>
            </p:cNvPr>
            <p:cNvSpPr/>
            <p:nvPr/>
          </p:nvSpPr>
          <p:spPr>
            <a:xfrm>
              <a:off x="3886662" y="6290224"/>
              <a:ext cx="5175504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Set:</a:t>
              </a:r>
            </a:p>
            <a:p>
              <a:pPr algn="ctr"/>
              <a:r>
                <a:rPr lang="en-US" sz="1600" err="1">
                  <a:solidFill>
                    <a:schemeClr val="tx1"/>
                  </a:solidFill>
                </a:rPr>
                <a:t>FavMac</a:t>
              </a:r>
              <a:r>
                <a:rPr lang="en-US" sz="1600">
                  <a:solidFill>
                    <a:schemeClr val="tx1"/>
                  </a:solidFill>
                </a:rPr>
                <a:t> (ICML’23), </a:t>
              </a:r>
              <a:r>
                <a:rPr lang="en-US" sz="1600" b="1">
                  <a:solidFill>
                    <a:schemeClr val="tx1"/>
                  </a:solidFill>
                </a:rPr>
                <a:t>SCRIB (AAAI’22)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612322-3377-5D81-C868-5CE99B52D04C}"/>
                </a:ext>
              </a:extLst>
            </p:cNvPr>
            <p:cNvSpPr/>
            <p:nvPr/>
          </p:nvSpPr>
          <p:spPr>
            <a:xfrm>
              <a:off x="9061705" y="6288458"/>
              <a:ext cx="1856232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NLG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648DC205-B6E1-3D06-EB96-D87BB6A27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6405" y="4055673"/>
            <a:ext cx="2067213" cy="3238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4E89D2C-D618-ED70-713B-27BBFD47A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9754" y="4444846"/>
            <a:ext cx="2829320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1751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9E4F-199E-B2FF-8FBD-BF63411F5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61C198-A24A-A5AB-9DDA-6C86887F48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Method: SCRIB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24113BE-F060-DD4E-4ECB-2FBA0CB5A1BF}"/>
                  </a:ext>
                </a:extLst>
              </p:cNvPr>
              <p:cNvSpPr>
                <a:spLocks noGrp="1"/>
              </p:cNvSpPr>
              <p:nvPr>
                <p:ph type="body" sz="quarter" idx="21"/>
              </p:nvPr>
            </p:nvSpPr>
            <p:spPr>
              <a:xfrm>
                <a:off x="654228" y="1467623"/>
                <a:ext cx="10370191" cy="4250131"/>
              </a:xfrm>
            </p:spPr>
            <p:txBody>
              <a:bodyPr>
                <a:noAutofit/>
              </a:bodyPr>
              <a:lstStyle/>
              <a:p>
                <a:r>
                  <a:rPr lang="en-US" sz="2400"/>
                  <a:t>SCRIB searches for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400"/>
                  <a:t> to minimize the loss</a:t>
                </a:r>
                <a:endParaRPr lang="pt-BR" sz="18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pt-BR" sz="1800" i="1">
                          <a:latin typeface="Cambria Math" panose="02040503050406030204" pitchFamily="18" charset="0"/>
                        </a:rPr>
                        <m:t>≝</m:t>
                      </m:r>
                      <m:r>
                        <a:rPr lang="pt-BR" sz="1800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pt-BR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pt-BR" sz="18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pt-BR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1800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pt-B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pt-BR" sz="1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p>
                            <m:sSupPr>
                              <m:ctrlPr>
                                <a:rPr lang="pt-BR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pt-B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8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pt-BR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1800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</m:d>
                                      <m:r>
                                        <a:rPr lang="pt-BR" sz="1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pt-BR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sz="18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pt-BR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pt-BR" sz="1800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pt-BR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/>
              </a:p>
              <a:p>
                <a:endParaRPr lang="en-US" sz="2400"/>
              </a:p>
              <a:p>
                <a:r>
                  <a:rPr lang="en-US" sz="2400" err="1"/>
                  <a:t>QuickSearch</a:t>
                </a:r>
                <a:r>
                  <a:rPr lang="en-US" sz="2400"/>
                  <a:t> (</a:t>
                </a:r>
                <a:r>
                  <a:rPr lang="en-US" sz="2400" err="1"/>
                  <a:t>DP+Coordinate</a:t>
                </a:r>
                <a:r>
                  <a:rPr lang="en-US" sz="2400"/>
                  <a:t> Descent)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24113BE-F060-DD4E-4ECB-2FBA0CB5A1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1"/>
              </p:nvPr>
            </p:nvSpPr>
            <p:spPr>
              <a:xfrm>
                <a:off x="654228" y="1467623"/>
                <a:ext cx="10370191" cy="4250131"/>
              </a:xfrm>
              <a:blipFill>
                <a:blip r:embed="rId2"/>
                <a:stretch>
                  <a:fillRect l="-764" t="-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C6831065-423E-AADC-34CE-45600AEB0F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F8AF7A5B-1D9D-A498-DE60-59E6D8FC797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52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2415B99-E4DC-9556-E11A-A38ED360FF64}"/>
              </a:ext>
            </a:extLst>
          </p:cNvPr>
          <p:cNvGrpSpPr/>
          <p:nvPr/>
        </p:nvGrpSpPr>
        <p:grpSpPr>
          <a:xfrm>
            <a:off x="175581" y="6288458"/>
            <a:ext cx="10742356" cy="481701"/>
            <a:chOff x="175581" y="6288458"/>
            <a:chExt cx="10742356" cy="4817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EC04DB-FDEE-ABEF-E726-DB2DE775A090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C2A2FB8-9267-C7C7-7507-874860A664D2}"/>
                </a:ext>
              </a:extLst>
            </p:cNvPr>
            <p:cNvSpPr/>
            <p:nvPr/>
          </p:nvSpPr>
          <p:spPr>
            <a:xfrm>
              <a:off x="2030891" y="6288743"/>
              <a:ext cx="1856232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DA53949-F23F-072C-F1C8-36C81BC7DED6}"/>
                </a:ext>
              </a:extLst>
            </p:cNvPr>
            <p:cNvSpPr/>
            <p:nvPr/>
          </p:nvSpPr>
          <p:spPr>
            <a:xfrm>
              <a:off x="3886662" y="6290224"/>
              <a:ext cx="5175504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Set:</a:t>
              </a:r>
            </a:p>
            <a:p>
              <a:pPr algn="ctr"/>
              <a:r>
                <a:rPr lang="en-US" sz="1600" err="1">
                  <a:solidFill>
                    <a:schemeClr val="tx1"/>
                  </a:solidFill>
                </a:rPr>
                <a:t>FavMac</a:t>
              </a:r>
              <a:r>
                <a:rPr lang="en-US" sz="1600">
                  <a:solidFill>
                    <a:schemeClr val="tx1"/>
                  </a:solidFill>
                </a:rPr>
                <a:t> (ICML’23), </a:t>
              </a:r>
              <a:r>
                <a:rPr lang="en-US" sz="1600" b="1">
                  <a:solidFill>
                    <a:schemeClr val="tx1"/>
                  </a:solidFill>
                </a:rPr>
                <a:t>SCRIB (AAAI’22)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612322-3377-5D81-C868-5CE99B52D04C}"/>
                </a:ext>
              </a:extLst>
            </p:cNvPr>
            <p:cNvSpPr/>
            <p:nvPr/>
          </p:nvSpPr>
          <p:spPr>
            <a:xfrm>
              <a:off x="9061705" y="6288458"/>
              <a:ext cx="1856232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NLG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BCB1A51-A2EF-3E34-B864-E9133B9BCF2C}"/>
                  </a:ext>
                </a:extLst>
              </p:cNvPr>
              <p:cNvSpPr/>
              <p:nvPr/>
            </p:nvSpPr>
            <p:spPr>
              <a:xfrm>
                <a:off x="654228" y="4513800"/>
                <a:ext cx="3982490" cy="145010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/>
                <a:r>
                  <a:rPr lang="en-US">
                    <a:solidFill>
                      <a:schemeClr val="tx1"/>
                    </a:solidFill>
                  </a:rPr>
                  <a:t>Input: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chemeClr val="tx1"/>
                    </a:solidFill>
                  </a:rPr>
                  <a:t>a base classifier</a:t>
                </a:r>
                <a:r>
                  <a:rPr lang="en-US" baseline="30000">
                    <a:solidFill>
                      <a:schemeClr val="tx1"/>
                    </a:solidFill>
                  </a:rPr>
                  <a:t>1</a:t>
                </a:r>
                <a:r>
                  <a:rPr lang="en-US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𝒳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↦</m:t>
                    </m:r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endParaRPr lang="en-US">
                  <a:solidFill>
                    <a:schemeClr val="tx1"/>
                  </a:solidFill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chemeClr val="tx1"/>
                    </a:solidFill>
                  </a:rPr>
                  <a:t>a calibration set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chemeClr val="tx1"/>
                    </a:solidFill>
                  </a:rPr>
                  <a:t>risk targets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BCB1A51-A2EF-3E34-B864-E9133B9BCF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28" y="4513800"/>
                <a:ext cx="3982490" cy="14501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0C3C81E1-BEAB-BF0C-85BE-8B0761B3B446}"/>
              </a:ext>
            </a:extLst>
          </p:cNvPr>
          <p:cNvSpPr/>
          <p:nvPr/>
        </p:nvSpPr>
        <p:spPr>
          <a:xfrm>
            <a:off x="4886099" y="4513800"/>
            <a:ext cx="776548" cy="14501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SCRIB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A0FDF13-161E-F67D-4026-5EDBE637B3E7}"/>
              </a:ext>
            </a:extLst>
          </p:cNvPr>
          <p:cNvCxnSpPr>
            <a:cxnSpLocks/>
          </p:cNvCxnSpPr>
          <p:nvPr/>
        </p:nvCxnSpPr>
        <p:spPr>
          <a:xfrm>
            <a:off x="4545047" y="5509018"/>
            <a:ext cx="136698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Flowchart: Alternate Process 15">
                <a:extLst>
                  <a:ext uri="{FF2B5EF4-FFF2-40B4-BE49-F238E27FC236}">
                    <a16:creationId xmlns:a16="http://schemas.microsoft.com/office/drawing/2014/main" id="{A526D03A-1B51-18A8-160C-B3E23C14B070}"/>
                  </a:ext>
                </a:extLst>
              </p:cNvPr>
              <p:cNvSpPr/>
              <p:nvPr/>
            </p:nvSpPr>
            <p:spPr>
              <a:xfrm>
                <a:off x="8077494" y="4513800"/>
                <a:ext cx="2909455" cy="1460611"/>
              </a:xfrm>
              <a:prstGeom prst="flowChartAlternateProcess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>
                    <a:solidFill>
                      <a:schemeClr val="tx1"/>
                    </a:solidFill>
                  </a:rPr>
                  <a:t>A set classifier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𝒳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↦</m:t>
                    </m:r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𝒴</m:t>
                        </m:r>
                      </m:sup>
                    </m:sSup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</a:t>
                </a:r>
              </a:p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(low risk &amp; ambiguity)</a:t>
                </a:r>
              </a:p>
            </p:txBody>
          </p:sp>
        </mc:Choice>
        <mc:Fallback xmlns="">
          <p:sp>
            <p:nvSpPr>
              <p:cNvPr id="16" name="Flowchart: Alternate Process 15">
                <a:extLst>
                  <a:ext uri="{FF2B5EF4-FFF2-40B4-BE49-F238E27FC236}">
                    <a16:creationId xmlns:a16="http://schemas.microsoft.com/office/drawing/2014/main" id="{A526D03A-1B51-18A8-160C-B3E23C14B0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494" y="4513800"/>
                <a:ext cx="2909455" cy="1460611"/>
              </a:xfrm>
              <a:prstGeom prst="flowChartAlternateProcess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495D2EF-16E2-C481-4A5A-6DBFEC3BE475}"/>
              </a:ext>
            </a:extLst>
          </p:cNvPr>
          <p:cNvCxnSpPr>
            <a:cxnSpLocks/>
          </p:cNvCxnSpPr>
          <p:nvPr/>
        </p:nvCxnSpPr>
        <p:spPr>
          <a:xfrm>
            <a:off x="7676173" y="5502089"/>
            <a:ext cx="4013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A2F0F7C-DA1B-E13B-D58C-175C94EBB29E}"/>
                  </a:ext>
                </a:extLst>
              </p:cNvPr>
              <p:cNvSpPr txBox="1"/>
              <p:nvPr/>
            </p:nvSpPr>
            <p:spPr>
              <a:xfrm>
                <a:off x="6013627" y="5324352"/>
                <a:ext cx="1597891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/>
                  <a:t>Thresholds: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A2F0F7C-DA1B-E13B-D58C-175C94EBB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627" y="5324352"/>
                <a:ext cx="1597891" cy="369332"/>
              </a:xfrm>
              <a:prstGeom prst="rect">
                <a:avLst/>
              </a:prstGeom>
              <a:blipFill>
                <a:blip r:embed="rId5"/>
                <a:stretch>
                  <a:fillRect l="-2642" t="-6349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59316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9E4F-199E-B2FF-8FBD-BF63411F5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61C198-A24A-A5AB-9DDA-6C86887F48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Experiment: Control Class-specific Risk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24113BE-F060-DD4E-4ECB-2FBA0CB5A1BF}"/>
                  </a:ext>
                </a:extLst>
              </p:cNvPr>
              <p:cNvSpPr>
                <a:spLocks noGrp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5578084" cy="4250131"/>
              </a:xfrm>
            </p:spPr>
            <p:txBody>
              <a:bodyPr>
                <a:noAutofit/>
              </a:bodyPr>
              <a:lstStyle/>
              <a:p>
                <a:r>
                  <a:rPr lang="en-US" sz="2000"/>
                  <a:t>Evaluation Metric: </a:t>
                </a:r>
              </a:p>
              <a:p>
                <a:pPr lvl="1"/>
                <a:r>
                  <a:rPr lang="en-US" sz="1600"/>
                  <a:t>Excess class-specific risk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pt-B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pt-B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pt-BR" sz="1400">
                                <a:latin typeface="Cambria Math" panose="02040503050406030204" pitchFamily="18" charset="0"/>
                              </a:rPr>
                              <m:t>Δ</m:t>
                            </m:r>
                            <m:sSub>
                              <m:sSubPr>
                                <m:ctrlPr>
                                  <a:rPr lang="pt-B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4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pt-BR" sz="1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pt-BR" sz="1400" i="1">
                        <a:latin typeface="Cambria Math" panose="02040503050406030204" pitchFamily="18" charset="0"/>
                      </a:rPr>
                      <m:t>≝</m:t>
                    </m:r>
                    <m:r>
                      <a:rPr lang="pt-BR" sz="1400" i="1">
                        <a:latin typeface="Cambria Math" panose="02040503050406030204" pitchFamily="18" charset="0"/>
                      </a:rPr>
                      <m:t>𝑚𝑎𝑥</m:t>
                    </m:r>
                    <m:r>
                      <m:rPr>
                        <m:lit/>
                      </m:rPr>
                      <a:rPr lang="pt-BR" sz="14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pt-BR" sz="1400" i="1">
                        <a:latin typeface="Cambria Math" panose="02040503050406030204" pitchFamily="18" charset="0"/>
                      </a:rPr>
                      <m:t>0,</m:t>
                    </m:r>
                    <m:sSub>
                      <m:sSubPr>
                        <m:ctrlPr>
                          <a:rPr lang="pt-B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pt-B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pt-BR" sz="1400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pt-BR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m:rPr>
                        <m:lit/>
                      </m:rPr>
                      <a:rPr lang="pt-BR" sz="1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400"/>
              </a:p>
              <a:p>
                <a:endParaRPr lang="en-US" sz="2000"/>
              </a:p>
              <a:p>
                <a:r>
                  <a:rPr lang="en-US" sz="2000"/>
                  <a:t>Class-specific risks by SCRIB are concentrated below targets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24113BE-F060-DD4E-4ECB-2FBA0CB5A1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1"/>
              </p:nvPr>
            </p:nvSpPr>
            <p:spPr>
              <a:xfrm>
                <a:off x="654229" y="1467623"/>
                <a:ext cx="5578084" cy="4250131"/>
              </a:xfrm>
              <a:blipFill>
                <a:blip r:embed="rId3"/>
                <a:stretch>
                  <a:fillRect l="-984" t="-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C6831065-423E-AADC-34CE-45600AEB0F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F8AF7A5B-1D9D-A498-DE60-59E6D8FC797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53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2415B99-E4DC-9556-E11A-A38ED360FF64}"/>
              </a:ext>
            </a:extLst>
          </p:cNvPr>
          <p:cNvGrpSpPr/>
          <p:nvPr/>
        </p:nvGrpSpPr>
        <p:grpSpPr>
          <a:xfrm>
            <a:off x="175581" y="6288458"/>
            <a:ext cx="10742356" cy="481701"/>
            <a:chOff x="175581" y="6288458"/>
            <a:chExt cx="10742356" cy="4817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EC04DB-FDEE-ABEF-E726-DB2DE775A090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C2A2FB8-9267-C7C7-7507-874860A664D2}"/>
                </a:ext>
              </a:extLst>
            </p:cNvPr>
            <p:cNvSpPr/>
            <p:nvPr/>
          </p:nvSpPr>
          <p:spPr>
            <a:xfrm>
              <a:off x="2030891" y="6288743"/>
              <a:ext cx="1856232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DA53949-F23F-072C-F1C8-36C81BC7DED6}"/>
                </a:ext>
              </a:extLst>
            </p:cNvPr>
            <p:cNvSpPr/>
            <p:nvPr/>
          </p:nvSpPr>
          <p:spPr>
            <a:xfrm>
              <a:off x="3886662" y="6290224"/>
              <a:ext cx="5175504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Set:</a:t>
              </a:r>
            </a:p>
            <a:p>
              <a:pPr algn="ctr"/>
              <a:r>
                <a:rPr lang="en-US" sz="1600" err="1">
                  <a:solidFill>
                    <a:schemeClr val="tx1"/>
                  </a:solidFill>
                </a:rPr>
                <a:t>FavMac</a:t>
              </a:r>
              <a:r>
                <a:rPr lang="en-US" sz="1600">
                  <a:solidFill>
                    <a:schemeClr val="tx1"/>
                  </a:solidFill>
                </a:rPr>
                <a:t> (ICML’23), </a:t>
              </a:r>
              <a:r>
                <a:rPr lang="en-US" sz="1600" b="1">
                  <a:solidFill>
                    <a:schemeClr val="tx1"/>
                  </a:solidFill>
                </a:rPr>
                <a:t>SCRIB (AAAI’22)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612322-3377-5D81-C868-5CE99B52D04C}"/>
                </a:ext>
              </a:extLst>
            </p:cNvPr>
            <p:cNvSpPr/>
            <p:nvPr/>
          </p:nvSpPr>
          <p:spPr>
            <a:xfrm>
              <a:off x="9061705" y="6288458"/>
              <a:ext cx="1856232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NLG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B003985-9B00-C76C-29C6-9A19D3165F02}"/>
              </a:ext>
            </a:extLst>
          </p:cNvPr>
          <p:cNvSpPr txBox="1"/>
          <p:nvPr/>
        </p:nvSpPr>
        <p:spPr>
          <a:xfrm>
            <a:off x="6721258" y="4725400"/>
            <a:ext cx="4510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Distribution of class-specific risks in 20 experiments. Red line marks 10% target (for any class). P-value=</a:t>
            </a:r>
            <a:r>
              <a:rPr lang="en-US" sz="1200" b="1"/>
              <a:t>3e-8</a:t>
            </a:r>
            <a:r>
              <a:rPr lang="en-US" sz="1200"/>
              <a:t>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C677881-F682-0753-2180-586A5791D0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695" y="1361222"/>
            <a:ext cx="4999104" cy="336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5434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9E4F-199E-B2FF-8FBD-BF63411F5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61C198-A24A-A5AB-9DDA-6C86887F48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Appendix: </a:t>
            </a:r>
            <a:r>
              <a:rPr lang="en-US" err="1"/>
              <a:t>QuickSearch</a:t>
            </a:r>
            <a:endParaRPr lang="en-US"/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C6831065-423E-AADC-34CE-45600AEB0F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F8AF7A5B-1D9D-A498-DE60-59E6D8FC797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54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2415B99-E4DC-9556-E11A-A38ED360FF64}"/>
              </a:ext>
            </a:extLst>
          </p:cNvPr>
          <p:cNvGrpSpPr/>
          <p:nvPr/>
        </p:nvGrpSpPr>
        <p:grpSpPr>
          <a:xfrm>
            <a:off x="175581" y="6288458"/>
            <a:ext cx="10742356" cy="481701"/>
            <a:chOff x="175581" y="6288458"/>
            <a:chExt cx="10742356" cy="4817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EC04DB-FDEE-ABEF-E726-DB2DE775A090}"/>
                </a:ext>
              </a:extLst>
            </p:cNvPr>
            <p:cNvSpPr/>
            <p:nvPr/>
          </p:nvSpPr>
          <p:spPr>
            <a:xfrm>
              <a:off x="175581" y="6291072"/>
              <a:ext cx="1856232" cy="479087"/>
            </a:xfrm>
            <a:prstGeom prst="rect">
              <a:avLst/>
            </a:prstGeom>
            <a:solidFill>
              <a:srgbClr val="F5D5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Model Calibration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C2A2FB8-9267-C7C7-7507-874860A664D2}"/>
                </a:ext>
              </a:extLst>
            </p:cNvPr>
            <p:cNvSpPr/>
            <p:nvPr/>
          </p:nvSpPr>
          <p:spPr>
            <a:xfrm>
              <a:off x="2030891" y="6288743"/>
              <a:ext cx="1856232" cy="479087"/>
            </a:xfrm>
            <a:prstGeom prst="rect">
              <a:avLst/>
            </a:prstGeom>
            <a:solidFill>
              <a:srgbClr val="D6D3F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Conformal Prediction Interval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DA53949-F23F-072C-F1C8-36C81BC7DED6}"/>
                </a:ext>
              </a:extLst>
            </p:cNvPr>
            <p:cNvSpPr/>
            <p:nvPr/>
          </p:nvSpPr>
          <p:spPr>
            <a:xfrm>
              <a:off x="3886662" y="6290224"/>
              <a:ext cx="5175504" cy="479087"/>
            </a:xfrm>
            <a:prstGeom prst="rect">
              <a:avLst/>
            </a:prstGeom>
            <a:solidFill>
              <a:srgbClr val="B1EF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Risk-Controlling Prediction Set:</a:t>
              </a:r>
            </a:p>
            <a:p>
              <a:pPr algn="ctr"/>
              <a:r>
                <a:rPr lang="en-US" sz="1600" err="1">
                  <a:solidFill>
                    <a:schemeClr val="tx1"/>
                  </a:solidFill>
                </a:rPr>
                <a:t>FavMac</a:t>
              </a:r>
              <a:r>
                <a:rPr lang="en-US" sz="1600">
                  <a:solidFill>
                    <a:schemeClr val="tx1"/>
                  </a:solidFill>
                </a:rPr>
                <a:t> (ICML’23), </a:t>
              </a:r>
              <a:r>
                <a:rPr lang="en-US" sz="1600" b="1">
                  <a:solidFill>
                    <a:schemeClr val="tx1"/>
                  </a:solidFill>
                </a:rPr>
                <a:t>SCRIB (AAAI’22)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612322-3377-5D81-C868-5CE99B52D04C}"/>
                </a:ext>
              </a:extLst>
            </p:cNvPr>
            <p:cNvSpPr/>
            <p:nvPr/>
          </p:nvSpPr>
          <p:spPr>
            <a:xfrm>
              <a:off x="9061705" y="6288458"/>
              <a:ext cx="1856232" cy="479087"/>
            </a:xfrm>
            <a:prstGeom prst="rect">
              <a:avLst/>
            </a:prstGeom>
            <a:solidFill>
              <a:srgbClr val="DAE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UQ for NLG</a:t>
              </a:r>
            </a:p>
          </p:txBody>
        </p:sp>
      </p:grp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380210-E7F6-3741-F066-33AB40BEB8E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2CCE99-669F-51EB-BAEF-E6C4F303B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82" y="1512888"/>
            <a:ext cx="4085607" cy="432593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6DFE7D15-B126-40FD-95BC-1A23CC8C7B31}"/>
              </a:ext>
            </a:extLst>
          </p:cNvPr>
          <p:cNvGrpSpPr/>
          <p:nvPr/>
        </p:nvGrpSpPr>
        <p:grpSpPr>
          <a:xfrm>
            <a:off x="4724948" y="1540296"/>
            <a:ext cx="6139786" cy="4496122"/>
            <a:chOff x="4724948" y="1540296"/>
            <a:chExt cx="6139786" cy="4496122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10A2298-F075-E31A-7700-C7337BE13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24948" y="1540296"/>
              <a:ext cx="6139786" cy="4496122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7D45209-BFD0-6F10-BFC5-B35818B30B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r="19998" b="21743"/>
            <a:stretch/>
          </p:blipFill>
          <p:spPr>
            <a:xfrm>
              <a:off x="5514964" y="1650194"/>
              <a:ext cx="133362" cy="1381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53928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MB PPT ORANGE">
      <a:dk1>
        <a:srgbClr val="000000"/>
      </a:dk1>
      <a:lt1>
        <a:srgbClr val="FFFFFF"/>
      </a:lt1>
      <a:dk2>
        <a:srgbClr val="13294B"/>
      </a:dk2>
      <a:lt2>
        <a:srgbClr val="FF5F05"/>
      </a:lt2>
      <a:accent1>
        <a:srgbClr val="0071CE"/>
      </a:accent1>
      <a:accent2>
        <a:srgbClr val="FCB316"/>
      </a:accent2>
      <a:accent3>
        <a:srgbClr val="007E8E"/>
      </a:accent3>
      <a:accent4>
        <a:srgbClr val="006230"/>
      </a:accent4>
      <a:accent5>
        <a:srgbClr val="5C0E41"/>
      </a:accent5>
      <a:accent6>
        <a:srgbClr val="7D3E13"/>
      </a:accent6>
      <a:hlink>
        <a:srgbClr val="C84113"/>
      </a:hlink>
      <a:folHlink>
        <a:srgbClr val="2159A6"/>
      </a:folHlink>
    </a:clrScheme>
    <a:fontScheme name="SMB PPT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MB PowerPoint Template V4" id="{B3CBA2D6-773F-894A-97CE-392945FF435E}" vid="{C086EF9A-8907-304D-A9A1-B52FE47F12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</TotalTime>
  <Words>5057</Words>
  <Application>Microsoft Office PowerPoint</Application>
  <PresentationFormat>Widescreen</PresentationFormat>
  <Paragraphs>960</Paragraphs>
  <Slides>54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7" baseType="lpstr">
      <vt:lpstr>Optima</vt:lpstr>
      <vt:lpstr>Arial</vt:lpstr>
      <vt:lpstr>Calibri</vt:lpstr>
      <vt:lpstr>Cambria Math</vt:lpstr>
      <vt:lpstr>Courier New</vt:lpstr>
      <vt:lpstr>Georgia</vt:lpstr>
      <vt:lpstr>IBM Plex Mono</vt:lpstr>
      <vt:lpstr>Open Sans</vt:lpstr>
      <vt:lpstr>roboto</vt:lpstr>
      <vt:lpstr>Source Sans Pro</vt:lpstr>
      <vt:lpstr>Source Sans Pro SemiBold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Lin, Bryan</dc:creator>
  <cp:lastModifiedBy>Zhen Lin</cp:lastModifiedBy>
  <cp:revision>1</cp:revision>
  <dcterms:created xsi:type="dcterms:W3CDTF">2022-06-14T14:37:32Z</dcterms:created>
  <dcterms:modified xsi:type="dcterms:W3CDTF">2026-03-14T23:15:40Z</dcterms:modified>
</cp:coreProperties>
</file>